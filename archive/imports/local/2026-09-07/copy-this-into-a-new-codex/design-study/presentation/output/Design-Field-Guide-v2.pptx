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9d0b6e7b9f4812" /><Relationship Type="http://schemas.openxmlformats.org/officeDocument/2006/relationships/extended-properties" Target="/docProps/app.xml" Id="Radefc2563d0d4bc7" /><Relationship Type="http://schemas.openxmlformats.org/officeDocument/2006/relationships/officeDocument" Target="/ppt/presentation.xml" Id="R84d4a315d3df4fd1" /></Relationships>
</file>

<file path=ppt/presentation.xml><?xml version="1.0" encoding="utf-8"?>
<p:presentation xmlns:p="http://schemas.openxmlformats.org/presentationml/2006/main">
  <p:sldMasterIdLst>
    <p:sldMasterId xmlns:r="http://schemas.openxmlformats.org/officeDocument/2006/relationships" id="2147483648" r:id="R03109750368442db"/>
  </p:sldMasterIdLst>
  <p:notesMasterIdLst>
    <p:notesMasterId xmlns:r="http://schemas.openxmlformats.org/officeDocument/2006/relationships" r:id="R762947fe27364804"/>
  </p:notesMasterIdLst>
  <p:sldIdLst>
    <p:sldId xmlns:r="http://schemas.openxmlformats.org/officeDocument/2006/relationships" id="256" r:id="Rac2287420f1c4d0f"/>
    <p:sldId xmlns:r="http://schemas.openxmlformats.org/officeDocument/2006/relationships" id="257" r:id="Rea36f2f133e445e5"/>
    <p:sldId xmlns:r="http://schemas.openxmlformats.org/officeDocument/2006/relationships" id="258" r:id="Re3dd48b3b8904200"/>
    <p:sldId xmlns:r="http://schemas.openxmlformats.org/officeDocument/2006/relationships" id="259" r:id="R46dcb540b30a49c2"/>
    <p:sldId xmlns:r="http://schemas.openxmlformats.org/officeDocument/2006/relationships" id="260" r:id="R0809be1df46544fd"/>
    <p:sldId xmlns:r="http://schemas.openxmlformats.org/officeDocument/2006/relationships" id="261" r:id="R61d28f4bc8594038"/>
    <p:sldId xmlns:r="http://schemas.openxmlformats.org/officeDocument/2006/relationships" id="262" r:id="R60c40700059d40ff"/>
    <p:sldId xmlns:r="http://schemas.openxmlformats.org/officeDocument/2006/relationships" id="263" r:id="Rb4b32a0baae54d30"/>
    <p:sldId xmlns:r="http://schemas.openxmlformats.org/officeDocument/2006/relationships" id="264" r:id="R486c666e5ada4d49"/>
    <p:sldId xmlns:r="http://schemas.openxmlformats.org/officeDocument/2006/relationships" id="265" r:id="R1ad3a1e065814d04"/>
    <p:sldId xmlns:r="http://schemas.openxmlformats.org/officeDocument/2006/relationships" id="266" r:id="Rdaf91e2103e44bc4"/>
    <p:sldId xmlns:r="http://schemas.openxmlformats.org/officeDocument/2006/relationships" id="267" r:id="Rf06f7cc347da4b13"/>
    <p:sldId xmlns:r="http://schemas.openxmlformats.org/officeDocument/2006/relationships" id="268" r:id="R9f5e41e82bd34f3a"/>
    <p:sldId xmlns:r="http://schemas.openxmlformats.org/officeDocument/2006/relationships" id="269" r:id="Rb03d96ef7d7541ed"/>
    <p:sldId xmlns:r="http://schemas.openxmlformats.org/officeDocument/2006/relationships" id="270" r:id="R1745095db9714acc"/>
    <p:sldId xmlns:r="http://schemas.openxmlformats.org/officeDocument/2006/relationships" id="271" r:id="R99f946c734fb49f8"/>
    <p:sldId xmlns:r="http://schemas.openxmlformats.org/officeDocument/2006/relationships" id="272" r:id="R66a74ffd675f4601"/>
    <p:sldId xmlns:r="http://schemas.openxmlformats.org/officeDocument/2006/relationships" id="273" r:id="Rcb123968dc66495b"/>
    <p:sldId xmlns:r="http://schemas.openxmlformats.org/officeDocument/2006/relationships" id="274" r:id="Rc659be6aeb4942a8"/>
    <p:sldId xmlns:r="http://schemas.openxmlformats.org/officeDocument/2006/relationships" id="275" r:id="Ra41067653b99401f"/>
    <p:sldId xmlns:r="http://schemas.openxmlformats.org/officeDocument/2006/relationships" id="276" r:id="Re830d4c7e28349c4"/>
    <p:sldId xmlns:r="http://schemas.openxmlformats.org/officeDocument/2006/relationships" id="277" r:id="R0ec43673827b40ca"/>
    <p:sldId xmlns:r="http://schemas.openxmlformats.org/officeDocument/2006/relationships" id="278" r:id="Rd71e2e1b7b2b431d"/>
    <p:sldId xmlns:r="http://schemas.openxmlformats.org/officeDocument/2006/relationships" id="279" r:id="Rbb7fcde969d34627"/>
    <p:sldId xmlns:r="http://schemas.openxmlformats.org/officeDocument/2006/relationships" id="280" r:id="R24e666960d114352"/>
    <p:sldId xmlns:r="http://schemas.openxmlformats.org/officeDocument/2006/relationships" id="281" r:id="Rf64ed6067f6c4e19"/>
    <p:sldId xmlns:r="http://schemas.openxmlformats.org/officeDocument/2006/relationships" id="282" r:id="R85bb03808395414a"/>
    <p:sldId xmlns:r="http://schemas.openxmlformats.org/officeDocument/2006/relationships" id="283" r:id="R4a91ea8802634036"/>
    <p:sldId xmlns:r="http://schemas.openxmlformats.org/officeDocument/2006/relationships" id="284" r:id="R09c3dc2856f94a4b"/>
    <p:sldId xmlns:r="http://schemas.openxmlformats.org/officeDocument/2006/relationships" id="285" r:id="R80b354cbf25a4137"/>
    <p:sldId xmlns:r="http://schemas.openxmlformats.org/officeDocument/2006/relationships" id="286" r:id="R0caf9cc495bb49a5"/>
    <p:sldId xmlns:r="http://schemas.openxmlformats.org/officeDocument/2006/relationships" id="287" r:id="Re01fea3a0c374a9a"/>
    <p:sldId xmlns:r="http://schemas.openxmlformats.org/officeDocument/2006/relationships" id="288" r:id="Raaf71e6b0fb24996"/>
    <p:sldId xmlns:r="http://schemas.openxmlformats.org/officeDocument/2006/relationships" id="289" r:id="Ra2ed5a941dcd4410"/>
    <p:sldId xmlns:r="http://schemas.openxmlformats.org/officeDocument/2006/relationships" id="290" r:id="R5974f6c75656454e"/>
    <p:sldId xmlns:r="http://schemas.openxmlformats.org/officeDocument/2006/relationships" id="291" r:id="Ra61418af6f234db7"/>
    <p:sldId xmlns:r="http://schemas.openxmlformats.org/officeDocument/2006/relationships" id="292" r:id="R0d9145d8ec4d4c1a"/>
    <p:sldId xmlns:r="http://schemas.openxmlformats.org/officeDocument/2006/relationships" id="293" r:id="Rcc5e1f8d2d084d28"/>
    <p:sldId xmlns:r="http://schemas.openxmlformats.org/officeDocument/2006/relationships" id="294" r:id="R5f2e9140776a48ee"/>
    <p:sldId xmlns:r="http://schemas.openxmlformats.org/officeDocument/2006/relationships" id="295" r:id="Re396a8f639d44b7a"/>
    <p:sldId xmlns:r="http://schemas.openxmlformats.org/officeDocument/2006/relationships" id="296" r:id="R2485b7f18dcb47e8"/>
    <p:sldId xmlns:r="http://schemas.openxmlformats.org/officeDocument/2006/relationships" id="297" r:id="R2da06ad7ead64071"/>
    <p:sldId xmlns:r="http://schemas.openxmlformats.org/officeDocument/2006/relationships" id="298" r:id="Rb7964ae088954242"/>
    <p:sldId xmlns:r="http://schemas.openxmlformats.org/officeDocument/2006/relationships" id="299" r:id="Ra558afc7e5cf4a0f"/>
    <p:sldId xmlns:r="http://schemas.openxmlformats.org/officeDocument/2006/relationships" id="300" r:id="R8ae8bbcbaa314063"/>
    <p:sldId xmlns:r="http://schemas.openxmlformats.org/officeDocument/2006/relationships" id="301" r:id="R4dff6afa4e604d31"/>
    <p:sldId xmlns:r="http://schemas.openxmlformats.org/officeDocument/2006/relationships" id="302" r:id="R219b41d6e8c4430a"/>
    <p:sldId xmlns:r="http://schemas.openxmlformats.org/officeDocument/2006/relationships" id="303" r:id="Rc62b1efd5b4c4503"/>
    <p:sldId xmlns:r="http://schemas.openxmlformats.org/officeDocument/2006/relationships" id="304" r:id="Rcb86db3b9e3047f5"/>
    <p:sldId xmlns:r="http://schemas.openxmlformats.org/officeDocument/2006/relationships" id="305" r:id="R4d7c746b51b84944"/>
    <p:sldId xmlns:r="http://schemas.openxmlformats.org/officeDocument/2006/relationships" id="306" r:id="Recd490828d524b77"/>
    <p:sldId xmlns:r="http://schemas.openxmlformats.org/officeDocument/2006/relationships" id="307" r:id="R2e728b1e9c5a46b2"/>
    <p:sldId xmlns:r="http://schemas.openxmlformats.org/officeDocument/2006/relationships" id="308" r:id="R5f52347e9e254872"/>
    <p:sldId xmlns:r="http://schemas.openxmlformats.org/officeDocument/2006/relationships" id="309" r:id="Rf43f023851c241d6"/>
    <p:sldId xmlns:r="http://schemas.openxmlformats.org/officeDocument/2006/relationships" id="310" r:id="Rf7f8392a41484c7c"/>
    <p:sldId xmlns:r="http://schemas.openxmlformats.org/officeDocument/2006/relationships" id="311" r:id="R62d9404b56414a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83476dd58a4e99" /><Relationship Type="http://schemas.openxmlformats.org/officeDocument/2006/relationships/slideMaster" Target="/ppt/slideMasters/slideMaster1.xml" Id="R03109750368442db" /><Relationship Type="http://schemas.openxmlformats.org/officeDocument/2006/relationships/notesMaster" Target="/ppt/notesMasters/notesMaster1.xml" Id="R762947fe27364804" /><Relationship Type="http://schemas.openxmlformats.org/officeDocument/2006/relationships/presProps" Target="/ppt/presProps.xml" Id="R3d20dd03de794683" /><Relationship Type="http://schemas.openxmlformats.org/officeDocument/2006/relationships/tableStyles" Target="/ppt/tableStyles.xml" Id="R14d08a70c7a54efc" /><Relationship Type="http://schemas.openxmlformats.org/officeDocument/2006/relationships/slide" Target="/ppt/slides/slide1.xml" Id="Rac2287420f1c4d0f" /><Relationship Type="http://schemas.openxmlformats.org/officeDocument/2006/relationships/slide" Target="/ppt/slides/slide2.xml" Id="Rea36f2f133e445e5" /><Relationship Type="http://schemas.openxmlformats.org/officeDocument/2006/relationships/slide" Target="/ppt/slides/slide3.xml" Id="Re3dd48b3b8904200" /><Relationship Type="http://schemas.openxmlformats.org/officeDocument/2006/relationships/slide" Target="/ppt/slides/slide4.xml" Id="R46dcb540b30a49c2" /><Relationship Type="http://schemas.openxmlformats.org/officeDocument/2006/relationships/slide" Target="/ppt/slides/slide5.xml" Id="R0809be1df46544fd" /><Relationship Type="http://schemas.openxmlformats.org/officeDocument/2006/relationships/slide" Target="/ppt/slides/slide6.xml" Id="R61d28f4bc8594038" /><Relationship Type="http://schemas.openxmlformats.org/officeDocument/2006/relationships/slide" Target="/ppt/slides/slide7.xml" Id="R60c40700059d40ff" /><Relationship Type="http://schemas.openxmlformats.org/officeDocument/2006/relationships/slide" Target="/ppt/slides/slide8.xml" Id="Rb4b32a0baae54d30" /><Relationship Type="http://schemas.openxmlformats.org/officeDocument/2006/relationships/slide" Target="/ppt/slides/slide9.xml" Id="R486c666e5ada4d49" /><Relationship Type="http://schemas.openxmlformats.org/officeDocument/2006/relationships/slide" Target="/ppt/slides/slide10.xml" Id="R1ad3a1e065814d04" /><Relationship Type="http://schemas.openxmlformats.org/officeDocument/2006/relationships/slide" Target="/ppt/slides/slide11.xml" Id="Rdaf91e2103e44bc4" /><Relationship Type="http://schemas.openxmlformats.org/officeDocument/2006/relationships/slide" Target="/ppt/slides/slide12.xml" Id="Rf06f7cc347da4b13" /><Relationship Type="http://schemas.openxmlformats.org/officeDocument/2006/relationships/slide" Target="/ppt/slides/slide13.xml" Id="R9f5e41e82bd34f3a" /><Relationship Type="http://schemas.openxmlformats.org/officeDocument/2006/relationships/slide" Target="/ppt/slides/slide14.xml" Id="Rb03d96ef7d7541ed" /><Relationship Type="http://schemas.openxmlformats.org/officeDocument/2006/relationships/slide" Target="/ppt/slides/slide15.xml" Id="R1745095db9714acc" /><Relationship Type="http://schemas.openxmlformats.org/officeDocument/2006/relationships/slide" Target="/ppt/slides/slide16.xml" Id="R99f946c734fb49f8" /><Relationship Type="http://schemas.openxmlformats.org/officeDocument/2006/relationships/slide" Target="/ppt/slides/slide17.xml" Id="R66a74ffd675f4601" /><Relationship Type="http://schemas.openxmlformats.org/officeDocument/2006/relationships/slide" Target="/ppt/slides/slide18.xml" Id="Rcb123968dc66495b" /><Relationship Type="http://schemas.openxmlformats.org/officeDocument/2006/relationships/slide" Target="/ppt/slides/slide19.xml" Id="Rc659be6aeb4942a8" /><Relationship Type="http://schemas.openxmlformats.org/officeDocument/2006/relationships/slide" Target="/ppt/slides/slide20.xml" Id="Ra41067653b99401f" /><Relationship Type="http://schemas.openxmlformats.org/officeDocument/2006/relationships/slide" Target="/ppt/slides/slide21.xml" Id="Re830d4c7e28349c4" /><Relationship Type="http://schemas.openxmlformats.org/officeDocument/2006/relationships/slide" Target="/ppt/slides/slide22.xml" Id="R0ec43673827b40ca" /><Relationship Type="http://schemas.openxmlformats.org/officeDocument/2006/relationships/slide" Target="/ppt/slides/slide23.xml" Id="Rd71e2e1b7b2b431d" /><Relationship Type="http://schemas.openxmlformats.org/officeDocument/2006/relationships/slide" Target="/ppt/slides/slide24.xml" Id="Rbb7fcde969d34627" /><Relationship Type="http://schemas.openxmlformats.org/officeDocument/2006/relationships/slide" Target="/ppt/slides/slide25.xml" Id="R24e666960d114352" /><Relationship Type="http://schemas.openxmlformats.org/officeDocument/2006/relationships/slide" Target="/ppt/slides/slide26.xml" Id="Rf64ed6067f6c4e19" /><Relationship Type="http://schemas.openxmlformats.org/officeDocument/2006/relationships/slide" Target="/ppt/slides/slide27.xml" Id="R85bb03808395414a" /><Relationship Type="http://schemas.openxmlformats.org/officeDocument/2006/relationships/slide" Target="/ppt/slides/slide28.xml" Id="R4a91ea8802634036" /><Relationship Type="http://schemas.openxmlformats.org/officeDocument/2006/relationships/slide" Target="/ppt/slides/slide29.xml" Id="R09c3dc2856f94a4b" /><Relationship Type="http://schemas.openxmlformats.org/officeDocument/2006/relationships/slide" Target="/ppt/slides/slide30.xml" Id="R80b354cbf25a4137" /><Relationship Type="http://schemas.openxmlformats.org/officeDocument/2006/relationships/slide" Target="/ppt/slides/slide31.xml" Id="R0caf9cc495bb49a5" /><Relationship Type="http://schemas.openxmlformats.org/officeDocument/2006/relationships/slide" Target="/ppt/slides/slide32.xml" Id="Re01fea3a0c374a9a" /><Relationship Type="http://schemas.openxmlformats.org/officeDocument/2006/relationships/slide" Target="/ppt/slides/slide33.xml" Id="Raaf71e6b0fb24996" /><Relationship Type="http://schemas.openxmlformats.org/officeDocument/2006/relationships/slide" Target="/ppt/slides/slide34.xml" Id="Ra2ed5a941dcd4410" /><Relationship Type="http://schemas.openxmlformats.org/officeDocument/2006/relationships/slide" Target="/ppt/slides/slide35.xml" Id="R5974f6c75656454e" /><Relationship Type="http://schemas.openxmlformats.org/officeDocument/2006/relationships/slide" Target="/ppt/slides/slide36.xml" Id="Ra61418af6f234db7" /><Relationship Type="http://schemas.openxmlformats.org/officeDocument/2006/relationships/slide" Target="/ppt/slides/slide37.xml" Id="R0d9145d8ec4d4c1a" /><Relationship Type="http://schemas.openxmlformats.org/officeDocument/2006/relationships/slide" Target="/ppt/slides/slide38.xml" Id="Rcc5e1f8d2d084d28" /><Relationship Type="http://schemas.openxmlformats.org/officeDocument/2006/relationships/slide" Target="/ppt/slides/slide39.xml" Id="R5f2e9140776a48ee" /><Relationship Type="http://schemas.openxmlformats.org/officeDocument/2006/relationships/slide" Target="/ppt/slides/slide40.xml" Id="Re396a8f639d44b7a" /><Relationship Type="http://schemas.openxmlformats.org/officeDocument/2006/relationships/slide" Target="/ppt/slides/slide41.xml" Id="R2485b7f18dcb47e8" /><Relationship Type="http://schemas.openxmlformats.org/officeDocument/2006/relationships/slide" Target="/ppt/slides/slide42.xml" Id="R2da06ad7ead64071" /><Relationship Type="http://schemas.openxmlformats.org/officeDocument/2006/relationships/slide" Target="/ppt/slides/slide43.xml" Id="Rb7964ae088954242" /><Relationship Type="http://schemas.openxmlformats.org/officeDocument/2006/relationships/slide" Target="/ppt/slides/slide44.xml" Id="Ra558afc7e5cf4a0f" /><Relationship Type="http://schemas.openxmlformats.org/officeDocument/2006/relationships/slide" Target="/ppt/slides/slide45.xml" Id="R8ae8bbcbaa314063" /><Relationship Type="http://schemas.openxmlformats.org/officeDocument/2006/relationships/slide" Target="/ppt/slides/slide46.xml" Id="R4dff6afa4e604d31" /><Relationship Type="http://schemas.openxmlformats.org/officeDocument/2006/relationships/slide" Target="/ppt/slides/slide47.xml" Id="R219b41d6e8c4430a" /><Relationship Type="http://schemas.openxmlformats.org/officeDocument/2006/relationships/slide" Target="/ppt/slides/slide48.xml" Id="Rc62b1efd5b4c4503" /><Relationship Type="http://schemas.openxmlformats.org/officeDocument/2006/relationships/slide" Target="/ppt/slides/slide49.xml" Id="Rcb86db3b9e3047f5" /><Relationship Type="http://schemas.openxmlformats.org/officeDocument/2006/relationships/slide" Target="/ppt/slides/slide50.xml" Id="R4d7c746b51b84944" /><Relationship Type="http://schemas.openxmlformats.org/officeDocument/2006/relationships/slide" Target="/ppt/slides/slide51.xml" Id="Recd490828d524b77" /><Relationship Type="http://schemas.openxmlformats.org/officeDocument/2006/relationships/slide" Target="/ppt/slides/slide52.xml" Id="R2e728b1e9c5a46b2" /><Relationship Type="http://schemas.openxmlformats.org/officeDocument/2006/relationships/slide" Target="/ppt/slides/slide53.xml" Id="R5f52347e9e254872" /><Relationship Type="http://schemas.openxmlformats.org/officeDocument/2006/relationships/slide" Target="/ppt/slides/slide54.xml" Id="Rf43f023851c241d6" /><Relationship Type="http://schemas.openxmlformats.org/officeDocument/2006/relationships/slide" Target="/ppt/slides/slide55.xml" Id="Rf7f8392a41484c7c" /><Relationship Type="http://schemas.openxmlformats.org/officeDocument/2006/relationships/slide" Target="/ppt/slides/slide56.xml" Id="R62d9404b56414a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8e3f4d6b764d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61fc508f3b4e54" /><Relationship Type="http://schemas.openxmlformats.org/officeDocument/2006/relationships/notesMaster" Target="/ppt/notesMasters/notesMaster1.xml" Id="R8cf38fc5fe494b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7604f42c154293" /><Relationship Type="http://schemas.openxmlformats.org/officeDocument/2006/relationships/notesMaster" Target="/ppt/notesMasters/notesMaster1.xml" Id="Rb145b76e88aa46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682f32b4554726" /><Relationship Type="http://schemas.openxmlformats.org/officeDocument/2006/relationships/notesMaster" Target="/ppt/notesMasters/notesMaster1.xml" Id="Rd7e9fe7f026948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8c51db6d8f41cc" /><Relationship Type="http://schemas.openxmlformats.org/officeDocument/2006/relationships/notesMaster" Target="/ppt/notesMasters/notesMaster1.xml" Id="R23bcbe781e6d4d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a1519598f0431b" /><Relationship Type="http://schemas.openxmlformats.org/officeDocument/2006/relationships/notesMaster" Target="/ppt/notesMasters/notesMaster1.xml" Id="Rc9a0ecdde67e42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08e18403784cb3" /><Relationship Type="http://schemas.openxmlformats.org/officeDocument/2006/relationships/notesMaster" Target="/ppt/notesMasters/notesMaster1.xml" Id="R4a8fe8e50af643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f99a24f7c5497c" /><Relationship Type="http://schemas.openxmlformats.org/officeDocument/2006/relationships/notesMaster" Target="/ppt/notesMasters/notesMaster1.xml" Id="Rc071bd38909e42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8fa1f574774fac" /><Relationship Type="http://schemas.openxmlformats.org/officeDocument/2006/relationships/notesMaster" Target="/ppt/notesMasters/notesMaster1.xml" Id="R5434910e83ef48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b7931afa004d0e" /><Relationship Type="http://schemas.openxmlformats.org/officeDocument/2006/relationships/notesMaster" Target="/ppt/notesMasters/notesMaster1.xml" Id="Rd02e75aeeb5d4b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3b51d2caaf4a32" /><Relationship Type="http://schemas.openxmlformats.org/officeDocument/2006/relationships/notesMaster" Target="/ppt/notesMasters/notesMaster1.xml" Id="R71b8132f7a034a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bc99b1e0804efd" /><Relationship Type="http://schemas.openxmlformats.org/officeDocument/2006/relationships/notesMaster" Target="/ppt/notesMasters/notesMaster1.xml" Id="R40fa296090a84f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7a6429339b455a" /><Relationship Type="http://schemas.openxmlformats.org/officeDocument/2006/relationships/notesMaster" Target="/ppt/notesMasters/notesMaster1.xml" Id="R5b071cbf2c4246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9eb1257fd942f9" /><Relationship Type="http://schemas.openxmlformats.org/officeDocument/2006/relationships/notesMaster" Target="/ppt/notesMasters/notesMaster1.xml" Id="R80b4814acf2d45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b9ae6b5f1349ad" /><Relationship Type="http://schemas.openxmlformats.org/officeDocument/2006/relationships/notesMaster" Target="/ppt/notesMasters/notesMaster1.xml" Id="Re9839144efe0414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a5997d7a996406e" /><Relationship Type="http://schemas.openxmlformats.org/officeDocument/2006/relationships/notesMaster" Target="/ppt/notesMasters/notesMaster1.xml" Id="Rdaede850fbf640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bac2cb64454661" /><Relationship Type="http://schemas.openxmlformats.org/officeDocument/2006/relationships/notesMaster" Target="/ppt/notesMasters/notesMaster1.xml" Id="Rd02bf3c821054a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8774ee66a84a78" /><Relationship Type="http://schemas.openxmlformats.org/officeDocument/2006/relationships/notesMaster" Target="/ppt/notesMasters/notesMaster1.xml" Id="R0f1dacef38bb4dc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acb220bcbf4e90" /><Relationship Type="http://schemas.openxmlformats.org/officeDocument/2006/relationships/notesMaster" Target="/ppt/notesMasters/notesMaster1.xml" Id="Re5c0d8cc7d474d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f1c370c8d364f48" /><Relationship Type="http://schemas.openxmlformats.org/officeDocument/2006/relationships/notesMaster" Target="/ppt/notesMasters/notesMaster1.xml" Id="R1660c5db07d9452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341e8e555554cf7" /><Relationship Type="http://schemas.openxmlformats.org/officeDocument/2006/relationships/notesMaster" Target="/ppt/notesMasters/notesMaster1.xml" Id="Rd6cb037a72dc410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4f22034cefa4a8f" /><Relationship Type="http://schemas.openxmlformats.org/officeDocument/2006/relationships/notesMaster" Target="/ppt/notesMasters/notesMaster1.xml" Id="R7da78eae56fd49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d30f745c754ba2" /><Relationship Type="http://schemas.openxmlformats.org/officeDocument/2006/relationships/notesMaster" Target="/ppt/notesMasters/notesMaster1.xml" Id="Rbb685c3e5eb34e8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6271e62a894ab8" /><Relationship Type="http://schemas.openxmlformats.org/officeDocument/2006/relationships/notesMaster" Target="/ppt/notesMasters/notesMaster1.xml" Id="Rf2fc408aa2b943c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748bae6f7164b9d" /><Relationship Type="http://schemas.openxmlformats.org/officeDocument/2006/relationships/notesMaster" Target="/ppt/notesMasters/notesMaster1.xml" Id="R7ee4dc80ba6c4f0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36c91aa951a4220" /><Relationship Type="http://schemas.openxmlformats.org/officeDocument/2006/relationships/notesMaster" Target="/ppt/notesMasters/notesMaster1.xml" Id="Rbf4cc0d4cb2a457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a2cbf4515d04dd4" /><Relationship Type="http://schemas.openxmlformats.org/officeDocument/2006/relationships/notesMaster" Target="/ppt/notesMasters/notesMaster1.xml" Id="R73d29441bd104be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fd68eca285e49fc" /><Relationship Type="http://schemas.openxmlformats.org/officeDocument/2006/relationships/notesMaster" Target="/ppt/notesMasters/notesMaster1.xml" Id="Re3c626c7bad5456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b355e30d6de436f" /><Relationship Type="http://schemas.openxmlformats.org/officeDocument/2006/relationships/notesMaster" Target="/ppt/notesMasters/notesMaster1.xml" Id="Ra976331e9555457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046086bac794aa9" /><Relationship Type="http://schemas.openxmlformats.org/officeDocument/2006/relationships/notesMaster" Target="/ppt/notesMasters/notesMaster1.xml" Id="R20d264993207428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3d52b0d6c5949a1" /><Relationship Type="http://schemas.openxmlformats.org/officeDocument/2006/relationships/notesMaster" Target="/ppt/notesMasters/notesMaster1.xml" Id="Rd7d414b10dfc442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70067de5ed446ec" /><Relationship Type="http://schemas.openxmlformats.org/officeDocument/2006/relationships/notesMaster" Target="/ppt/notesMasters/notesMaster1.xml" Id="Ra8778bda8552497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8028c835f1847e4" /><Relationship Type="http://schemas.openxmlformats.org/officeDocument/2006/relationships/notesMaster" Target="/ppt/notesMasters/notesMaster1.xml" Id="R368cd9ae950042a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9039b88abb34e18" /><Relationship Type="http://schemas.openxmlformats.org/officeDocument/2006/relationships/notesMaster" Target="/ppt/notesMasters/notesMaster1.xml" Id="Red35a784908e4de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0e1eb6c47484f77" /><Relationship Type="http://schemas.openxmlformats.org/officeDocument/2006/relationships/notesMaster" Target="/ppt/notesMasters/notesMaster1.xml" Id="R41aadded006f460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b230743754e47dc" /><Relationship Type="http://schemas.openxmlformats.org/officeDocument/2006/relationships/notesMaster" Target="/ppt/notesMasters/notesMaster1.xml" Id="R4cf5b971c9fd456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fec7809a9f947dd" /><Relationship Type="http://schemas.openxmlformats.org/officeDocument/2006/relationships/notesMaster" Target="/ppt/notesMasters/notesMaster1.xml" Id="R0d41b1d6109245e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52c3a5a0d2c4677" /><Relationship Type="http://schemas.openxmlformats.org/officeDocument/2006/relationships/notesMaster" Target="/ppt/notesMasters/notesMaster1.xml" Id="Rd04e53b5fc794d2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23d173e4d0a424f" /><Relationship Type="http://schemas.openxmlformats.org/officeDocument/2006/relationships/notesMaster" Target="/ppt/notesMasters/notesMaster1.xml" Id="Raa5df358f519405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ebae509d0c74edb" /><Relationship Type="http://schemas.openxmlformats.org/officeDocument/2006/relationships/notesMaster" Target="/ppt/notesMasters/notesMaster1.xml" Id="Rc887e58b81174cc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dd9b551290344f4" /><Relationship Type="http://schemas.openxmlformats.org/officeDocument/2006/relationships/notesMaster" Target="/ppt/notesMasters/notesMaster1.xml" Id="R49f5f60fe8cd4ae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79b40bb5ab3430c" /><Relationship Type="http://schemas.openxmlformats.org/officeDocument/2006/relationships/notesMaster" Target="/ppt/notesMasters/notesMaster1.xml" Id="R9277f43da14547c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100a375b0704bd9" /><Relationship Type="http://schemas.openxmlformats.org/officeDocument/2006/relationships/notesMaster" Target="/ppt/notesMasters/notesMaster1.xml" Id="Rcf2bc301936c421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65a150c793f4c9b" /><Relationship Type="http://schemas.openxmlformats.org/officeDocument/2006/relationships/notesMaster" Target="/ppt/notesMasters/notesMaster1.xml" Id="R48726abf809c40a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0dfd8fd9d8c4181" /><Relationship Type="http://schemas.openxmlformats.org/officeDocument/2006/relationships/notesMaster" Target="/ppt/notesMasters/notesMaster1.xml" Id="Rbd28227fc0a2425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dfa03f8fd5d46a0" /><Relationship Type="http://schemas.openxmlformats.org/officeDocument/2006/relationships/notesMaster" Target="/ppt/notesMasters/notesMaster1.xml" Id="R9e9a686e8709407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15030bff5eb4c8f" /><Relationship Type="http://schemas.openxmlformats.org/officeDocument/2006/relationships/notesMaster" Target="/ppt/notesMasters/notesMaster1.xml" Id="Rc3b965279ce8481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8d885d318ef4c9c" /><Relationship Type="http://schemas.openxmlformats.org/officeDocument/2006/relationships/notesMaster" Target="/ppt/notesMasters/notesMaster1.xml" Id="R9fba12d5aaa4441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9c1fa382c5d4c16" /><Relationship Type="http://schemas.openxmlformats.org/officeDocument/2006/relationships/notesMaster" Target="/ppt/notesMasters/notesMaster1.xml" Id="R0fb674df1a8d4fe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3bc65abdc114bd6" /><Relationship Type="http://schemas.openxmlformats.org/officeDocument/2006/relationships/notesMaster" Target="/ppt/notesMasters/notesMaster1.xml" Id="Rf1539887f7be419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bbf0c13d3f24a53" /><Relationship Type="http://schemas.openxmlformats.org/officeDocument/2006/relationships/notesMaster" Target="/ppt/notesMasters/notesMaster1.xml" Id="R8470281db42a4e8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c10f09b0bbc4f94" /><Relationship Type="http://schemas.openxmlformats.org/officeDocument/2006/relationships/notesMaster" Target="/ppt/notesMasters/notesMaster1.xml" Id="Rc892d51c721d48e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b2ad528e02d45f5" /><Relationship Type="http://schemas.openxmlformats.org/officeDocument/2006/relationships/notesMaster" Target="/ppt/notesMasters/notesMaster1.xml" Id="R145d730b55fb4fa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0e603490af4485f" /><Relationship Type="http://schemas.openxmlformats.org/officeDocument/2006/relationships/notesMaster" Target="/ppt/notesMasters/notesMaster1.xml" Id="R24535d2459f04eb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30bd82ebba74a10" /><Relationship Type="http://schemas.openxmlformats.org/officeDocument/2006/relationships/notesMaster" Target="/ppt/notesMasters/notesMaster1.xml" Id="R5bbfca96660b426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63dcac1e46c4574" /><Relationship Type="http://schemas.openxmlformats.org/officeDocument/2006/relationships/notesMaster" Target="/ppt/notesMasters/notesMaster1.xml" Id="R76cc366d19ec4f1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91389511b124531" /><Relationship Type="http://schemas.openxmlformats.org/officeDocument/2006/relationships/notesMaster" Target="/ppt/notesMasters/notesMaster1.xml" Id="Reee5b350e7ff4b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Lesson ID: cover</a:t>
            </a:r>
          </a:p>
          <a:p xmlns:a="http://schemas.openxmlformats.org/drawingml/2006/main">
            <a:r>
              <a:t>Section: Foundations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canvas carries the main lesson. Speaker notes preserve context, source URLs and open questions. This is a learning library, not an approved Levarum identity. New references can be added using the template near the end. Keep the same deck as the working artifact and use Google Slides version history for substantial revisions.</a:t>
            </a:r>
          </a:p>
          <a:p xmlns:a="http://schemas.openxmlformats.org/drawingml/2006/main">
            <a:r>
              <a:t/>
            </a:r>
          </a:p>
          <a:p xmlns:a="http://schemas.openxmlformats.org/drawingml/2006/main">
            <a:r>
              <a:t>Lesson ID: map</a:t>
            </a:r>
          </a:p>
          <a:p xmlns:a="http://schemas.openxmlformats.org/drawingml/2006/main">
            <a:r>
              <a:t>Section: Foundations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attractive reference does not establish usability, recall or sales. Source captions can establish a creator’s intent without proving an audience response. A screenshot may show a texture without identifying the production process. The notes flag access gaps and original-artwork attribution limits. All four labels are useful, but they answer different questions.</a:t>
            </a:r>
          </a:p>
          <a:p xmlns:a="http://schemas.openxmlformats.org/drawingml/2006/main">
            <a:r>
              <a:t/>
            </a:r>
          </a:p>
          <a:p xmlns:a="http://schemas.openxmlformats.org/drawingml/2006/main">
            <a:r>
              <a:t>Lesson ID: evidence</a:t>
            </a:r>
          </a:p>
          <a:p xmlns:a="http://schemas.openxmlformats.org/drawingml/2006/main">
            <a:r>
              <a:t>Section: Foundations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questions form our teaching method. They are not a validated scoring rubric. Describe relationships such as scale, contrast, proximity, edge or lighting before assigning a style adjective. The answers turn an instinctive preference into something that can be developed and compared.</a:t>
            </a:r>
          </a:p>
          <a:p xmlns:a="http://schemas.openxmlformats.org/drawingml/2006/main">
            <a:r>
              <a:t/>
            </a:r>
          </a:p>
          <a:p xmlns:a="http://schemas.openxmlformats.org/drawingml/2006/main">
            <a:r>
              <a:t>Lesson ID: questions</a:t>
            </a:r>
          </a:p>
          <a:p xmlns:a="http://schemas.openxmlformats.org/drawingml/2006/main">
            <a:r>
              <a:t>Section: Foundations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Lesson ID: atlas-cover</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names are useful entry points, not equivalent historical movements. The supplied overview preserves the wording used in the social post. It cannot establish that every pictured artist used the same label. Denny Kurien’s matching TikTok post was found and partially inspected. Original artwork credits remain incomplete.</a:t>
            </a:r>
          </a:p>
          <a:p xmlns:a="http://schemas.openxmlformats.org/drawingml/2006/main">
            <a:r>
              <a:t/>
            </a:r>
          </a:p>
          <a:p xmlns:a="http://schemas.openxmlformats.org/drawingml/2006/main">
            <a:r>
              <a:t>Lesson ID: atlas-map</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https://www.tiktok.com/@denny.kurien/video/7680157545746418964</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physical Risograph print uses stencil duplication, color separations and spot inks. PageMasters describes halftones, ink drums, registration and trapping. The poster screenshot suggests overprinting but cannot verify its physical production. RISO’s history distinguishes a 1958 precursor from 1980 models. Study the arrangement before imitating grain. Digital artwork should be described as Riso-inspired when no physical print exists.</a:t>
            </a:r>
          </a:p>
          <a:p xmlns:a="http://schemas.openxmlformats.org/drawingml/2006/main">
            <a:r>
              <a:t/>
            </a:r>
          </a:p>
          <a:p xmlns:a="http://schemas.openxmlformats.org/drawingml/2006/main">
            <a:r>
              <a:t>Lesson ID: riso</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https://www.pagemasters.co/risograph</a:t>
            </a:r>
          </a:p>
          <a:p xmlns:a="http://schemas.openxmlformats.org/drawingml/2006/main">
            <a:r>
              <a:t>https://risottostudio.com/pages/advanced-print-setup</a:t>
            </a:r>
          </a:p>
          <a:p xmlns:a="http://schemas.openxmlformats.org/drawingml/2006/main">
            <a:r>
              <a:t>https://www.riso.co.jp/english/product/digital_dup/history/index.html</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Simplicity21 reference contains blue fins, green folds, coral cylinders and orange rounded forms. The matching portfolio credits Kyungtae Kim and Toss Design. Five objects represent the conference title and four themes. This connects visual form to content. Claymorphism is an informal label, not proof of a particular 3D process. A soft object used as illustration should not be confused with an interactive control.</a:t>
            </a:r>
          </a:p>
          <a:p xmlns:a="http://schemas.openxmlformats.org/drawingml/2006/main">
            <a:r>
              <a:t/>
            </a:r>
          </a:p>
          <a:p xmlns:a="http://schemas.openxmlformats.org/drawingml/2006/main">
            <a:r>
              <a:t>Lesson ID: clay</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https://www.behance.net/gallery/127686975/Simplicity-21</a:t>
            </a:r>
          </a:p>
          <a:p xmlns:a="http://schemas.openxmlformats.org/drawingml/2006/main">
            <a:r>
              <a:t>https://microsoft.design/articles/an-emoji-for-your-thoughts-2/</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observed contrast between intricate surface and restrained information creates much of this reference’s character. Organic need not mean green or environmental. Scale can shift a form from friendly to microscopic or unsettling. Nature-like appearance cannot substantiate environmental benefit. The original crop’s authorship remains unresolved. Cartier’s Farinart is an adjacent documented case using 3D grain forms tied to agriculture, rather than proof that the original artist used the label Organic Tech.</a:t>
            </a:r>
          </a:p>
          <a:p xmlns:a="http://schemas.openxmlformats.org/drawingml/2006/main">
            <a:r>
              <a:t/>
            </a:r>
          </a:p>
          <a:p xmlns:a="http://schemas.openxmlformats.org/drawingml/2006/main">
            <a:r>
              <a:t>Lesson ID: organic</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https://agencecartier.com/en/projects/farinart-a-new-identity-crops-up/</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Dirty is a loose descriptor for noise, uneven density, desaturation or irregular boundaries. The screenshot supports broad color transitions and restrained composition. Its exact grain method is unverified. Pentagram’s Intrinsic offers an adjacent example in which gradient echoes represent possible future robot positions. That source does not label its project Dirty Gradients. Meaning can come from behavior rather than an effect pasted onto every section.</a:t>
            </a:r>
          </a:p>
          <a:p xmlns:a="http://schemas.openxmlformats.org/drawingml/2006/main">
            <a:r>
              <a:t/>
            </a:r>
          </a:p>
          <a:p xmlns:a="http://schemas.openxmlformats.org/drawingml/2006/main">
            <a:r>
              <a:t>Lesson ID: dirty</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https://www.pentagram.com/work/intrinsic</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CARI credits Alex Edwards with the label, combining austere and urbane. Its account includes generous space, natural materials, staged photography and dramatic shadows. This particular screenshot teaches angle, overlap and restraint. Beige and a serif do not guarantee sophistication. Compare the same objects under hard and diffuse light to isolate how lighting changes a composition. The pictured packaging’s creator remains unverified.</a:t>
            </a:r>
          </a:p>
          <a:p xmlns:a="http://schemas.openxmlformats.org/drawingml/2006/main">
            <a:r>
              <a:t/>
            </a:r>
          </a:p>
          <a:p xmlns:a="http://schemas.openxmlformats.org/drawingml/2006/main">
            <a:r>
              <a:t>Lesson ID: austurbane</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https://cari.institute/aesthetics/austurbane</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compound label’s origin and definition were not established. Architectural Brutalism and CARI’s Nu-Brutalism are related research contexts, not evidence for a single formal movement with this name. The useful observations are the heavy AGNI lettering, white space, edge rule and asymmetrical information. Sparse composition must still preserve useful labels and controls when translated to a website.</a:t>
            </a:r>
          </a:p>
          <a:p xmlns:a="http://schemas.openxmlformats.org/drawingml/2006/main">
            <a:r>
              <a:t/>
            </a:r>
          </a:p>
          <a:p xmlns:a="http://schemas.openxmlformats.org/drawingml/2006/main">
            <a:r>
              <a:t>Lesson ID: brutal</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https://cari.institute/aesthetics/nu-brutalism</a:t>
            </a:r>
          </a:p>
          <a:p xmlns:a="http://schemas.openxmlformats.org/drawingml/2006/main">
            <a:r>
              <a:t>https://www.riba.org/explore/riba-collections/architectural-styles/brutalism-movement/</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spray vocabulary can suggest play, workshop markings, street culture or military stencils depending on context. The supplied coffee package uses loose lettering and drawings. Pentagram’s American Weed Co. uses a different stencil language rooted in the founders’ context. Surface resemblance does not establish a shared meaning. Preserve legibility in critical information and investigate original authorship rather than crediting a repost account as the artist.</a:t>
            </a:r>
          </a:p>
          <a:p xmlns:a="http://schemas.openxmlformats.org/drawingml/2006/main">
            <a:r>
              <a:t/>
            </a:r>
          </a:p>
          <a:p xmlns:a="http://schemas.openxmlformats.org/drawingml/2006/main">
            <a:r>
              <a:t>Lesson ID: spray</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https://www.pentagram.com/work/american-weed-co</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national Russian commission for UNESCO describes a regional ceramic history and twentieth-century revival involving Alexander Saltykov and Natalia Bessarabova. This is not evidence of a UNESCO heritage designation. The supplied LOEWE image shows blue birds and foliage in a tiled arrangement. The De Morgan Foundation documents another LOEWE collaboration, but it has not been matched to this exact bag. Preserve the uncertainty rather than relabel the asset. Study tonal brushwork and spacing as mechanisms.</a:t>
            </a:r>
          </a:p>
          <a:p xmlns:a="http://schemas.openxmlformats.org/drawingml/2006/main">
            <a:r>
              <a:t/>
            </a:r>
          </a:p>
          <a:p xmlns:a="http://schemas.openxmlformats.org/drawingml/2006/main">
            <a:r>
              <a:t>Lesson ID: gzhel</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https://unesco.ru/en/news/gjel37/</a:t>
            </a:r>
          </a:p>
          <a:p xmlns:a="http://schemas.openxmlformats.org/drawingml/2006/main">
            <a:r>
              <a:t>https://farfor-gzhel.com/en/the-award-at-home-in-the-nomination-design-and-craft/</a:t>
            </a:r>
          </a:p>
          <a:p xmlns:a="http://schemas.openxmlformats.org/drawingml/2006/main">
            <a:r>
              <a:t>https://www.demorgan.org.uk/de-morgan-x-loewe-autumn-winter-2019/</a:t>
            </a:r>
          </a:p>
          <a:p xmlns:a="http://schemas.openxmlformats.org/drawingml/2006/main">
            <a:r>
              <a:t/>
            </a:r>
          </a:p>
          <a:p xmlns:a="http://schemas.openxmlformats.org/drawingml/2006/main">
            <a:r>
              <a:t>Study date: 8 September 2026.</a:t>
            </a:r>
          </a:p>
          <a:p xmlns:a="http://schemas.openxmlformats.org/drawingml/2006/main">
            <a:r>
              <a:t>Visual: Original user-supplied reference screenshot. Artwork attribution remains qualified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the small overview tile was supplied for this label. Its object, maker and production method are unknown. 3M’s Dichroic DF Chill provides a documented physical comparison: apparent colors vary with viewing angle and with reflected versus transmitted light. Use a still image where it conveys the effect adequately. This terminology lesson distinguishes material behavior from a loose aesthetic description.</a:t>
            </a:r>
          </a:p>
          <a:p xmlns:a="http://schemas.openxmlformats.org/drawingml/2006/main">
            <a:r>
              <a:t/>
            </a:r>
          </a:p>
          <a:p xmlns:a="http://schemas.openxmlformats.org/drawingml/2006/main">
            <a:r>
              <a:t>Lesson ID: iridescence</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https://www.3m.com/3M/en_US/p/d/v000096543/</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Asian Chic has documented usage in Leshkowich and Jones’s 2003 fashion scholarship. That does not establish one graphic-design movement or the provenance of the supplied thumbnail. Their Vietnam and Indonesia examples show that meaning depends on who makes, circulates and interprets an object. A V&amp;A account of chinoiserie is a separate historical comparison. The source resolution is insufficient to identify script or maker. Use an attributable object whenever possible.</a:t>
            </a:r>
          </a:p>
          <a:p xmlns:a="http://schemas.openxmlformats.org/drawingml/2006/main">
            <a:r>
              <a:t/>
            </a:r>
          </a:p>
          <a:p xmlns:a="http://schemas.openxmlformats.org/drawingml/2006/main">
            <a:r>
              <a:t>Lesson ID: asian</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https://www.colorado.edu/anthropology/sites/default/files/attached-files/5leshkowichjonesft.pdf</a:t>
            </a:r>
          </a:p>
          <a:p xmlns:a="http://schemas.openxmlformats.org/drawingml/2006/main">
            <a:r>
              <a:t>https://www.vam.ac.uk/articles/chinoiserie-an-introduction</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design heuristic, not a universal formula. Organic geometry could share one iridescent material without requiring every section to contain fur, chrome, clay and spray. The question is whether the effects compete for attention or serve distinct purposes. Play Studio’s Adobe MAX project provides an adjacent documented example of an organizing lens, core colors and varied artwork, including human-directed generative collage.</a:t>
            </a:r>
          </a:p>
          <a:p xmlns:a="http://schemas.openxmlformats.org/drawingml/2006/main">
            <a:r>
              <a:t/>
            </a:r>
          </a:p>
          <a:p xmlns:a="http://schemas.openxmlformats.org/drawingml/2006/main">
            <a:r>
              <a:t>Lesson ID: combining</a:t>
            </a:r>
          </a:p>
          <a:p xmlns:a="http://schemas.openxmlformats.org/drawingml/2006/main">
            <a:r>
              <a:t>Section: Visual atlas</a:t>
            </a:r>
          </a:p>
          <a:p xmlns:a="http://schemas.openxmlformats.org/drawingml/2006/main">
            <a:r>
              <a:t/>
            </a:r>
          </a:p>
          <a:p xmlns:a="http://schemas.openxmlformats.org/drawingml/2006/main">
            <a:r>
              <a:t>Sources:</a:t>
            </a:r>
          </a:p>
          <a:p xmlns:a="http://schemas.openxmlformats.org/drawingml/2006/main">
            <a:r>
              <a:t>https://play.studio/work/adobe-max</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Lesson ID: craft-cover</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Nike's own archive identifies Davidson and the initial shoe-side brief, while documenting later adaptation across products and media. Our design reading is that the taper and asymmetry supply direction without a literal runner illustration. That is interpretation, not a controlled measurement of effectiveness. The transferable exercise is to inspect a proposed mark in one color, on its intended surface, and at small sizes. Do not borrow the Swoosh or promise that minimal geometry creates comparable recognition. A new identity needs its own distinctive form and a way to teach the name. This example is educational commentary, not a universal ranking.</a:t>
            </a:r>
          </a:p>
          <a:p xmlns:a="http://schemas.openxmlformats.org/drawingml/2006/main">
            <a:r>
              <a:t/>
            </a:r>
          </a:p>
          <a:p xmlns:a="http://schemas.openxmlformats.org/drawingml/2006/main">
            <a:r>
              <a:t>Lesson ID: iconic_nike_silhouette</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https://about.nike.com/en/magazine/nike-swoosh-logo-history</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first-person interview, Leader dates the work to 1994 at Landor and explains that he combined and adjusted letterform characteristics to obtain the arrow. He describes the hidden device as a bonus rather than the whole communication. This is primary creator testimony hosted by the interviewer, not FedEx's current brand manual. The creator's own linked site was inaccessible during this research. Our proposed lesson is to examine counters and spacing as designed forms, while retaining readable lettering. Do not force an unrelated symbol into every wordmark. The interview does not establish that negative space universally improves recognition or conversion.</a:t>
            </a:r>
          </a:p>
          <a:p xmlns:a="http://schemas.openxmlformats.org/drawingml/2006/main">
            <a:r>
              <a:t/>
            </a:r>
          </a:p>
          <a:p xmlns:a="http://schemas.openxmlformats.org/drawingml/2006/main">
            <a:r>
              <a:t>Lesson ID: iconic_fedex_negative_space</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https://thesneeze.com/the-man-behind-the-fedex-logo/</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IBM's current design guidance specifies different stripe weights and counter details for positive and reversed versions, alongside clear-space and application rules. These are concrete evidence of craft beyond drawing a recognizable set of initials. Study the principle, not the proprietary grid: mathematically equal shapes may need adjustment to appear balanced. Our practical extension is to review any new identity on both light and dark surfaces and at realistic sizes. A logo file alone is not a complete identity system. IBM's rules belong to IBM; their exact spacing and color prescriptions are not universal standards to impose on a different business.</a:t>
            </a:r>
          </a:p>
          <a:p xmlns:a="http://schemas.openxmlformats.org/drawingml/2006/main">
            <a:r>
              <a:t/>
            </a:r>
          </a:p>
          <a:p xmlns:a="http://schemas.openxmlformats.org/drawingml/2006/main">
            <a:r>
              <a:t>Lesson ID: iconic_ibm_system</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https://www.ibm.com/design/language/ibm-logos/8-bar/</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evaluation distinction and proposed study method, not a reported experimental finding. Nike's archive recounts the mark's development through products and public exposure; IBM explicitly stresses consistent visible use. Those accounts caution against judging a new mark against a familiar incumbent as if exposure were equal. For a small study, ask separately whether viewers have seen a mark before, can distinguish it from alternatives, and can connect it to the correct name after controlled exposure. Record mistakes instead of inventing a score. These checks can inform refinement; they do not predict future fame or prove commercial performance alone.</a:t>
            </a:r>
          </a:p>
          <a:p xmlns:a="http://schemas.openxmlformats.org/drawingml/2006/main">
            <a:r>
              <a:t/>
            </a:r>
          </a:p>
          <a:p xmlns:a="http://schemas.openxmlformats.org/drawingml/2006/main">
            <a:r>
              <a:t>Lesson ID: iconic_recognition_familiarity</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https://about.nike.com/en/magazine/nike-swoosh-logo-history</a:t>
            </a:r>
          </a:p>
          <a:p xmlns:a="http://schemas.openxmlformats.org/drawingml/2006/main">
            <a:r>
              <a:t>https://www.ibm.com/design/language/ibm-logos/8-bar/</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critique names a visible relationship and the context in which it matters. Start with the overall silhouette, then inspect the spaces inside letters, the gaps between them, curve transitions and relative visual weight. These are proposed teaching checks, not a transcript of Lucy Eden's complete method. Her services page treats the primary logo, secondary version, smaller mark, typography, color and supporting artwork as one identity. That supports evaluating a family of related assets instead of asking a single logo to do every job. An exercise is to compare an unchanged wordmark in a broad header and a small square, noting which details disappear. Record observations before proposing changes. Readability, recognition and commercial impact are different questions; a cleaner drawing alone does not prove increased sales.</a:t>
            </a:r>
          </a:p>
          <a:p xmlns:a="http://schemas.openxmlformats.org/drawingml/2006/main">
            <a:r>
              <a:t/>
            </a:r>
          </a:p>
          <a:p xmlns:a="http://schemas.openxmlformats.org/drawingml/2006/main">
            <a:r>
              <a:t>Lesson ID: brand-01</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https://www.edenbrands.us/services</a:t>
            </a:r>
          </a:p>
          <a:p xmlns:a="http://schemas.openxmlformats.org/drawingml/2006/main">
            <a:r>
              <a:t>https://www.tiktok.com/@lucyedendesign/video/7665353012268829965</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lead agent inspected Lucy Eden's public TikTok profile and sampled frames of the Bluey critique in the user's Chrome session on 8 September 2026. The player showed a runtime of one minute and twelve seconds. One editing frame showed vector anchors on the curved Y, a comparison outline and the on-screen word 'consistent.' This supports a narrow but valuable lesson: the work includes contour refinement within an existing letterform, rather than merely selecting a replacement font. It does not establish every change Lucy made, the full rationale or a measured improvement in recognition. Full audio and every before-and-after frame were not inspected. For practice, identify an inconsistent curve and compare one controlled adjustment while preserving the surrounding letters. This exercise is ours, not an attributed reconstruction of her complete process. The displayed screenshot is a later logo-context frame and does not display the anchors described above. It is not presented as the editing-frame evidence.</a:t>
            </a:r>
          </a:p>
          <a:p xmlns:a="http://schemas.openxmlformats.org/drawingml/2006/main">
            <a:r>
              <a:t/>
            </a:r>
          </a:p>
          <a:p xmlns:a="http://schemas.openxmlformats.org/drawingml/2006/main">
            <a:r>
              <a:t>Lesson ID: brand-02</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https://www.tiktok.com/@lucyedendesign/video/7669805166178209037</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Lucy Eden's own Michelle Elman case study describes a rebrand intended to express candid, empathetic, bold and wise traits. She explains the primary mark as custom signature-style lettering arranged to nest together, with a speech-bubble detail above the i. The educational point is the division of labor: the name remains one recognizable composition while a restrained detail and supporting illustrations communicate additional context. This is the designer's stated rationale, not independent proof of how audiences perceive the mark. Ask where the letters share a rhythm, which gaps feel deliberate and whether the small detail still works at reduced size. Do not infer that every personal brand needs handwriting or a speech bubble. The transferable decision is to connect a particular identity to a particular construction, then test its intended uses. Source text was available in the saved research. A fresh screenshot attempt for Splatter returned Page Not Found on 8 September 2026. The original logo assets are not reproduced on this slide. Recheck the current portfolio before relying on the link.</a:t>
            </a:r>
          </a:p>
          <a:p xmlns:a="http://schemas.openxmlformats.org/drawingml/2006/main">
            <a:r>
              <a:t/>
            </a:r>
          </a:p>
          <a:p xmlns:a="http://schemas.openxmlformats.org/drawingml/2006/main">
            <a:r>
              <a:t>Lesson ID: brand-03</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https://www.edenbrands.us/case-studies/michelle-elman</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Splatter case study links a paint-throwing experience to an identity intended to feel creative, liberating, edgy and fun. Lucy describes custom slanted and stacked letterforms and a condensed variation arranged as a symmetrical badge. She also describes painting on paper and scanning the results to make the pattern and icon material. That primary account establishes the maker's stated process; it does not make surface roughness a general test for human authorship. The lesson is to connect the behavior of the letters and supporting marks to the activity itself. Compare the expressive wordmark with its compact version: what remains identifiable when the arrangement changes? Originality can come from a specific process and a coherent set of choices, rather than from adding unrelated decorative effects to an otherwise conventional layout. Source text was available in the saved research. A fresh screenshot attempt for Splatter returned Page Not Found on 8 September 2026. The original logo assets are not reproduced on this slide. Recheck the current portfolio before relying on the link.</a:t>
            </a:r>
          </a:p>
          <a:p xmlns:a="http://schemas.openxmlformats.org/drawingml/2006/main">
            <a:r>
              <a:t/>
            </a:r>
          </a:p>
          <a:p xmlns:a="http://schemas.openxmlformats.org/drawingml/2006/main">
            <a:r>
              <a:t>Lesson ID: brand-04</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https://www.edenbrands.us/case-studies/splatter</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Marlowe &amp; Sage, Lucy's case study describes a childcare brand seeking a nurturing, warm, wise and encouraging presence. Her stated solution uses rounded serif lettering, with an ampersand woven into the wordmark. The smaller mark recombines initials through the same ampersand relationship, while simple shapes, leaves and light illustration support the wider identity. This is a useful counterexample to the blanket claim that serif typography must feel formal or dated. The actual construction and context matter. The practical exercise is to trace one distinctive relationship through the full wordmark and smaller mark, then ask what survives when detail is reduced. Do not copy the ampersand as a formula. Study the coherence between assets and evaluate the designer's intended warmth as a hypothesis rather than a measured audience response. Source text was available in the saved research. A fresh screenshot attempt for Splatter returned Page Not Found on 8 September 2026. The original logo assets are not reproduced on this slide. Recheck the current portfolio before relying on the link.</a:t>
            </a:r>
          </a:p>
          <a:p xmlns:a="http://schemas.openxmlformats.org/drawingml/2006/main">
            <a:r>
              <a:t/>
            </a:r>
          </a:p>
          <a:p xmlns:a="http://schemas.openxmlformats.org/drawingml/2006/main">
            <a:r>
              <a:t>Lesson ID: brand-05</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https://www.edenbrands.us/case-studies/marlowe-and-sage</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TBWA's own public post states that its global design studio DXD used drawing, painting, cutting and experimentation while developing the new identity. That is primary corroboration of the studio's stated hands-on process. It does not prove that audiences trust rough imagery more, nor that all irregular marks were individually handmade. The teaching distinction is between generating material and organizing its use. A coherent system can allow variation in edges, annotations or image treatment while retaining identifiable shapes, legible typography and a clear order of information. Those proposed system checks are our synthesis; they are not an extracted TBWA rulebook. When reviewing the example, ask which visual qualities recur across applications and which change. The news index dates the DXD rebrand item to 5 August 2026; do not invent a broader historical origin from that one launch.</a:t>
            </a:r>
          </a:p>
          <a:p xmlns:a="http://schemas.openxmlformats.org/drawingml/2006/main">
            <a:r>
              <a:t/>
            </a:r>
          </a:p>
          <a:p xmlns:a="http://schemas.openxmlformats.org/drawingml/2006/main">
            <a:r>
              <a:t>Lesson ID: brand-06</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https://www.linkedin.com/posts/tbwa_our-global-design-studio-dxd-have-taken-us-activity-7492923688888184832-YRdB</a:t>
            </a:r>
          </a:p>
          <a:p xmlns:a="http://schemas.openxmlformats.org/drawingml/2006/main">
            <a:r>
              <a:t>https://tbwa.com/news/</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Geist's Anthropic case study describes more than an illustrative style. Its account connects a human-centered mission with technical craft through a typographic logo containing a distinct slash, the Styrene and Tiempos families, warm color, illustration and photography. It also describes an extensive UI component system and modular CMS. This offers a concrete example of a brand language extending into interface and product contexts. The educational question is how expressive qualities survive when the design must organize articles, controls and repeated content. The source is the studio's account of its project, not a current audit of every Anthropic surface. Its statements about AI safety, fundraising and company success are outside the design evidence used here. Neither warmth nor illustration alone demonstrates trust; the documented strength is the coordinated scope of the identity and implementation.</a:t>
            </a:r>
          </a:p>
          <a:p xmlns:a="http://schemas.openxmlformats.org/drawingml/2006/main">
            <a:r>
              <a:t/>
            </a:r>
          </a:p>
          <a:p xmlns:a="http://schemas.openxmlformats.org/drawingml/2006/main">
            <a:r>
              <a:t>Lesson ID: brand-07</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https://geist.co/work/anthropic</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supplied a Signals transcript discussing deliberately hand-drawn design through TBWA/DXD, Who Gives A Crap, Oatly and Anthropic. The research record treats it as supplied text; this contributor did not independently watch or authenticate the complete clip. Its claims about AI perfection being ignored by the brain, form always preceding content, and trust increasing exponentially require evidence beyond portfolio examples. A McLuhan reference provides an interpretive perspective, not a controlled perception experiment. Oatly's own investor document dates its Nordic rebrand to 2013–14, so that example cannot establish that this entire approach originated in response to recent generative AI. The useful working hypothesis is that expressive material may help differentiate an appropriate identity. Evaluate coherence, reading and application separately, and preserve actual making records when provenance matters. No trust increase or Levarum direction is established by this research.</a:t>
            </a:r>
          </a:p>
          <a:p xmlns:a="http://schemas.openxmlformats.org/drawingml/2006/main">
            <a:r>
              <a:t/>
            </a:r>
          </a:p>
          <a:p xmlns:a="http://schemas.openxmlformats.org/drawingml/2006/main">
            <a:r>
              <a:t>Lesson ID: brand-08</a:t>
            </a:r>
          </a:p>
          <a:p xmlns:a="http://schemas.openxmlformats.org/drawingml/2006/main">
            <a:r>
              <a:t>Section: Logo craft</a:t>
            </a:r>
          </a:p>
          <a:p xmlns:a="http://schemas.openxmlformats.org/drawingml/2006/main">
            <a:r>
              <a:t/>
            </a:r>
          </a:p>
          <a:p xmlns:a="http://schemas.openxmlformats.org/drawingml/2006/main">
            <a:r>
              <a:t>Sources:</a:t>
            </a:r>
          </a:p>
          <a:p xmlns:a="http://schemas.openxmlformats.org/drawingml/2006/main">
            <a:r>
              <a:t>https://www.zachheffner.com/privacy-policy</a:t>
            </a:r>
          </a:p>
          <a:p xmlns:a="http://schemas.openxmlformats.org/drawingml/2006/main">
            <a:r>
              <a:t>https://www.linkedin.com/posts/tbwa_our-global-design-studio-dxd-have-taken-us-activity-7492923688888184832-YRdB</a:t>
            </a:r>
          </a:p>
          <a:p xmlns:a="http://schemas.openxmlformats.org/drawingml/2006/main">
            <a:r>
              <a:t>https://geist.co/work/anthropic</a:t>
            </a:r>
          </a:p>
          <a:p xmlns:a="http://schemas.openxmlformats.org/drawingml/2006/main">
            <a:r>
              <a:t>https://investors.oatly.com/static-files/530eaa69-0fb0-40e9-9aac-1147bb6eea14</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Geist’s historical case study describes the relationship between human values and technical craft. These primary project visuals show its published palette and typography. They are examples from the case study, not a specification for current Anthropic products. Audience trust and commercial effectiveness have not been measured by this study.</a:t>
            </a:r>
          </a:p>
          <a:p xmlns:a="http://schemas.openxmlformats.org/drawingml/2006/main">
            <a:r>
              <a:t/>
            </a:r>
          </a:p>
          <a:p xmlns:a="http://schemas.openxmlformats.org/drawingml/2006/main">
            <a:r>
              <a:t>Lesson ID: anthropic-foundations</a:t>
            </a:r>
          </a:p>
          <a:p xmlns:a="http://schemas.openxmlformats.org/drawingml/2006/main">
            <a:r>
              <a:t>Section: Brand systems</a:t>
            </a:r>
          </a:p>
          <a:p xmlns:a="http://schemas.openxmlformats.org/drawingml/2006/main">
            <a:r>
              <a:t/>
            </a:r>
          </a:p>
          <a:p xmlns:a="http://schemas.openxmlformats.org/drawingml/2006/main">
            <a:r>
              <a:t>Sources:</a:t>
            </a:r>
          </a:p>
          <a:p xmlns:a="http://schemas.openxmlformats.org/drawingml/2006/main">
            <a:r>
              <a:t>https://geist.co/work/anthropic</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Geist’s published Anthropic typography specimen. Its account names Commercial Type’s Styrene and Klim’s Tiempos. Our transferable question is how type families divide the work across an interface, article and campaign. The same font can feel different when its size, weight, line length or spacing changes. The specimen does not approve these fonts for Levarum.</a:t>
            </a:r>
          </a:p>
          <a:p xmlns:a="http://schemas.openxmlformats.org/drawingml/2006/main">
            <a:r>
              <a:t/>
            </a:r>
          </a:p>
          <a:p xmlns:a="http://schemas.openxmlformats.org/drawingml/2006/main">
            <a:r>
              <a:t>Lesson ID: anthropic-typography</a:t>
            </a:r>
          </a:p>
          <a:p xmlns:a="http://schemas.openxmlformats.org/drawingml/2006/main">
            <a:r>
              <a:t>Section: Brand systems</a:t>
            </a:r>
          </a:p>
          <a:p xmlns:a="http://schemas.openxmlformats.org/drawingml/2006/main">
            <a:r>
              <a:t/>
            </a:r>
          </a:p>
          <a:p xmlns:a="http://schemas.openxmlformats.org/drawingml/2006/main">
            <a:r>
              <a:t>Sources:</a:t>
            </a:r>
          </a:p>
          <a:p xmlns:a="http://schemas.openxmlformats.org/drawingml/2006/main">
            <a:r>
              <a:t>https://geist.co/work/anthropic</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image shows article tiles in Geist’s Anthropic case study. Treat it as a historical project application. Compare recurring typography and layout with the varied subject matter. A useful visual system tells future makers which elements are fixed and which can vary. It does not require every page to repeat an identical composition.</a:t>
            </a:r>
          </a:p>
          <a:p xmlns:a="http://schemas.openxmlformats.org/drawingml/2006/main">
            <a:r>
              <a:t/>
            </a:r>
          </a:p>
          <a:p xmlns:a="http://schemas.openxmlformats.org/drawingml/2006/main">
            <a:r>
              <a:t>Lesson ID: anthropic-application</a:t>
            </a:r>
          </a:p>
          <a:p xmlns:a="http://schemas.openxmlformats.org/drawingml/2006/main">
            <a:r>
              <a:t>Section: Brand systems</a:t>
            </a:r>
          </a:p>
          <a:p xmlns:a="http://schemas.openxmlformats.org/drawingml/2006/main">
            <a:r>
              <a:t/>
            </a:r>
          </a:p>
          <a:p xmlns:a="http://schemas.openxmlformats.org/drawingml/2006/main">
            <a:r>
              <a:t>Sources:</a:t>
            </a:r>
          </a:p>
          <a:p xmlns:a="http://schemas.openxmlformats.org/drawingml/2006/main">
            <a:r>
              <a:t>https://geist.co/work/anthropic</a:t>
            </a:r>
          </a:p>
          <a:p xmlns:a="http://schemas.openxmlformats.org/drawingml/2006/main">
            <a:r>
              <a:t/>
            </a:r>
          </a:p>
          <a:p xmlns:a="http://schemas.openxmlformats.org/drawingml/2006/main">
            <a:r>
              <a:t>Study date: 8 September 2026.</a:t>
            </a:r>
          </a:p>
          <a:p xmlns:a="http://schemas.openxmlformats.org/drawingml/2006/main">
            <a:r>
              <a:t>Visual: Source visual from the credited case study or captured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Lesson ID: web-cover</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supplied AGNI screenshot, a heavy heading, large quiet field and compact pink information block divide the composition into distinct roles. That is an observation, not proof of an ideal reading order. Palmer's discussion of grouping describes proximity, common region, connectedness and synchrony: spacing is only one way to make things belong together. Our design interpretation is to try relative distance before adding another enclosing box. For a teaching comparison, keep the content, font, colors and outer width constant; change only the title-to-description gap. Ask what seems connected and what attracts attention first. There is no universal correct gap. Repeat at a narrower width because the surrounding relationships change. Treat the participant's answer as an observation, not a validated usability score. The editable teaching diagram on this slide is an original explanation, not a source screenshot or an implementation test. Original slide teaching points: Establish a first, second and third point of attention. Keep related captions and objects visibly close. Use boundaries and connecting lines only when their relationship is meaningful.</a:t>
            </a:r>
          </a:p>
          <a:p xmlns:a="http://schemas.openxmlformats.org/drawingml/2006/main">
            <a:r>
              <a:t/>
            </a:r>
          </a:p>
          <a:p xmlns:a="http://schemas.openxmlformats.org/drawingml/2006/main">
            <a:r>
              <a:t>Lesson ID: ux-hierarchy-spacing</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https://palmerlab.berkeley.edu/pdf/Palmer.pdf</a:t>
            </a:r>
          </a:p>
          <a:p xmlns:a="http://schemas.openxmlformats.org/drawingml/2006/main">
            <a:r>
              <a:t>https://www.cooperhewitt.org/exhibitions/how-posters-work/</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palette swatch cannot describe every part of a textured or changing background. W3C's Contrast Minimum explanation provides the stated thresholds and exceptions; qualifying large text is at least 18 point, or 14 point bold. The source also warns that thin or unusual fonts may look faint despite a nominal passing ratio. Do not award a contrast pass by looking at this slide. For the learning exercise, hold text, its color, layout and base gradient fixed while increasing the opacity of one deterministic grain layer. Ask when the field draws attention away from the words. That answer describes the viewer's experience, not everyone else's readability. A controlled solid region behind important text is one possible design response; it need not remove texture from the rest of the composition. The editable teaching diagram on this slide is an original explanation, not a source screenshot or an implementation test. Original slide teaching points: Check contrast where the letters actually sit. WCAG AA: 4.5:1 for ordinary text; 3:1 for qualifying large text, with exceptions. Texture and moving color can change the background beneath text.</a:t>
            </a:r>
          </a:p>
          <a:p xmlns:a="http://schemas.openxmlformats.org/drawingml/2006/main">
            <a:r>
              <a:t/>
            </a:r>
          </a:p>
          <a:p xmlns:a="http://schemas.openxmlformats.org/drawingml/2006/main">
            <a:r>
              <a:t>Lesson ID: ux-color-contrast</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https://www.w3.org/WAI/WCAG22/Understanding/contrast-minimum.html</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Motion can reveal a sequence, but synchronized movement can also suggest that unrelated elements form a system. Ask what the movement communicates beyond atmosphere. W3C's Animation from Interactions criterion is Level AAA and concerns disabling nonessential interaction-triggered motion. The separate Level A Pause, Stop, Hide criterion addresses qualifying automatically moving, blinking or scrolling information that lasts more than five seconds alongside other content, unless essential. Do not present these as one interchangeable rule. A proposed later experiment compares the same decorative form at rest and translating, without also changing its size, color or rotation. Supply user-activated play and pause; default to still when reduced motion is preferred. This motion experiment is not implemented in the first study book, and no audience or accessibility test is claimed here. The editable teaching diagram on this slide is an original explanation, not a source screenshot or an implementation test. Original slide teaching points: Use movement to explain change or acknowledge an action. Keep the meaning available in a still state. Reduced-motion support and a pause control address different needs.</a:t>
            </a:r>
          </a:p>
          <a:p xmlns:a="http://schemas.openxmlformats.org/drawingml/2006/main">
            <a:r>
              <a:t/>
            </a:r>
          </a:p>
          <a:p xmlns:a="http://schemas.openxmlformats.org/drawingml/2006/main">
            <a:r>
              <a:t>Lesson ID: ux-motion</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https://www.w3.org/WAI/WCAG22/Understanding/animation-from-interactions.html</a:t>
            </a:r>
          </a:p>
          <a:p xmlns:a="http://schemas.openxmlformats.org/drawingml/2006/main">
            <a:r>
              <a:t>https://www.w3.org/WAI/WCAG22/Understanding/pause-stop-hide.html</a:t>
            </a:r>
          </a:p>
          <a:p xmlns:a="http://schemas.openxmlformats.org/drawingml/2006/main">
            <a:r>
              <a:t>https://palmerlab.berkeley.edu/pdf/Palmer.pdf</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poster fixes its surface; a website accommodates different widths, text lengths and zoom. The aim is to preserve the design's roles, not every coordinate. A headline can wrap differently, an atmospheric object can become a peripheral detail, and a multi-column arrangement can become a sequence. W3C's Reflow explanation requires content at the specified equivalent width to retain information and functionality without two-dimensional scrolling, with exceptions for content that needs two-dimensional layout. This is not a claim that every stacked layout is good. Inspect whether captions still belong to their images and whether the action remains easy to find. Use actual editable text in the eventual implementation. These diagrams explain a proposed method; they do not establish that a specific site passes mobile, zoom or reflow checks. The editable teaching diagram on this slide is an original explanation, not a source screenshot or an implementation test. Original slide teaching points: Preserve hierarchy and relationships while changing the arrangement. Let meaningful text reflow rather than baking it into an image. WCAG AA Reflow includes 320 CSS-pixel width for ordinary vertical content, with exceptions.</a:t>
            </a:r>
          </a:p>
          <a:p xmlns:a="http://schemas.openxmlformats.org/drawingml/2006/main">
            <a:r>
              <a:t/>
            </a:r>
          </a:p>
          <a:p xmlns:a="http://schemas.openxmlformats.org/drawingml/2006/main">
            <a:r>
              <a:t>Lesson ID: ux-mobile-reflow</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https://www.w3.org/WAI/WCAG22/Understanding/reflow.html</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gloss research by Storrs, Anderson and Fleming studies how reflectance, lighting and geometry interact in material perception. It does not establish that a glossy object improves trust or conversion. For an authored visual, define the message and desired material cue first, then choose how to render it. A static asset can preserve complex lighting; a live effect can respond to interaction. Neither is automatically faster in every context. Google's browser guidance recommends transform and opacity where appropriate and warns against overusing will-change. That advice does not guarantee a large animated blurred layer will be inexpensive. Compare actual asset sizes, a performance trace and the experience on intended devices. Record the implementation and conditions with the result. No such website performance measurement is reported by this teaching slide.</a:t>
            </a:r>
          </a:p>
          <a:p xmlns:a="http://schemas.openxmlformats.org/drawingml/2006/main">
            <a:r>
              <a:t/>
            </a:r>
          </a:p>
          <a:p xmlns:a="http://schemas.openxmlformats.org/drawingml/2006/main">
            <a:r>
              <a:t>Lesson ID: ux-performance-assets</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https://www.nature.com/articles/s41562-021-01097-6</a:t>
            </a:r>
          </a:p>
          <a:p xmlns:a="http://schemas.openxmlformats.org/drawingml/2006/main">
            <a:r>
              <a:t>https://web.dev/articles/animations-and-performance</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 concrete observation: the heading occupies most of the opening, or a textured field sits behind a small caption. Then state an interpretation as a hypothesis, such as the texture competing with the caption. Choose a focused comparison: change the texture strength while retaining text, layout and the grain pattern. Ask the viewer to describe the difference and record the conditions. This is our repeatable teaching method, not a scientifically validated scoring rubric. The material selector in the first book compares bundled treatments, so it cannot isolate the contribution of each lighting, opacity or grain change. Museum accounts explain making decisions; perception research informs hypotheses; W3C supplies applicable requirements. None substitutes for a real implementation check or audience evidence. Finish with a specific revision and an honest unresolved question.</a:t>
            </a:r>
          </a:p>
          <a:p xmlns:a="http://schemas.openxmlformats.org/drawingml/2006/main">
            <a:r>
              <a:t/>
            </a:r>
          </a:p>
          <a:p xmlns:a="http://schemas.openxmlformats.org/drawingml/2006/main">
            <a:r>
              <a:t>Lesson ID: ux-repeatable-critique</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https://www.cooperhewitt.org/2014/12/05/making-a-poster-is-a-process/</a:t>
            </a:r>
          </a:p>
          <a:p xmlns:a="http://schemas.openxmlformats.org/drawingml/2006/main">
            <a:r>
              <a:t>https://palmerlab.berkeley.edu/pdf/Palmer.pdf</a:t>
            </a:r>
          </a:p>
          <a:p xmlns:a="http://schemas.openxmlformats.org/drawingml/2006/main">
            <a:r>
              <a:t>https://www.w3.org/WAI/WCAG22/Understanding/contrast-minimum.html</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future implementation checklist, not a feature audit. The current lesson does not verify native support for a particular effect, plan, font or integration. Before a build batch, identify whether the feature is native, an account dependency, an extension, custom code or an external service. Purchases, provider commitments, DNS, sharing and publication remain subject to specific approval. Keep a known-good version and undo route. No website implementation occurs during creation of this presentation.</a:t>
            </a:r>
          </a:p>
          <a:p xmlns:a="http://schemas.openxmlformats.org/drawingml/2006/main">
            <a:r>
              <a:t/>
            </a:r>
          </a:p>
          <a:p xmlns:a="http://schemas.openxmlformats.org/drawingml/2006/main">
            <a:r>
              <a:t>Lesson ID: native-toolkit</a:t>
            </a:r>
          </a:p>
          <a:p xmlns:a="http://schemas.openxmlformats.org/drawingml/2006/main">
            <a:r>
              <a:t>Section: Design in use</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Lesson ID: workshop-cover</a:t>
            </a:r>
          </a:p>
          <a:p xmlns:a="http://schemas.openxmlformats.org/drawingml/2006/main">
            <a:r>
              <a:t>Section: Workshop</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study book implements these three exercises. The material selector changes several coordinated cues, so it is not a single-variable causal test. Spacing and grain exercises change a more focused variable. Record what the viewer notices without converting preference into an accessibility or conversion score. Motion remains a proposed later exercise. Download the HTML from the saved library and open it in a browser for interactive use.</a:t>
            </a:r>
          </a:p>
          <a:p xmlns:a="http://schemas.openxmlformats.org/drawingml/2006/main">
            <a:r>
              <a:t/>
            </a:r>
          </a:p>
          <a:p xmlns:a="http://schemas.openxmlformats.org/drawingml/2006/main">
            <a:r>
              <a:t>Lesson ID: exercise-material</a:t>
            </a:r>
          </a:p>
          <a:p xmlns:a="http://schemas.openxmlformats.org/drawingml/2006/main">
            <a:r>
              <a:t>Section: Workshop</a:t>
            </a:r>
          </a:p>
          <a:p xmlns:a="http://schemas.openxmlformats.org/drawingml/2006/main">
            <a:r>
              <a:t/>
            </a:r>
          </a:p>
          <a:p xmlns:a="http://schemas.openxmlformats.org/drawingml/2006/main">
            <a:r>
              <a:t>Sources:</a:t>
            </a:r>
          </a:p>
          <a:p xmlns:a="http://schemas.openxmlformats.org/drawingml/2006/main">
            <a:r>
              <a:t>https://drive.google.com/file/d/1-Xuq7o32ZkGV8pxPG61T45pqlr-okEV3/view</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Duplicate this slide when adding a reference. Replace the prompts with source-specific content. Add full image attribution, the date accessed and any restrictions or failed retrievals to the notes. Separate the original artist from a curator or repost account. A reference can be inspiring while its provenance remains incomplete. Keep approved project decisions elsewhere so inclusion in this library is never mistaken for approval.</a:t>
            </a:r>
          </a:p>
          <a:p xmlns:a="http://schemas.openxmlformats.org/drawingml/2006/main">
            <a:r>
              <a:t/>
            </a:r>
          </a:p>
          <a:p xmlns:a="http://schemas.openxmlformats.org/drawingml/2006/main">
            <a:r>
              <a:t>Lesson ID: reference-template</a:t>
            </a:r>
          </a:p>
          <a:p xmlns:a="http://schemas.openxmlformats.org/drawingml/2006/main">
            <a:r>
              <a:t>Section: Workshop</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Duplicate this page when a design decision is actually made. Identify what the user approved and the evidence behind it. Record proposed tests separately from completed tests. Retain rejected alternatives only when they explain a useful tradeoff. For Levarum, link the corresponding Sheet decision and session entry. This template contains no pending request for immediate art direction.</a:t>
            </a:r>
          </a:p>
          <a:p xmlns:a="http://schemas.openxmlformats.org/drawingml/2006/main">
            <a:r>
              <a:t/>
            </a:r>
          </a:p>
          <a:p xmlns:a="http://schemas.openxmlformats.org/drawingml/2006/main">
            <a:r>
              <a:t>Lesson ID: decision-template</a:t>
            </a:r>
          </a:p>
          <a:p xmlns:a="http://schemas.openxmlformats.org/drawingml/2006/main">
            <a:r>
              <a:t>Section: Workshop</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deeper study before a logo or website direction. These open questions preserve that sequence. The earlier palette, logo and style proposals do not become approved because they appear in the research history. A future concept comparison should use the same content and requirements, then inspect mobile, accessibility and performance. Keep private Levarum decisions separate from reusable methods.</a:t>
            </a:r>
          </a:p>
          <a:p xmlns:a="http://schemas.openxmlformats.org/drawingml/2006/main">
            <a:r>
              <a:t/>
            </a:r>
          </a:p>
          <a:p xmlns:a="http://schemas.openxmlformats.org/drawingml/2006/main">
            <a:r>
              <a:t>Lesson ID: levarum</a:t>
            </a:r>
          </a:p>
          <a:p xmlns:a="http://schemas.openxmlformats.org/drawingml/2006/main">
            <a:r>
              <a:t>Section: Workshop</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maintenance method: add new references beside the relevant subject, update the index and source list, and append a dated entry explaining what changed and why. Recheck a source when its freshness matters to a decision. Saved knowledge supports later retrieval and discussion. It does not retrain the underlying model or guarantee automatic recall. The deck should be linked from the project’s working Sheet and remain private unless the owner approves otherwise.</a:t>
            </a:r>
          </a:p>
          <a:p xmlns:a="http://schemas.openxmlformats.org/drawingml/2006/main">
            <a:r>
              <a:t/>
            </a:r>
          </a:p>
          <a:p xmlns:a="http://schemas.openxmlformats.org/drawingml/2006/main">
            <a:r>
              <a:t>Lesson ID: maintenance</a:t>
            </a:r>
          </a:p>
          <a:p xmlns:a="http://schemas.openxmlformats.org/drawingml/2006/main">
            <a:r>
              <a:t>Section: Living library</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agents used the same underlying model with distinct research briefs. OpenAI describes development data as including public internet information, partnerships and information supplied or generated by users, trainers and researchers. We do not have an itemized training bibliography, and cannot claim that a particular book or designer appeared in training. The notes identify the sources actually retrieved in this project. This gives us a durable basis for future review without implying model-weight retraining.</a:t>
            </a:r>
          </a:p>
          <a:p xmlns:a="http://schemas.openxmlformats.org/drawingml/2006/main">
            <a:r>
              <a:t/>
            </a:r>
          </a:p>
          <a:p xmlns:a="http://schemas.openxmlformats.org/drawingml/2006/main">
            <a:r>
              <a:t>Lesson ID: agents</a:t>
            </a:r>
          </a:p>
          <a:p xmlns:a="http://schemas.openxmlformats.org/drawingml/2006/main">
            <a:r>
              <a:t>Section: Living library</a:t>
            </a:r>
          </a:p>
          <a:p xmlns:a="http://schemas.openxmlformats.org/drawingml/2006/main">
            <a:r>
              <a:t/>
            </a:r>
          </a:p>
          <a:p xmlns:a="http://schemas.openxmlformats.org/drawingml/2006/main">
            <a:r>
              <a:t>Sources:</a:t>
            </a:r>
          </a:p>
          <a:p xmlns:a="http://schemas.openxmlformats.org/drawingml/2006/main">
            <a:r>
              <a:t>https://openai.com/policies/how-chatgpt-and-our-foundation-models-are-developed/</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edition consolidates six saved research chapters, original reference screenshots, agent teaching notes and source-specific observations. The Signals argument comes from the user’s supplied transcript. TBWA and Geist corroborate selected process claims, while broader brain and trust assertions remain unverified. Future entries should record a date, change, source and affected slide. The primary source library remains linked below.</a:t>
            </a:r>
          </a:p>
          <a:p xmlns:a="http://schemas.openxmlformats.org/drawingml/2006/main">
            <a:r>
              <a:t/>
            </a:r>
          </a:p>
          <a:p xmlns:a="http://schemas.openxmlformats.org/drawingml/2006/main">
            <a:r>
              <a:t>Lesson ID: log</a:t>
            </a:r>
          </a:p>
          <a:p xmlns:a="http://schemas.openxmlformats.org/drawingml/2006/main">
            <a:r>
              <a:t>Section: Living library</a:t>
            </a:r>
          </a:p>
          <a:p xmlns:a="http://schemas.openxmlformats.org/drawingml/2006/main">
            <a:r>
              <a:t/>
            </a:r>
          </a:p>
          <a:p xmlns:a="http://schemas.openxmlformats.org/drawingml/2006/main">
            <a:r>
              <a:t>Sources:</a:t>
            </a:r>
          </a:p>
          <a:p xmlns:a="http://schemas.openxmlformats.org/drawingml/2006/main">
            <a:r>
              <a:t>https://drive.google.com/drive/folders/1CtjBy4KKutNKf97jToAocSG5_M6aGJVq</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sources-1</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https://www.tiktok.com/@denny.kurien/video/7680157545746418964</a:t>
            </a:r>
          </a:p>
          <a:p xmlns:a="http://schemas.openxmlformats.org/drawingml/2006/main">
            <a:r>
              <a:t>https://www.pagemasters.co/risograph</a:t>
            </a:r>
          </a:p>
          <a:p xmlns:a="http://schemas.openxmlformats.org/drawingml/2006/main">
            <a:r>
              <a:t>https://risottostudio.com/pages/advanced-print-setup</a:t>
            </a:r>
          </a:p>
          <a:p xmlns:a="http://schemas.openxmlformats.org/drawingml/2006/main">
            <a:r>
              <a:t>https://www.riso.co.jp/english/product/digital_dup/history/index.html</a:t>
            </a:r>
          </a:p>
          <a:p xmlns:a="http://schemas.openxmlformats.org/drawingml/2006/main">
            <a:r>
              <a:t>https://www.behance.net/gallery/127686975/Simplicity-21</a:t>
            </a:r>
          </a:p>
          <a:p xmlns:a="http://schemas.openxmlformats.org/drawingml/2006/main">
            <a:r>
              <a:t>https://microsoft.design/articles/an-emoji-for-your-thoughts-2/</a:t>
            </a:r>
          </a:p>
          <a:p xmlns:a="http://schemas.openxmlformats.org/drawingml/2006/main">
            <a:r>
              <a:t>https://agencecartier.com/en/projects/farinart-a-new-identity-crops-up/</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sources-2</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https://www.pentagram.com/work/intrinsic</a:t>
            </a:r>
          </a:p>
          <a:p xmlns:a="http://schemas.openxmlformats.org/drawingml/2006/main">
            <a:r>
              <a:t>https://cari.institute/aesthetics/austurbane</a:t>
            </a:r>
          </a:p>
          <a:p xmlns:a="http://schemas.openxmlformats.org/drawingml/2006/main">
            <a:r>
              <a:t>https://cari.institute/aesthetics/nu-brutalism</a:t>
            </a:r>
          </a:p>
          <a:p xmlns:a="http://schemas.openxmlformats.org/drawingml/2006/main">
            <a:r>
              <a:t>https://www.riba.org/explore/riba-collections/architectural-styles/brutalism-movement/</a:t>
            </a:r>
          </a:p>
          <a:p xmlns:a="http://schemas.openxmlformats.org/drawingml/2006/main">
            <a:r>
              <a:t>https://www.pentagram.com/work/american-weed-co</a:t>
            </a:r>
          </a:p>
          <a:p xmlns:a="http://schemas.openxmlformats.org/drawingml/2006/main">
            <a:r>
              <a:t>https://unesco.ru/en/news/gjel37/</a:t>
            </a:r>
          </a:p>
          <a:p xmlns:a="http://schemas.openxmlformats.org/drawingml/2006/main">
            <a:r>
              <a:t>https://farfor-gzhel.com/en/the-award-at-home-in-the-nomination-design-and-craft/</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sources-3</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https://www.demorgan.org.uk/de-morgan-x-loewe-autumn-winter-2019/</a:t>
            </a:r>
          </a:p>
          <a:p xmlns:a="http://schemas.openxmlformats.org/drawingml/2006/main">
            <a:r>
              <a:t>https://www.3m.com/3M/en_US/p/d/v000096543/</a:t>
            </a:r>
          </a:p>
          <a:p xmlns:a="http://schemas.openxmlformats.org/drawingml/2006/main">
            <a:r>
              <a:t>https://www.colorado.edu/anthropology/sites/default/files/attached-files/5leshkowichjonesft.pdf</a:t>
            </a:r>
          </a:p>
          <a:p xmlns:a="http://schemas.openxmlformats.org/drawingml/2006/main">
            <a:r>
              <a:t>https://www.vam.ac.uk/articles/chinoiserie-an-introduction</a:t>
            </a:r>
          </a:p>
          <a:p xmlns:a="http://schemas.openxmlformats.org/drawingml/2006/main">
            <a:r>
              <a:t>https://play.studio/work/adobe-max</a:t>
            </a:r>
          </a:p>
          <a:p xmlns:a="http://schemas.openxmlformats.org/drawingml/2006/main">
            <a:r>
              <a:t>https://about.nike.com/en/magazine/nike-swoosh-logo-history</a:t>
            </a:r>
          </a:p>
          <a:p xmlns:a="http://schemas.openxmlformats.org/drawingml/2006/main">
            <a:r>
              <a:t>https://thesneeze.com/the-man-behind-the-fedex-logo/</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sources-4</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https://www.ibm.com/design/language/ibm-logos/8-bar/</a:t>
            </a:r>
          </a:p>
          <a:p xmlns:a="http://schemas.openxmlformats.org/drawingml/2006/main">
            <a:r>
              <a:t>https://www.edenbrands.us/services</a:t>
            </a:r>
          </a:p>
          <a:p xmlns:a="http://schemas.openxmlformats.org/drawingml/2006/main">
            <a:r>
              <a:t>https://www.tiktok.com/@lucyedendesign/video/7665353012268829965</a:t>
            </a:r>
          </a:p>
          <a:p xmlns:a="http://schemas.openxmlformats.org/drawingml/2006/main">
            <a:r>
              <a:t>https://www.tiktok.com/@lucyedendesign/video/7669805166178209037</a:t>
            </a:r>
          </a:p>
          <a:p xmlns:a="http://schemas.openxmlformats.org/drawingml/2006/main">
            <a:r>
              <a:t>https://www.edenbrands.us/case-studies/michelle-elman</a:t>
            </a:r>
          </a:p>
          <a:p xmlns:a="http://schemas.openxmlformats.org/drawingml/2006/main">
            <a:r>
              <a:t>https://www.edenbrands.us/case-studies/splatter</a:t>
            </a:r>
          </a:p>
          <a:p xmlns:a="http://schemas.openxmlformats.org/drawingml/2006/main">
            <a:r>
              <a:t>https://www.edenbrands.us/case-studies/marlowe-and-sage</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sources-5</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https://www.linkedin.com/posts/tbwa_our-global-design-studio-dxd-have-taken-us-activity-7492923688888184832-YRdB</a:t>
            </a:r>
          </a:p>
          <a:p xmlns:a="http://schemas.openxmlformats.org/drawingml/2006/main">
            <a:r>
              <a:t>https://tbwa.com/news/</a:t>
            </a:r>
          </a:p>
          <a:p xmlns:a="http://schemas.openxmlformats.org/drawingml/2006/main">
            <a:r>
              <a:t>https://geist.co/work/anthropic</a:t>
            </a:r>
          </a:p>
          <a:p xmlns:a="http://schemas.openxmlformats.org/drawingml/2006/main">
            <a:r>
              <a:t>https://www.zachheffner.com/privacy-policy</a:t>
            </a:r>
          </a:p>
          <a:p xmlns:a="http://schemas.openxmlformats.org/drawingml/2006/main">
            <a:r>
              <a:t>https://investors.oatly.com/static-files/530eaa69-0fb0-40e9-9aac-1147bb6eea14</a:t>
            </a:r>
          </a:p>
          <a:p xmlns:a="http://schemas.openxmlformats.org/drawingml/2006/main">
            <a:r>
              <a:t>https://palmerlab.berkeley.edu/pdf/Palmer.pdf</a:t>
            </a:r>
          </a:p>
          <a:p xmlns:a="http://schemas.openxmlformats.org/drawingml/2006/main">
            <a:r>
              <a:t>https://www.cooperhewitt.org/exhibitions/how-posters-work/</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sources-6</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https://www.w3.org/WAI/WCAG22/Understanding/contrast-minimum.html</a:t>
            </a:r>
          </a:p>
          <a:p xmlns:a="http://schemas.openxmlformats.org/drawingml/2006/main">
            <a:r>
              <a:t>https://www.w3.org/WAI/WCAG22/Understanding/animation-from-interactions.html</a:t>
            </a:r>
          </a:p>
          <a:p xmlns:a="http://schemas.openxmlformats.org/drawingml/2006/main">
            <a:r>
              <a:t>https://www.w3.org/WAI/WCAG22/Understanding/pause-stop-hide.html</a:t>
            </a:r>
          </a:p>
          <a:p xmlns:a="http://schemas.openxmlformats.org/drawingml/2006/main">
            <a:r>
              <a:t>https://www.w3.org/WAI/WCAG22/Understanding/reflow.html</a:t>
            </a:r>
          </a:p>
          <a:p xmlns:a="http://schemas.openxmlformats.org/drawingml/2006/main">
            <a:r>
              <a:t>https://www.nature.com/articles/s41562-021-01097-6</a:t>
            </a:r>
          </a:p>
          <a:p xmlns:a="http://schemas.openxmlformats.org/drawingml/2006/main">
            <a:r>
              <a:t>https://web.dev/articles/animations-and-performance</a:t>
            </a:r>
          </a:p>
          <a:p xmlns:a="http://schemas.openxmlformats.org/drawingml/2006/main">
            <a:r>
              <a:t>https://www.cooperhewitt.org/2014/12/05/making-a-poster-is-a-process/</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are linked on the teaching slides as well as in this directory. Access dates and qualification details appear in the corresponding speaker notes. Original artworks remain the property of their creators. Inclusion supports private study and does not provide a reuse license.</a:t>
            </a:r>
          </a:p>
          <a:p xmlns:a="http://schemas.openxmlformats.org/drawingml/2006/main">
            <a:r>
              <a:t/>
            </a:r>
          </a:p>
          <a:p xmlns:a="http://schemas.openxmlformats.org/drawingml/2006/main">
            <a:r>
              <a:t>Lesson ID: sources-7</a:t>
            </a:r>
          </a:p>
          <a:p xmlns:a="http://schemas.openxmlformats.org/drawingml/2006/main">
            <a:r>
              <a:t>Section: Source directory</a:t>
            </a:r>
          </a:p>
          <a:p xmlns:a="http://schemas.openxmlformats.org/drawingml/2006/main">
            <a:r>
              <a:t/>
            </a:r>
          </a:p>
          <a:p xmlns:a="http://schemas.openxmlformats.org/drawingml/2006/main">
            <a:r>
              <a:t>Sources:</a:t>
            </a:r>
          </a:p>
          <a:p xmlns:a="http://schemas.openxmlformats.org/drawingml/2006/main">
            <a:r>
              <a:t>https://drive.google.com/file/d/1-Xuq7o32ZkGV8pxPG61T45pqlr-okEV3/view</a:t>
            </a:r>
          </a:p>
          <a:p xmlns:a="http://schemas.openxmlformats.org/drawingml/2006/main">
            <a:r>
              <a:t>https://openai.com/policies/how-chatgpt-and-our-foundation-models-are-developed/</a:t>
            </a:r>
          </a:p>
          <a:p xmlns:a="http://schemas.openxmlformats.org/drawingml/2006/main">
            <a:r>
              <a:t>https://drive.google.com/drive/folders/1CtjBy4KKutNKf97jToAocSG5_M6aGJVq</a:t>
            </a:r>
          </a:p>
          <a:p xmlns:a="http://schemas.openxmlformats.org/drawingml/2006/main">
            <a:r>
              <a:t/>
            </a:r>
          </a:p>
          <a:p xmlns:a="http://schemas.openxmlformats.org/drawingml/2006/main">
            <a:r>
              <a:t>Study date: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128ce515a641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f198fb205442ef" /><Relationship Type="http://schemas.openxmlformats.org/officeDocument/2006/relationships/slideLayout" Target="/ppt/slideLayouts/slideLayout1.xml" Id="R10694a9a7b7f42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694a9a7b7f42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8b38aef1794e4c" /><Relationship Type="http://schemas.openxmlformats.org/officeDocument/2006/relationships/notesSlide" Target="/ppt/notesSlides/notesSlide1.xml" Id="Rbb1c0abf78d948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12353a120e4f20" /><Relationship Type="http://schemas.openxmlformats.org/officeDocument/2006/relationships/notesSlide" Target="/ppt/notesSlides/notesSlide2.xml" Id="R61dc265ebfa847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250473abd54037" /><Relationship Type="http://schemas.openxmlformats.org/officeDocument/2006/relationships/notesSlide" Target="/ppt/notesSlides/notesSlide3.xml" Id="Reb27ba2b788d4e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8ca17ebd9546ec" /><Relationship Type="http://schemas.openxmlformats.org/officeDocument/2006/relationships/notesSlide" Target="/ppt/notesSlides/notesSlide4.xml" Id="Rbf6fa0519db148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8c3b5f3fa54d76" /><Relationship Type="http://schemas.openxmlformats.org/officeDocument/2006/relationships/notesSlide" Target="/ppt/notesSlides/notesSlide5.xml" Id="R79a06af8a50346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6ae4be7a884923" /><Relationship Type="http://schemas.openxmlformats.org/officeDocument/2006/relationships/image" Target="/ppt/media/image.jpeg" Id="R52461b63d34d453b" /><Relationship Type="http://schemas.openxmlformats.org/officeDocument/2006/relationships/hyperlink" Target="https://www.tiktok.com/@denny.kurien/video/7680157545746418964" TargetMode="External" Id="R211c2e301e3349ff" /><Relationship Type="http://schemas.openxmlformats.org/officeDocument/2006/relationships/notesSlide" Target="/ppt/notesSlides/notesSlide6.xml" Id="Rd67c8b027e5a42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0f848c27864573" /><Relationship Type="http://schemas.openxmlformats.org/officeDocument/2006/relationships/image" Target="/ppt/media/image2.jpeg" Id="Rbbb914843afd44eb" /><Relationship Type="http://schemas.openxmlformats.org/officeDocument/2006/relationships/hyperlink" Target="https://www.pagemasters.co/risograph" TargetMode="External" Id="R757cb46ed5fe4b9b" /><Relationship Type="http://schemas.openxmlformats.org/officeDocument/2006/relationships/hyperlink" Target="https://risottostudio.com/pages/advanced-print-setup" TargetMode="External" Id="R16e4596e6d6b445c" /><Relationship Type="http://schemas.openxmlformats.org/officeDocument/2006/relationships/notesSlide" Target="/ppt/notesSlides/notesSlide7.xml" Id="Rfe1178acffb043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d9cd7c97b84b37" /><Relationship Type="http://schemas.openxmlformats.org/officeDocument/2006/relationships/image" Target="/ppt/media/image3.jpeg" Id="R801bcbd1939b4e74" /><Relationship Type="http://schemas.openxmlformats.org/officeDocument/2006/relationships/hyperlink" Target="https://www.behance.net/gallery/127686975/Simplicity-21" TargetMode="External" Id="Rd590136ceb214b7e" /><Relationship Type="http://schemas.openxmlformats.org/officeDocument/2006/relationships/hyperlink" Target="https://microsoft.design/articles/an-emoji-for-your-thoughts-2/" TargetMode="External" Id="Rb271244468104980" /><Relationship Type="http://schemas.openxmlformats.org/officeDocument/2006/relationships/notesSlide" Target="/ppt/notesSlides/notesSlide8.xml" Id="R327e9551bea440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d26b2489964379" /><Relationship Type="http://schemas.openxmlformats.org/officeDocument/2006/relationships/image" Target="/ppt/media/image4.jpeg" Id="R603207b9d91f4fde" /><Relationship Type="http://schemas.openxmlformats.org/officeDocument/2006/relationships/hyperlink" Target="https://agencecartier.com/en/projects/farinart-a-new-identity-crops-up/" TargetMode="External" Id="Ra7e783e91fe94265" /><Relationship Type="http://schemas.openxmlformats.org/officeDocument/2006/relationships/notesSlide" Target="/ppt/notesSlides/notesSlide9.xml" Id="R41a93949791648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eeae8e9206e4916" /><Relationship Type="http://schemas.openxmlformats.org/officeDocument/2006/relationships/image" Target="/ppt/media/image5.jpeg" Id="Rf18208a1f04048c0" /><Relationship Type="http://schemas.openxmlformats.org/officeDocument/2006/relationships/hyperlink" Target="https://www.pentagram.com/work/intrinsic" TargetMode="External" Id="Ra96a3ff24a864b95" /><Relationship Type="http://schemas.openxmlformats.org/officeDocument/2006/relationships/notesSlide" Target="/ppt/notesSlides/notesSlide10.xml" Id="R6216d78d5f0b49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930e86b53594121" /><Relationship Type="http://schemas.openxmlformats.org/officeDocument/2006/relationships/image" Target="/ppt/media/image6.jpeg" Id="R73c14c24fe3748be" /><Relationship Type="http://schemas.openxmlformats.org/officeDocument/2006/relationships/hyperlink" Target="https://cari.institute/aesthetics/austurbane" TargetMode="External" Id="Rb6cbe1a1fd304083" /><Relationship Type="http://schemas.openxmlformats.org/officeDocument/2006/relationships/notesSlide" Target="/ppt/notesSlides/notesSlide11.xml" Id="R485ba8d647554c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8b01020e0534e1b" /><Relationship Type="http://schemas.openxmlformats.org/officeDocument/2006/relationships/image" Target="/ppt/media/image7.jpeg" Id="Ra64ec19447bf417c" /><Relationship Type="http://schemas.openxmlformats.org/officeDocument/2006/relationships/hyperlink" Target="https://cari.institute/aesthetics/nu-brutalism" TargetMode="External" Id="R17ad980512c94388" /><Relationship Type="http://schemas.openxmlformats.org/officeDocument/2006/relationships/hyperlink" Target="https://www.riba.org/explore/riba-collections/architectural-styles/brutalism-movement/" TargetMode="External" Id="Rb12a2de15d2a47f4" /><Relationship Type="http://schemas.openxmlformats.org/officeDocument/2006/relationships/notesSlide" Target="/ppt/notesSlides/notesSlide12.xml" Id="Rbe10119963d5494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c15fa9c68764fd8" /><Relationship Type="http://schemas.openxmlformats.org/officeDocument/2006/relationships/image" Target="/ppt/media/image8.jpeg" Id="R03a29af774944806" /><Relationship Type="http://schemas.openxmlformats.org/officeDocument/2006/relationships/hyperlink" Target="https://www.pentagram.com/work/american-weed-co" TargetMode="External" Id="R0bdebfb4f0ac4ced" /><Relationship Type="http://schemas.openxmlformats.org/officeDocument/2006/relationships/notesSlide" Target="/ppt/notesSlides/notesSlide13.xml" Id="Red44204e758d4de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697f6c37399427e" /><Relationship Type="http://schemas.openxmlformats.org/officeDocument/2006/relationships/image" Target="/ppt/media/image9.jpeg" Id="R3f0e558465044887" /><Relationship Type="http://schemas.openxmlformats.org/officeDocument/2006/relationships/hyperlink" Target="https://unesco.ru/en/news/gjel37/" TargetMode="External" Id="Rff7da358eda7404b" /><Relationship Type="http://schemas.openxmlformats.org/officeDocument/2006/relationships/hyperlink" Target="https://farfor-gzhel.com/en/the-award-at-home-in-the-nomination-design-and-craft/" TargetMode="External" Id="R0ef755d99109429d" /><Relationship Type="http://schemas.openxmlformats.org/officeDocument/2006/relationships/notesSlide" Target="/ppt/notesSlides/notesSlide14.xml" Id="R55664f54c4be46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8a16ca985734de9" /><Relationship Type="http://schemas.openxmlformats.org/officeDocument/2006/relationships/hyperlink" Target="https://www.3m.com/3M/en_US/p/d/v000096543/" TargetMode="External" Id="Rd0c5e6ce4b6d4d5a" /><Relationship Type="http://schemas.openxmlformats.org/officeDocument/2006/relationships/notesSlide" Target="/ppt/notesSlides/notesSlide15.xml" Id="R1a801b6e8e9c4b6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1d596bf226d49c0" /><Relationship Type="http://schemas.openxmlformats.org/officeDocument/2006/relationships/hyperlink" Target="https://www.colorado.edu/anthropology/sites/default/files/attached-files/5leshkowichjonesft.pdf" TargetMode="External" Id="R544c3c9ec9bf487a" /><Relationship Type="http://schemas.openxmlformats.org/officeDocument/2006/relationships/hyperlink" Target="https://www.vam.ac.uk/articles/chinoiserie-an-introduction" TargetMode="External" Id="R0a632c2ef7164c05" /><Relationship Type="http://schemas.openxmlformats.org/officeDocument/2006/relationships/notesSlide" Target="/ppt/notesSlides/notesSlide16.xml" Id="R64766f3112f741c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8bef5c64bfa42c5" /><Relationship Type="http://schemas.openxmlformats.org/officeDocument/2006/relationships/hyperlink" Target="https://play.studio/work/adobe-max" TargetMode="External" Id="Rb18f8e2ed70f4c8e" /><Relationship Type="http://schemas.openxmlformats.org/officeDocument/2006/relationships/notesSlide" Target="/ppt/notesSlides/notesSlide17.xml" Id="R180172e2d96840c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f454c1e044e4b0b" /><Relationship Type="http://schemas.openxmlformats.org/officeDocument/2006/relationships/notesSlide" Target="/ppt/notesSlides/notesSlide18.xml" Id="R3a5380092af34b1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80059845e564c4a" /><Relationship Type="http://schemas.openxmlformats.org/officeDocument/2006/relationships/image" Target="/ppt/media/image10.jpeg" Id="R439bf66f227f4b6a" /><Relationship Type="http://schemas.openxmlformats.org/officeDocument/2006/relationships/hyperlink" Target="https://about.nike.com/en/magazine/nike-swoosh-logo-history" TargetMode="External" Id="R9609184cfde54790" /><Relationship Type="http://schemas.openxmlformats.org/officeDocument/2006/relationships/notesSlide" Target="/ppt/notesSlides/notesSlide19.xml" Id="Rad0c7e4635d848c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cfaa2d4500f4bfc" /><Relationship Type="http://schemas.openxmlformats.org/officeDocument/2006/relationships/hyperlink" Target="https://thesneeze.com/the-man-behind-the-fedex-logo/" TargetMode="External" Id="R3027ac8a4d7347a5" /><Relationship Type="http://schemas.openxmlformats.org/officeDocument/2006/relationships/notesSlide" Target="/ppt/notesSlides/notesSlide20.xml" Id="Ra894d4bb3b1e45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3377787fc8449a5" /><Relationship Type="http://schemas.openxmlformats.org/officeDocument/2006/relationships/image" Target="/ppt/media/image.png" Id="Rddc42ec8ed6745c1" /><Relationship Type="http://schemas.openxmlformats.org/officeDocument/2006/relationships/hyperlink" Target="https://www.ibm.com/design/language/ibm-logos/8-bar/" TargetMode="External" Id="Ra7175c66d22541ca" /><Relationship Type="http://schemas.openxmlformats.org/officeDocument/2006/relationships/notesSlide" Target="/ppt/notesSlides/notesSlide21.xml" Id="Ra360a0a3e17b49d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154aaeddbc14bfe" /><Relationship Type="http://schemas.openxmlformats.org/officeDocument/2006/relationships/hyperlink" Target="https://about.nike.com/en/magazine/nike-swoosh-logo-history" TargetMode="External" Id="Rbac241032f264bb8" /><Relationship Type="http://schemas.openxmlformats.org/officeDocument/2006/relationships/hyperlink" Target="https://www.ibm.com/design/language/ibm-logos/8-bar/" TargetMode="External" Id="R5c934963c99349cc" /><Relationship Type="http://schemas.openxmlformats.org/officeDocument/2006/relationships/notesSlide" Target="/ppt/notesSlides/notesSlide22.xml" Id="R52c927d7895f48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b888ce58d624b3b" /><Relationship Type="http://schemas.openxmlformats.org/officeDocument/2006/relationships/hyperlink" Target="https://www.edenbrands.us/services" TargetMode="External" Id="R17fccbe39c5b4862" /><Relationship Type="http://schemas.openxmlformats.org/officeDocument/2006/relationships/hyperlink" Target="https://www.tiktok.com/@lucyedendesign/video/7665353012268829965" TargetMode="External" Id="R103bd542810c4d36" /><Relationship Type="http://schemas.openxmlformats.org/officeDocument/2006/relationships/notesSlide" Target="/ppt/notesSlides/notesSlide23.xml" Id="R16d87cd4ed47431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9332c4652504d81" /><Relationship Type="http://schemas.openxmlformats.org/officeDocument/2006/relationships/image" Target="/ppt/media/image11.jpeg" Id="R8aec6ba51ffd4e6e" /><Relationship Type="http://schemas.openxmlformats.org/officeDocument/2006/relationships/hyperlink" Target="https://www.tiktok.com/@lucyedendesign/video/7669805166178209037" TargetMode="External" Id="R33987d16be7844b0" /><Relationship Type="http://schemas.openxmlformats.org/officeDocument/2006/relationships/notesSlide" Target="/ppt/notesSlides/notesSlide24.xml" Id="R00e5be215236475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147c9d855c44b34" /><Relationship Type="http://schemas.openxmlformats.org/officeDocument/2006/relationships/hyperlink" Target="https://www.edenbrands.us/case-studies/michelle-elman" TargetMode="External" Id="R74d724f00f704040" /><Relationship Type="http://schemas.openxmlformats.org/officeDocument/2006/relationships/notesSlide" Target="/ppt/notesSlides/notesSlide25.xml" Id="Rdd5a67d045f94f3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0e6d0e49bbc48d5" /><Relationship Type="http://schemas.openxmlformats.org/officeDocument/2006/relationships/hyperlink" Target="https://www.edenbrands.us/case-studies/splatter" TargetMode="External" Id="R11f0b4611c484834" /><Relationship Type="http://schemas.openxmlformats.org/officeDocument/2006/relationships/notesSlide" Target="/ppt/notesSlides/notesSlide26.xml" Id="Re2050c9741ff4c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b62d350d7444e4b" /><Relationship Type="http://schemas.openxmlformats.org/officeDocument/2006/relationships/hyperlink" Target="https://www.edenbrands.us/case-studies/marlowe-and-sage" TargetMode="External" Id="R19536d91b2e34f85" /><Relationship Type="http://schemas.openxmlformats.org/officeDocument/2006/relationships/notesSlide" Target="/ppt/notesSlides/notesSlide27.xml" Id="Rcf7bfd361c9b4bf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b83f03093e240b5" /><Relationship Type="http://schemas.openxmlformats.org/officeDocument/2006/relationships/hyperlink" Target="https://www.linkedin.com/posts/tbwa_our-global-design-studio-dxd-have-taken-us-activity-7492923688888184832-YRdB" TargetMode="External" Id="R3a3a723a7e3c41b2" /><Relationship Type="http://schemas.openxmlformats.org/officeDocument/2006/relationships/hyperlink" Target="https://tbwa.com/news/" TargetMode="External" Id="Ra6afe3fbf5234788" /><Relationship Type="http://schemas.openxmlformats.org/officeDocument/2006/relationships/notesSlide" Target="/ppt/notesSlides/notesSlide28.xml" Id="Rf0a3e1ae0f5140d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a7da0447c4145fc" /><Relationship Type="http://schemas.openxmlformats.org/officeDocument/2006/relationships/image" Target="/ppt/media/image12.jpeg" Id="R9116802d37464ecd" /><Relationship Type="http://schemas.openxmlformats.org/officeDocument/2006/relationships/hyperlink" Target="https://geist.co/work/anthropic" TargetMode="External" Id="R5f28044aada04d01" /><Relationship Type="http://schemas.openxmlformats.org/officeDocument/2006/relationships/notesSlide" Target="/ppt/notesSlides/notesSlide29.xml" Id="R476aed3703424f6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9b2e6f48daa4843" /><Relationship Type="http://schemas.openxmlformats.org/officeDocument/2006/relationships/hyperlink" Target="https://www.zachheffner.com/privacy-policy" TargetMode="External" Id="R4af151627c5a42c8" /><Relationship Type="http://schemas.openxmlformats.org/officeDocument/2006/relationships/hyperlink" Target="https://www.linkedin.com/posts/tbwa_our-global-design-studio-dxd-have-taken-us-activity-7492923688888184832-YRdB" TargetMode="External" Id="R548f4da34a064295" /><Relationship Type="http://schemas.openxmlformats.org/officeDocument/2006/relationships/notesSlide" Target="/ppt/notesSlides/notesSlide30.xml" Id="Rb7ab31d3a20f448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b4aba6995ed40b0" /><Relationship Type="http://schemas.openxmlformats.org/officeDocument/2006/relationships/image" Target="/ppt/media/image2.png" Id="R6a760b4035d64919" /><Relationship Type="http://schemas.openxmlformats.org/officeDocument/2006/relationships/hyperlink" Target="https://geist.co/work/anthropic" TargetMode="External" Id="Re530123a6a124115" /><Relationship Type="http://schemas.openxmlformats.org/officeDocument/2006/relationships/notesSlide" Target="/ppt/notesSlides/notesSlide31.xml" Id="Rcf1acbcef7934ec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f323de35d5f4e2b" /><Relationship Type="http://schemas.openxmlformats.org/officeDocument/2006/relationships/image" Target="/ppt/media/image3.png" Id="Rae4f749d34264b51" /><Relationship Type="http://schemas.openxmlformats.org/officeDocument/2006/relationships/hyperlink" Target="https://geist.co/work/anthropic" TargetMode="External" Id="R98a7aca287fe4780" /><Relationship Type="http://schemas.openxmlformats.org/officeDocument/2006/relationships/notesSlide" Target="/ppt/notesSlides/notesSlide32.xml" Id="Re8f3a86d8e434ce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18123a3e3bd4cbb" /><Relationship Type="http://schemas.openxmlformats.org/officeDocument/2006/relationships/image" Target="/ppt/media/image4.png" Id="R1a006d61754d47c8" /><Relationship Type="http://schemas.openxmlformats.org/officeDocument/2006/relationships/hyperlink" Target="https://geist.co/work/anthropic" TargetMode="External" Id="R3f28134351434cff" /><Relationship Type="http://schemas.openxmlformats.org/officeDocument/2006/relationships/notesSlide" Target="/ppt/notesSlides/notesSlide33.xml" Id="R7e57da017c4140f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929dec9365d48cb" /><Relationship Type="http://schemas.openxmlformats.org/officeDocument/2006/relationships/notesSlide" Target="/ppt/notesSlides/notesSlide34.xml" Id="Rde8a1e8e207c4a6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29ab8d928d044af" /><Relationship Type="http://schemas.openxmlformats.org/officeDocument/2006/relationships/hyperlink" Target="https://palmerlab.berkeley.edu/pdf/Palmer.pdf" TargetMode="External" Id="R045aa488de884c46" /><Relationship Type="http://schemas.openxmlformats.org/officeDocument/2006/relationships/hyperlink" Target="https://www.cooperhewitt.org/exhibitions/how-posters-work/" TargetMode="External" Id="R349e976b9a4e442d" /><Relationship Type="http://schemas.openxmlformats.org/officeDocument/2006/relationships/notesSlide" Target="/ppt/notesSlides/notesSlide35.xml" Id="R4a2ee285debe4e9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3b6b4029fc4400e" /><Relationship Type="http://schemas.openxmlformats.org/officeDocument/2006/relationships/hyperlink" Target="https://www.w3.org/WAI/WCAG22/Understanding/contrast-minimum.html" TargetMode="External" Id="R44c5c193d9f44756" /><Relationship Type="http://schemas.openxmlformats.org/officeDocument/2006/relationships/notesSlide" Target="/ppt/notesSlides/notesSlide36.xml" Id="R2971e46a31034b6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470e510d3ad497e" /><Relationship Type="http://schemas.openxmlformats.org/officeDocument/2006/relationships/hyperlink" Target="https://www.w3.org/WAI/WCAG22/Understanding/animation-from-interactions.html" TargetMode="External" Id="R18c6b86205804fb5" /><Relationship Type="http://schemas.openxmlformats.org/officeDocument/2006/relationships/hyperlink" Target="https://www.w3.org/WAI/WCAG22/Understanding/pause-stop-hide.html" TargetMode="External" Id="Re7433c099a2c453b" /><Relationship Type="http://schemas.openxmlformats.org/officeDocument/2006/relationships/notesSlide" Target="/ppt/notesSlides/notesSlide37.xml" Id="Rd55e51dbe82b44c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5ad9d8a53c3403a" /><Relationship Type="http://schemas.openxmlformats.org/officeDocument/2006/relationships/hyperlink" Target="https://www.w3.org/WAI/WCAG22/Understanding/reflow.html" TargetMode="External" Id="R53a3d77e5fa141de" /><Relationship Type="http://schemas.openxmlformats.org/officeDocument/2006/relationships/notesSlide" Target="/ppt/notesSlides/notesSlide38.xml" Id="R503e8bc8cefe40a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d92fad644824ae9" /><Relationship Type="http://schemas.openxmlformats.org/officeDocument/2006/relationships/hyperlink" Target="https://www.nature.com/articles/s41562-021-01097-6" TargetMode="External" Id="Rcb7a19ee82d145c8" /><Relationship Type="http://schemas.openxmlformats.org/officeDocument/2006/relationships/hyperlink" Target="https://web.dev/articles/animations-and-performance" TargetMode="External" Id="Re13c9f75abc94946" /><Relationship Type="http://schemas.openxmlformats.org/officeDocument/2006/relationships/notesSlide" Target="/ppt/notesSlides/notesSlide39.xml" Id="R91c13929536542a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9b11dfa6855467e" /><Relationship Type="http://schemas.openxmlformats.org/officeDocument/2006/relationships/hyperlink" Target="https://www.cooperhewitt.org/2014/12/05/making-a-poster-is-a-process/" TargetMode="External" Id="R26da58d129da40b4" /><Relationship Type="http://schemas.openxmlformats.org/officeDocument/2006/relationships/hyperlink" Target="https://palmerlab.berkeley.edu/pdf/Palmer.pdf" TargetMode="External" Id="Rb739b7c9921144be" /><Relationship Type="http://schemas.openxmlformats.org/officeDocument/2006/relationships/notesSlide" Target="/ppt/notesSlides/notesSlide40.xml" Id="Rf86d03d7d88d40f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2bcf8161fd04cab" /><Relationship Type="http://schemas.openxmlformats.org/officeDocument/2006/relationships/notesSlide" Target="/ppt/notesSlides/notesSlide41.xml" Id="Rc19e21673fec48b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9d67418f05e4180" /><Relationship Type="http://schemas.openxmlformats.org/officeDocument/2006/relationships/notesSlide" Target="/ppt/notesSlides/notesSlide42.xml" Id="R035eef7688b846a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2740fd174f841e4" /><Relationship Type="http://schemas.openxmlformats.org/officeDocument/2006/relationships/hyperlink" Target="https://drive.google.com/file/d/1-Xuq7o32ZkGV8pxPG61T45pqlr-okEV3/view" TargetMode="External" Id="R877459c2923d4b6a" /><Relationship Type="http://schemas.openxmlformats.org/officeDocument/2006/relationships/notesSlide" Target="/ppt/notesSlides/notesSlide43.xml" Id="R6e623673797a443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b08e57ed8d440d2" /><Relationship Type="http://schemas.openxmlformats.org/officeDocument/2006/relationships/notesSlide" Target="/ppt/notesSlides/notesSlide44.xml" Id="R1084800eed5d486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ab12a1132724a90" /><Relationship Type="http://schemas.openxmlformats.org/officeDocument/2006/relationships/notesSlide" Target="/ppt/notesSlides/notesSlide45.xml" Id="R7a91edeee8a349e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7553f85f684441a" /><Relationship Type="http://schemas.openxmlformats.org/officeDocument/2006/relationships/notesSlide" Target="/ppt/notesSlides/notesSlide46.xml" Id="R3ddfb43ace69496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b399bd633f742f8" /><Relationship Type="http://schemas.openxmlformats.org/officeDocument/2006/relationships/notesSlide" Target="/ppt/notesSlides/notesSlide47.xml" Id="Re37bd47c6ff7445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d6ffabae55d47c9" /><Relationship Type="http://schemas.openxmlformats.org/officeDocument/2006/relationships/hyperlink" Target="https://openai.com/policies/how-chatgpt-and-our-foundation-models-are-developed/" TargetMode="External" Id="R5a86dba2130842e5" /><Relationship Type="http://schemas.openxmlformats.org/officeDocument/2006/relationships/notesSlide" Target="/ppt/notesSlides/notesSlide48.xml" Id="R4e643c550d0a4d2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25030a584304b0c" /><Relationship Type="http://schemas.openxmlformats.org/officeDocument/2006/relationships/hyperlink" Target="https://drive.google.com/drive/folders/1CtjBy4KKutNKf97jToAocSG5_M6aGJVq" TargetMode="External" Id="R769e49b255674b9c" /><Relationship Type="http://schemas.openxmlformats.org/officeDocument/2006/relationships/notesSlide" Target="/ppt/notesSlides/notesSlide49.xml" Id="R440704026404418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15f3d1b64434329" /><Relationship Type="http://schemas.openxmlformats.org/officeDocument/2006/relationships/hyperlink" Target="https://www.tiktok.com/@denny.kurien/video/7680157545746418964" TargetMode="External" Id="R79fdaf706a1c4745" /><Relationship Type="http://schemas.openxmlformats.org/officeDocument/2006/relationships/hyperlink" Target="https://www.pagemasters.co/risograph" TargetMode="External" Id="Rb05227193dcc454e" /><Relationship Type="http://schemas.openxmlformats.org/officeDocument/2006/relationships/hyperlink" Target="https://risottostudio.com/pages/advanced-print-setup" TargetMode="External" Id="Rc2e3bbf11dcd4d34" /><Relationship Type="http://schemas.openxmlformats.org/officeDocument/2006/relationships/hyperlink" Target="https://www.riso.co.jp/english/product/digital_dup/history/index.html" TargetMode="External" Id="R4ba21eee432c4e1a" /><Relationship Type="http://schemas.openxmlformats.org/officeDocument/2006/relationships/hyperlink" Target="https://www.behance.net/gallery/127686975/Simplicity-21" TargetMode="External" Id="R201daef3fedd454f" /><Relationship Type="http://schemas.openxmlformats.org/officeDocument/2006/relationships/hyperlink" Target="https://microsoft.design/articles/an-emoji-for-your-thoughts-2/" TargetMode="External" Id="R53fe78f847f141aa" /><Relationship Type="http://schemas.openxmlformats.org/officeDocument/2006/relationships/hyperlink" Target="https://agencecartier.com/en/projects/farinart-a-new-identity-crops-up/" TargetMode="External" Id="R11aca3b80eea43ee" /><Relationship Type="http://schemas.openxmlformats.org/officeDocument/2006/relationships/notesSlide" Target="/ppt/notesSlides/notesSlide50.xml" Id="Rd7a0a0019a9243d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532dd55c297e45ba" /><Relationship Type="http://schemas.openxmlformats.org/officeDocument/2006/relationships/hyperlink" Target="https://www.pentagram.com/work/intrinsic" TargetMode="External" Id="R42210e018c1c4e36" /><Relationship Type="http://schemas.openxmlformats.org/officeDocument/2006/relationships/hyperlink" Target="https://cari.institute/aesthetics/austurbane" TargetMode="External" Id="R3ccb4b5405ff47e9" /><Relationship Type="http://schemas.openxmlformats.org/officeDocument/2006/relationships/hyperlink" Target="https://cari.institute/aesthetics/nu-brutalism" TargetMode="External" Id="R1df33f5380a347f2" /><Relationship Type="http://schemas.openxmlformats.org/officeDocument/2006/relationships/hyperlink" Target="https://www.riba.org/explore/riba-collections/architectural-styles/brutalism-movement/" TargetMode="External" Id="R5273ad3f32b94783" /><Relationship Type="http://schemas.openxmlformats.org/officeDocument/2006/relationships/hyperlink" Target="https://www.pentagram.com/work/american-weed-co" TargetMode="External" Id="Raa64feb223da4aae" /><Relationship Type="http://schemas.openxmlformats.org/officeDocument/2006/relationships/hyperlink" Target="https://unesco.ru/en/news/gjel37/" TargetMode="External" Id="R7e5886d72fbb48bd" /><Relationship Type="http://schemas.openxmlformats.org/officeDocument/2006/relationships/hyperlink" Target="https://farfor-gzhel.com/en/the-award-at-home-in-the-nomination-design-and-craft/" TargetMode="External" Id="Rfc3fe6b359884376" /><Relationship Type="http://schemas.openxmlformats.org/officeDocument/2006/relationships/notesSlide" Target="/ppt/notesSlides/notesSlide51.xml" Id="Rb02159d1bb3a410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a06027438024a76" /><Relationship Type="http://schemas.openxmlformats.org/officeDocument/2006/relationships/hyperlink" Target="https://www.demorgan.org.uk/de-morgan-x-loewe-autumn-winter-2019/" TargetMode="External" Id="Rfcf2cbd03f42426b" /><Relationship Type="http://schemas.openxmlformats.org/officeDocument/2006/relationships/hyperlink" Target="https://www.3m.com/3M/en_US/p/d/v000096543/" TargetMode="External" Id="R2c3bbe3ff2bf4ec9" /><Relationship Type="http://schemas.openxmlformats.org/officeDocument/2006/relationships/hyperlink" Target="https://www.colorado.edu/anthropology/sites/default/files/attached-files/5leshkowichjonesft.pdf" TargetMode="External" Id="Reb45eb8ae65441f8" /><Relationship Type="http://schemas.openxmlformats.org/officeDocument/2006/relationships/hyperlink" Target="https://www.vam.ac.uk/articles/chinoiserie-an-introduction" TargetMode="External" Id="R4679ff482893479b" /><Relationship Type="http://schemas.openxmlformats.org/officeDocument/2006/relationships/hyperlink" Target="https://play.studio/work/adobe-max" TargetMode="External" Id="Reda46b1b57fc454a" /><Relationship Type="http://schemas.openxmlformats.org/officeDocument/2006/relationships/hyperlink" Target="https://about.nike.com/en/magazine/nike-swoosh-logo-history" TargetMode="External" Id="Rb9bd1ca916684c16" /><Relationship Type="http://schemas.openxmlformats.org/officeDocument/2006/relationships/hyperlink" Target="https://thesneeze.com/the-man-behind-the-fedex-logo/" TargetMode="External" Id="Ref9f82be50624c5f" /><Relationship Type="http://schemas.openxmlformats.org/officeDocument/2006/relationships/notesSlide" Target="/ppt/notesSlides/notesSlide52.xml" Id="Rbc486a7e4127450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d7375ee2b69469a" /><Relationship Type="http://schemas.openxmlformats.org/officeDocument/2006/relationships/hyperlink" Target="https://www.ibm.com/design/language/ibm-logos/8-bar/" TargetMode="External" Id="Rfb3dcb65272a4465" /><Relationship Type="http://schemas.openxmlformats.org/officeDocument/2006/relationships/hyperlink" Target="https://www.edenbrands.us/services" TargetMode="External" Id="Rfd385eb9f117455e" /><Relationship Type="http://schemas.openxmlformats.org/officeDocument/2006/relationships/hyperlink" Target="https://www.tiktok.com/@lucyedendesign/video/7665353012268829965" TargetMode="External" Id="R44df12a85d2d4760" /><Relationship Type="http://schemas.openxmlformats.org/officeDocument/2006/relationships/hyperlink" Target="https://www.tiktok.com/@lucyedendesign/video/7669805166178209037" TargetMode="External" Id="R100928441e54486d" /><Relationship Type="http://schemas.openxmlformats.org/officeDocument/2006/relationships/hyperlink" Target="https://www.edenbrands.us/case-studies/michelle-elman" TargetMode="External" Id="Rddc117aa60c04c91" /><Relationship Type="http://schemas.openxmlformats.org/officeDocument/2006/relationships/hyperlink" Target="https://www.edenbrands.us/case-studies/splatter" TargetMode="External" Id="Rc145cc5c9c2a4d61" /><Relationship Type="http://schemas.openxmlformats.org/officeDocument/2006/relationships/hyperlink" Target="https://www.edenbrands.us/case-studies/marlowe-and-sage" TargetMode="External" Id="Rd6547df6bbe84f1a" /><Relationship Type="http://schemas.openxmlformats.org/officeDocument/2006/relationships/notesSlide" Target="/ppt/notesSlides/notesSlide53.xml" Id="R44a19724bc0f46b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c92d6b70b504895" /><Relationship Type="http://schemas.openxmlformats.org/officeDocument/2006/relationships/hyperlink" Target="https://www.linkedin.com/posts/tbwa_our-global-design-studio-dxd-have-taken-us-activity-7492923688888184832-YRdB" TargetMode="External" Id="Rb0990883e6a041a2" /><Relationship Type="http://schemas.openxmlformats.org/officeDocument/2006/relationships/hyperlink" Target="https://tbwa.com/news/" TargetMode="External" Id="R4b891b8c03c34e6e" /><Relationship Type="http://schemas.openxmlformats.org/officeDocument/2006/relationships/hyperlink" Target="https://geist.co/work/anthropic" TargetMode="External" Id="Rbfcfed82eefd4dec" /><Relationship Type="http://schemas.openxmlformats.org/officeDocument/2006/relationships/hyperlink" Target="https://www.zachheffner.com/privacy-policy" TargetMode="External" Id="R2074067fd5ee47a7" /><Relationship Type="http://schemas.openxmlformats.org/officeDocument/2006/relationships/hyperlink" Target="https://investors.oatly.com/static-files/530eaa69-0fb0-40e9-9aac-1147bb6eea14" TargetMode="External" Id="R0264433fb44248d7" /><Relationship Type="http://schemas.openxmlformats.org/officeDocument/2006/relationships/hyperlink" Target="https://palmerlab.berkeley.edu/pdf/Palmer.pdf" TargetMode="External" Id="Rb8d5e53cfa814672" /><Relationship Type="http://schemas.openxmlformats.org/officeDocument/2006/relationships/hyperlink" Target="https://www.cooperhewitt.org/exhibitions/how-posters-work/" TargetMode="External" Id="R9060643c4cc9463d" /><Relationship Type="http://schemas.openxmlformats.org/officeDocument/2006/relationships/notesSlide" Target="/ppt/notesSlides/notesSlide54.xml" Id="R4a13ff399b134e5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a34d5c3f9bf4398" /><Relationship Type="http://schemas.openxmlformats.org/officeDocument/2006/relationships/hyperlink" Target="https://www.w3.org/WAI/WCAG22/Understanding/contrast-minimum.html" TargetMode="External" Id="R53dd5250117e445b" /><Relationship Type="http://schemas.openxmlformats.org/officeDocument/2006/relationships/hyperlink" Target="https://www.w3.org/WAI/WCAG22/Understanding/animation-from-interactions.html" TargetMode="External" Id="Rb30c2010648d445c" /><Relationship Type="http://schemas.openxmlformats.org/officeDocument/2006/relationships/hyperlink" Target="https://www.w3.org/WAI/WCAG22/Understanding/pause-stop-hide.html" TargetMode="External" Id="R1ef76576fee4467c" /><Relationship Type="http://schemas.openxmlformats.org/officeDocument/2006/relationships/hyperlink" Target="https://www.w3.org/WAI/WCAG22/Understanding/reflow.html" TargetMode="External" Id="R7e2c7c3d0a934093" /><Relationship Type="http://schemas.openxmlformats.org/officeDocument/2006/relationships/hyperlink" Target="https://www.nature.com/articles/s41562-021-01097-6" TargetMode="External" Id="Rcf925839436142ed" /><Relationship Type="http://schemas.openxmlformats.org/officeDocument/2006/relationships/hyperlink" Target="https://web.dev/articles/animations-and-performance" TargetMode="External" Id="R80f7eeb007674098" /><Relationship Type="http://schemas.openxmlformats.org/officeDocument/2006/relationships/hyperlink" Target="https://www.cooperhewitt.org/2014/12/05/making-a-poster-is-a-process/" TargetMode="External" Id="R84cd4aac44f84e76" /><Relationship Type="http://schemas.openxmlformats.org/officeDocument/2006/relationships/notesSlide" Target="/ppt/notesSlides/notesSlide55.xml" Id="R61d624999fc54f3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eb287676397473a" /><Relationship Type="http://schemas.openxmlformats.org/officeDocument/2006/relationships/hyperlink" Target="https://drive.google.com/file/d/1-Xuq7o32ZkGV8pxPG61T45pqlr-okEV3/view" TargetMode="External" Id="R6865ce67dd574011" /><Relationship Type="http://schemas.openxmlformats.org/officeDocument/2006/relationships/hyperlink" Target="https://openai.com/policies/how-chatgpt-and-our-foundation-models-are-developed/" TargetMode="External" Id="R349372d6444a43ca" /><Relationship Type="http://schemas.openxmlformats.org/officeDocument/2006/relationships/hyperlink" Target="https://drive.google.com/drive/folders/1CtjBy4KKutNKf97jToAocSG5_M6aGJVq" TargetMode="External" Id="Rb60f9a8055944970" /><Relationship Type="http://schemas.openxmlformats.org/officeDocument/2006/relationships/notesSlide" Target="/ppt/notesSlides/notesSlide56.xml" Id="Rf323d31f75654fe0" /></Relationships>
</file>

<file path=ppt/slides/slide1.xml><?xml version="1.0" encoding="utf-8"?>
<p:sld xmlns:p="http://schemas.openxmlformats.org/presentationml/2006/main">
  <p:cSld>
    <p:bg>
      <p:bgPr>
        <a:solidFill xmlns:a="http://schemas.openxmlformats.org/drawingml/2006/main">
          <a:srgbClr val="16333A"/>
        </a:solidFill>
      </p:bgPr>
    </p:bg>
    <p:spTree>
      <p:nvGrpSpPr>
        <p:cNvPr id="1" name=""/>
        <p:cNvGrpSpPr/>
        <p:nvPr/>
      </p:nvGrpSpPr>
      <p:grpSpPr>
        <a:xfrm xmlns:a="http://schemas.openxmlformats.org/drawingml/2006/main"/>
      </p:grpSpPr>
      <p:sp>
        <p:nvSpPr>
          <p:cNvPr id="5" name="01">
            <a:extLst xmlns:a="http://schemas.openxmlformats.org/drawingml/2006/main">
              <a:ext uri="{FF2B5EF4-FFF2-40B4-BE49-F238E27FC236}">
                <a16:creationId xmlns:a16="http://schemas.microsoft.com/office/drawing/2014/main" id="{F35B8F37-50D8-4238-AA31-A47B4D00A122}"/>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4CDC9"/>
                </a:solidFill>
                <a:latin typeface="Arial"/>
                <a:ea typeface="Arial"/>
                <a:cs typeface="Arial"/>
              </a:defRPr>
            </a:pPr>
            <a:r>
              <a:rPr sz="1275" b="0">
                <a:solidFill>
                  <a:srgbClr val="B4CDC9"/>
                </a:solidFill>
                <a:latin typeface="Arial"/>
                <a:ea typeface="Arial"/>
                <a:cs typeface="Arial"/>
              </a:rPr>
              <a:t>01</a:t>
            </a:r>
          </a:p>
        </p:txBody>
      </p:sp>
      <p:sp>
        <p:nvSpPr>
          <p:cNvPr id="2" name="A field guide&#10;to expressive design">
            <a:extLst xmlns:a="http://schemas.openxmlformats.org/drawingml/2006/main">
              <a:ext uri="{FF2B5EF4-FFF2-40B4-BE49-F238E27FC236}">
                <a16:creationId xmlns:a16="http://schemas.microsoft.com/office/drawing/2014/main" id="{A473411E-99E8-42FB-BA56-17837AF8DD7B}"/>
              </a:ext>
            </a:extLst>
          </p:cNvPr>
          <p:cNvSpPr>
            <a:spLocks xmlns:a="http://schemas.openxmlformats.org/drawingml/2006/main" noGrp="1"/>
          </p:cNvSpPr>
          <p:nvPr/>
        </p:nvSpPr>
        <p:spPr>
          <a:xfrm xmlns:a="http://schemas.openxmlformats.org/drawingml/2006/main">
            <a:off x="685800" y="1162050"/>
            <a:ext cx="10477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F5F2EA"/>
                </a:solidFill>
                <a:latin typeface="Arial"/>
                <a:ea typeface="Arial"/>
                <a:cs typeface="Arial"/>
              </a:defRPr>
            </a:pPr>
            <a:r>
              <a:rPr sz="5550" b="1">
                <a:solidFill>
                  <a:srgbClr val="F5F2EA"/>
                </a:solidFill>
                <a:latin typeface="Arial"/>
                <a:ea typeface="Arial"/>
                <a:cs typeface="Arial"/>
              </a:rPr>
              <a:t>A field guide</a:t>
            </a:r>
          </a:p>
          <a:p xmlns:a="http://schemas.openxmlformats.org/drawingml/2006/main">
            <a:pPr>
              <a:defRPr sz="5550" b="1">
                <a:solidFill>
                  <a:srgbClr val="F5F2EA"/>
                </a:solidFill>
                <a:latin typeface="Arial"/>
                <a:ea typeface="Arial"/>
                <a:cs typeface="Arial"/>
              </a:defRPr>
            </a:pPr>
            <a:r>
              <a:rPr sz="5550" b="1">
                <a:solidFill>
                  <a:srgbClr val="F5F2EA"/>
                </a:solidFill>
                <a:latin typeface="Arial"/>
                <a:ea typeface="Arial"/>
                <a:cs typeface="Arial"/>
              </a:rPr>
              <a:t>to expressive design</a:t>
            </a:r>
          </a:p>
        </p:txBody>
      </p:sp>
      <p:sp>
        <p:nvSpPr>
          <p:cNvPr id="3" name="Visual styles, logo craft and brand syst">
            <a:extLst xmlns:a="http://schemas.openxmlformats.org/drawingml/2006/main">
              <a:ext uri="{FF2B5EF4-FFF2-40B4-BE49-F238E27FC236}">
                <a16:creationId xmlns:a16="http://schemas.microsoft.com/office/drawing/2014/main" id="{27EA8386-32F7-4F7B-973A-73A276762AA8}"/>
              </a:ext>
            </a:extLst>
          </p:cNvPr>
          <p:cNvSpPr>
            <a:spLocks xmlns:a="http://schemas.openxmlformats.org/drawingml/2006/main" noGrp="1"/>
          </p:cNvSpPr>
          <p:nvPr/>
        </p:nvSpPr>
        <p:spPr>
          <a:xfrm xmlns:a="http://schemas.openxmlformats.org/drawingml/2006/main">
            <a:off x="723900" y="40957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B4CDC9"/>
                </a:solidFill>
                <a:latin typeface="Arial"/>
                <a:ea typeface="Arial"/>
                <a:cs typeface="Arial"/>
              </a:defRPr>
            </a:pPr>
            <a:r>
              <a:rPr sz="2250" b="0">
                <a:solidFill>
                  <a:srgbClr val="B4CDC9"/>
                </a:solidFill>
                <a:latin typeface="Arial"/>
                <a:ea typeface="Arial"/>
                <a:cs typeface="Arial"/>
              </a:rPr>
              <a:t>Visual styles, logo craft and brand systems</a:t>
            </a:r>
          </a:p>
        </p:txBody>
      </p:sp>
      <p:sp>
        <p:nvSpPr>
          <p:cNvPr id="4" name="Living study edition 1.0 / 8 September 2">
            <a:extLst xmlns:a="http://schemas.openxmlformats.org/drawingml/2006/main">
              <a:ext uri="{FF2B5EF4-FFF2-40B4-BE49-F238E27FC236}">
                <a16:creationId xmlns:a16="http://schemas.microsoft.com/office/drawing/2014/main" id="{57A031FC-31EB-45EF-8F0B-E5FA272CB17E}"/>
              </a:ext>
            </a:extLst>
          </p:cNvPr>
          <p:cNvSpPr>
            <a:spLocks xmlns:a="http://schemas.openxmlformats.org/drawingml/2006/main" noGrp="1"/>
          </p:cNvSpPr>
          <p:nvPr/>
        </p:nvSpPr>
        <p:spPr>
          <a:xfrm xmlns:a="http://schemas.openxmlformats.org/drawingml/2006/main">
            <a:off x="723900" y="56388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B4CDC9"/>
                </a:solidFill>
                <a:latin typeface="Arial"/>
                <a:ea typeface="Arial"/>
                <a:cs typeface="Arial"/>
              </a:defRPr>
            </a:pPr>
            <a:r>
              <a:rPr sz="1650" b="0">
                <a:solidFill>
                  <a:srgbClr val="B4CDC9"/>
                </a:solidFill>
                <a:latin typeface="Arial"/>
                <a:ea typeface="Arial"/>
                <a:cs typeface="Arial"/>
              </a:rPr>
              <a:t>Living study edition 1.0 / 8 September 2026</a:t>
            </a:r>
          </a:p>
        </p:txBody>
      </p:sp>
    </p:spTree>
    <p:extLst>
      <p:ext uri="{BB962C8B-B14F-4D97-AF65-F5344CB8AC3E}">
        <p14:creationId xmlns:p14="http://schemas.microsoft.com/office/powerpoint/2010/main" val="1649426254"/>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02">
            <a:extLst xmlns:a="http://schemas.openxmlformats.org/drawingml/2006/main">
              <a:ext uri="{FF2B5EF4-FFF2-40B4-BE49-F238E27FC236}">
                <a16:creationId xmlns:a16="http://schemas.microsoft.com/office/drawing/2014/main" id="{9864D083-E180-464B-8254-F12F1ABEF4FB}"/>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02</a:t>
            </a:r>
          </a:p>
        </p:txBody>
      </p:sp>
      <p:sp>
        <p:nvSpPr>
          <p:cNvPr id="2" name="How to use this field guide">
            <a:extLst xmlns:a="http://schemas.openxmlformats.org/drawingml/2006/main">
              <a:ext uri="{FF2B5EF4-FFF2-40B4-BE49-F238E27FC236}">
                <a16:creationId xmlns:a16="http://schemas.microsoft.com/office/drawing/2014/main" id="{9603E14B-5DB1-46FE-9C50-C094EE87BF9E}"/>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How to use this field guide</a:t>
            </a:r>
          </a:p>
        </p:txBody>
      </p:sp>
      <p:sp>
        <p:nvSpPr>
          <p:cNvPr id="3" name="01">
            <a:extLst xmlns:a="http://schemas.openxmlformats.org/drawingml/2006/main">
              <a:ext uri="{FF2B5EF4-FFF2-40B4-BE49-F238E27FC236}">
                <a16:creationId xmlns:a16="http://schemas.microsoft.com/office/drawing/2014/main" id="{A32969E8-16B4-461E-B3DE-DA6148659878}"/>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Browse the visual atlas to learn the voc">
            <a:extLst xmlns:a="http://schemas.openxmlformats.org/drawingml/2006/main">
              <a:ext uri="{FF2B5EF4-FFF2-40B4-BE49-F238E27FC236}">
                <a16:creationId xmlns:a16="http://schemas.microsoft.com/office/drawing/2014/main" id="{60DC7F4E-4848-40C8-9D2C-531D79984DCA}"/>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Browse the visual atlas to learn the vocabulary.</a:t>
            </a:r>
          </a:p>
        </p:txBody>
      </p:sp>
      <p:sp>
        <p:nvSpPr>
          <p:cNvPr id="5" name="02">
            <a:extLst xmlns:a="http://schemas.openxmlformats.org/drawingml/2006/main">
              <a:ext uri="{FF2B5EF4-FFF2-40B4-BE49-F238E27FC236}">
                <a16:creationId xmlns:a16="http://schemas.microsoft.com/office/drawing/2014/main" id="{CBFAF28A-D173-4745-968C-90C469D3BA72}"/>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Read the case studies to see how decisio">
            <a:extLst xmlns:a="http://schemas.openxmlformats.org/drawingml/2006/main">
              <a:ext uri="{FF2B5EF4-FFF2-40B4-BE49-F238E27FC236}">
                <a16:creationId xmlns:a16="http://schemas.microsoft.com/office/drawing/2014/main" id="{D14408A2-A767-476C-8BEA-A825521CAD60}"/>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Read the case studies to see how decisions work together.</a:t>
            </a:r>
          </a:p>
        </p:txBody>
      </p:sp>
      <p:sp>
        <p:nvSpPr>
          <p:cNvPr id="7" name="03">
            <a:extLst xmlns:a="http://schemas.openxmlformats.org/drawingml/2006/main">
              <a:ext uri="{FF2B5EF4-FFF2-40B4-BE49-F238E27FC236}">
                <a16:creationId xmlns:a16="http://schemas.microsoft.com/office/drawing/2014/main" id="{CFE386FF-FCA1-4DDB-9E10-B481D587561E}"/>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Use the exercises and templates for futu">
            <a:extLst xmlns:a="http://schemas.openxmlformats.org/drawingml/2006/main">
              <a:ext uri="{FF2B5EF4-FFF2-40B4-BE49-F238E27FC236}">
                <a16:creationId xmlns:a16="http://schemas.microsoft.com/office/drawing/2014/main" id="{2543F7B6-459D-4AB8-BF8F-78F43E04A070}"/>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Use the exercises and templates for future design reviews.</a:t>
            </a:r>
          </a:p>
        </p:txBody>
      </p:sp>
    </p:spTree>
    <p:extLst>
      <p:ext uri="{BB962C8B-B14F-4D97-AF65-F5344CB8AC3E}">
        <p14:creationId xmlns:p14="http://schemas.microsoft.com/office/powerpoint/2010/main" val="62839839"/>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03">
            <a:extLst xmlns:a="http://schemas.openxmlformats.org/drawingml/2006/main">
              <a:ext uri="{FF2B5EF4-FFF2-40B4-BE49-F238E27FC236}">
                <a16:creationId xmlns:a16="http://schemas.microsoft.com/office/drawing/2014/main" id="{C81B34C4-A45B-4E9A-B557-1609DE5E783E}"/>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03</a:t>
            </a:r>
          </a:p>
        </p:txBody>
      </p:sp>
      <p:sp>
        <p:nvSpPr>
          <p:cNvPr id="2" name="Four kinds of evidence">
            <a:extLst xmlns:a="http://schemas.openxmlformats.org/drawingml/2006/main">
              <a:ext uri="{FF2B5EF4-FFF2-40B4-BE49-F238E27FC236}">
                <a16:creationId xmlns:a16="http://schemas.microsoft.com/office/drawing/2014/main" id="{8810B9EF-0F04-48F1-A217-56C4088159A5}"/>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Four kinds of evidence</a:t>
            </a:r>
          </a:p>
        </p:txBody>
      </p:sp>
      <p:sp>
        <p:nvSpPr>
          <p:cNvPr id="3" name="01">
            <a:extLst xmlns:a="http://schemas.openxmlformats.org/drawingml/2006/main">
              <a:ext uri="{FF2B5EF4-FFF2-40B4-BE49-F238E27FC236}">
                <a16:creationId xmlns:a16="http://schemas.microsoft.com/office/drawing/2014/main" id="{65A547AD-56D4-461C-A569-4A18D2D37A74}"/>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Observed: visible in an inspected image ">
            <a:extLst xmlns:a="http://schemas.openxmlformats.org/drawingml/2006/main">
              <a:ext uri="{FF2B5EF4-FFF2-40B4-BE49-F238E27FC236}">
                <a16:creationId xmlns:a16="http://schemas.microsoft.com/office/drawing/2014/main" id="{61C6A297-89AF-4CCD-B179-1419522DEB92}"/>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Observed: visible in an inspected image or page.</a:t>
            </a:r>
          </a:p>
        </p:txBody>
      </p:sp>
      <p:sp>
        <p:nvSpPr>
          <p:cNvPr id="5" name="02">
            <a:extLst xmlns:a="http://schemas.openxmlformats.org/drawingml/2006/main">
              <a:ext uri="{FF2B5EF4-FFF2-40B4-BE49-F238E27FC236}">
                <a16:creationId xmlns:a16="http://schemas.microsoft.com/office/drawing/2014/main" id="{D25B45F0-352A-43C9-B6D0-169E4602DDCC}"/>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Documented: a source describes the proce">
            <a:extLst xmlns:a="http://schemas.openxmlformats.org/drawingml/2006/main">
              <a:ext uri="{FF2B5EF4-FFF2-40B4-BE49-F238E27FC236}">
                <a16:creationId xmlns:a16="http://schemas.microsoft.com/office/drawing/2014/main" id="{6DF31D35-3535-4592-B496-BE0ECFA86662}"/>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Documented: a source describes the process or rationale.</a:t>
            </a:r>
          </a:p>
        </p:txBody>
      </p:sp>
      <p:sp>
        <p:nvSpPr>
          <p:cNvPr id="7" name="03">
            <a:extLst xmlns:a="http://schemas.openxmlformats.org/drawingml/2006/main">
              <a:ext uri="{FF2B5EF4-FFF2-40B4-BE49-F238E27FC236}">
                <a16:creationId xmlns:a16="http://schemas.microsoft.com/office/drawing/2014/main" id="{6A65989C-9397-428A-BF57-21BC9F79122C}"/>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Interpretation: our explanation or desig">
            <a:extLst xmlns:a="http://schemas.openxmlformats.org/drawingml/2006/main">
              <a:ext uri="{FF2B5EF4-FFF2-40B4-BE49-F238E27FC236}">
                <a16:creationId xmlns:a16="http://schemas.microsoft.com/office/drawing/2014/main" id="{84EAD906-4C5C-4692-B65F-CA8E5A30240D}"/>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Interpretation: our explanation or design hypothesis.</a:t>
            </a:r>
          </a:p>
        </p:txBody>
      </p:sp>
      <p:sp>
        <p:nvSpPr>
          <p:cNvPr id="9" name="04">
            <a:extLst xmlns:a="http://schemas.openxmlformats.org/drawingml/2006/main">
              <a:ext uri="{FF2B5EF4-FFF2-40B4-BE49-F238E27FC236}">
                <a16:creationId xmlns:a16="http://schemas.microsoft.com/office/drawing/2014/main" id="{C0FDA6C7-B43E-4180-8241-94CC751212C7}"/>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Tested: a named check with recorded cond">
            <a:extLst xmlns:a="http://schemas.openxmlformats.org/drawingml/2006/main">
              <a:ext uri="{FF2B5EF4-FFF2-40B4-BE49-F238E27FC236}">
                <a16:creationId xmlns:a16="http://schemas.microsoft.com/office/drawing/2014/main" id="{77F2A461-C0BF-4472-86FF-E369BE47C773}"/>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Tested: a named check with recorded conditions and results.</a:t>
            </a:r>
          </a:p>
        </p:txBody>
      </p:sp>
    </p:spTree>
    <p:extLst>
      <p:ext uri="{BB962C8B-B14F-4D97-AF65-F5344CB8AC3E}">
        <p14:creationId xmlns:p14="http://schemas.microsoft.com/office/powerpoint/2010/main" val="1811889427"/>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04">
            <a:extLst xmlns:a="http://schemas.openxmlformats.org/drawingml/2006/main">
              <a:ext uri="{FF2B5EF4-FFF2-40B4-BE49-F238E27FC236}">
                <a16:creationId xmlns:a16="http://schemas.microsoft.com/office/drawing/2014/main" id="{2F70D080-E4C4-410A-AB84-679E612AF82D}"/>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04</a:t>
            </a:r>
          </a:p>
        </p:txBody>
      </p:sp>
      <p:sp>
        <p:nvSpPr>
          <p:cNvPr id="2" name="Five questions for looking closely">
            <a:extLst xmlns:a="http://schemas.openxmlformats.org/drawingml/2006/main">
              <a:ext uri="{FF2B5EF4-FFF2-40B4-BE49-F238E27FC236}">
                <a16:creationId xmlns:a16="http://schemas.microsoft.com/office/drawing/2014/main" id="{8CED6B37-54B9-45A4-A114-0F2D1B380A52}"/>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Five questions for looking closely</a:t>
            </a:r>
          </a:p>
        </p:txBody>
      </p:sp>
      <p:sp>
        <p:nvSpPr>
          <p:cNvPr id="3" name="01">
            <a:extLst xmlns:a="http://schemas.openxmlformats.org/drawingml/2006/main">
              <a:ext uri="{FF2B5EF4-FFF2-40B4-BE49-F238E27FC236}">
                <a16:creationId xmlns:a16="http://schemas.microsoft.com/office/drawing/2014/main" id="{A414A392-8663-42AE-BB77-9D56FC3AF22D}"/>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What attracts attention first? What appe">
            <a:extLst xmlns:a="http://schemas.openxmlformats.org/drawingml/2006/main">
              <a:ext uri="{FF2B5EF4-FFF2-40B4-BE49-F238E27FC236}">
                <a16:creationId xmlns:a16="http://schemas.microsoft.com/office/drawing/2014/main" id="{D12C7DCA-BDA9-4347-A715-E3873A968D61}"/>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What attracts attention first? What appears related?</a:t>
            </a:r>
          </a:p>
        </p:txBody>
      </p:sp>
      <p:sp>
        <p:nvSpPr>
          <p:cNvPr id="5" name="02">
            <a:extLst xmlns:a="http://schemas.openxmlformats.org/drawingml/2006/main">
              <a:ext uri="{FF2B5EF4-FFF2-40B4-BE49-F238E27FC236}">
                <a16:creationId xmlns:a16="http://schemas.microsoft.com/office/drawing/2014/main" id="{2C3B9F3A-D360-47E0-88EC-BBB549110DC1}"/>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Which cues create the apparent material?">
            <a:extLst xmlns:a="http://schemas.openxmlformats.org/drawingml/2006/main">
              <a:ext uri="{FF2B5EF4-FFF2-40B4-BE49-F238E27FC236}">
                <a16:creationId xmlns:a16="http://schemas.microsoft.com/office/drawing/2014/main" id="{281BFD91-565F-42C1-BD56-E3491A17CDE0}"/>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Which cues create the apparent material?</a:t>
            </a:r>
          </a:p>
        </p:txBody>
      </p:sp>
      <p:sp>
        <p:nvSpPr>
          <p:cNvPr id="7" name="03">
            <a:extLst xmlns:a="http://schemas.openxmlformats.org/drawingml/2006/main">
              <a:ext uri="{FF2B5EF4-FFF2-40B4-BE49-F238E27FC236}">
                <a16:creationId xmlns:a16="http://schemas.microsoft.com/office/drawing/2014/main" id="{C3A23D02-9095-46A1-A6DF-302B28A55855}"/>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Which parts carry information, and which">
            <a:extLst xmlns:a="http://schemas.openxmlformats.org/drawingml/2006/main">
              <a:ext uri="{FF2B5EF4-FFF2-40B4-BE49-F238E27FC236}">
                <a16:creationId xmlns:a16="http://schemas.microsoft.com/office/drawing/2014/main" id="{9FD0B63C-487A-42C4-B096-51D2597689F1}"/>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Which parts carry information, and which create atmosphere?</a:t>
            </a:r>
          </a:p>
        </p:txBody>
      </p:sp>
      <p:sp>
        <p:nvSpPr>
          <p:cNvPr id="9" name="04">
            <a:extLst xmlns:a="http://schemas.openxmlformats.org/drawingml/2006/main">
              <a:ext uri="{FF2B5EF4-FFF2-40B4-BE49-F238E27FC236}">
                <a16:creationId xmlns:a16="http://schemas.microsoft.com/office/drawing/2014/main" id="{2B02B245-CC2E-4020-8EA6-FD2C11740A69}"/>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What survives when decorative effects di">
            <a:extLst xmlns:a="http://schemas.openxmlformats.org/drawingml/2006/main">
              <a:ext uri="{FF2B5EF4-FFF2-40B4-BE49-F238E27FC236}">
                <a16:creationId xmlns:a16="http://schemas.microsoft.com/office/drawing/2014/main" id="{CD6A5E1E-9C18-4817-B53B-8F31CFCD397A}"/>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What survives when decorative effects disappear?</a:t>
            </a:r>
          </a:p>
        </p:txBody>
      </p:sp>
    </p:spTree>
    <p:extLst>
      <p:ext uri="{BB962C8B-B14F-4D97-AF65-F5344CB8AC3E}">
        <p14:creationId xmlns:p14="http://schemas.microsoft.com/office/powerpoint/2010/main" val="1555436649"/>
      </p:ext>
    </p:extLst>
  </p:cSld>
</p:sld>
</file>

<file path=ppt/slides/slide5.xml><?xml version="1.0" encoding="utf-8"?>
<p:sld xmlns:p="http://schemas.openxmlformats.org/presentationml/2006/main">
  <p:cSld>
    <p:bg>
      <p:bgPr>
        <a:solidFill xmlns:a="http://schemas.openxmlformats.org/drawingml/2006/main">
          <a:srgbClr val="16333A"/>
        </a:solidFill>
      </p:bgPr>
    </p:bg>
    <p:spTree>
      <p:nvGrpSpPr>
        <p:cNvPr id="1" name=""/>
        <p:cNvGrpSpPr/>
        <p:nvPr/>
      </p:nvGrpSpPr>
      <p:grpSpPr>
        <a:xfrm xmlns:a="http://schemas.openxmlformats.org/drawingml/2006/main"/>
      </p:grpSpPr>
      <p:sp>
        <p:nvSpPr>
          <p:cNvPr id="4" name="05">
            <a:extLst xmlns:a="http://schemas.openxmlformats.org/drawingml/2006/main">
              <a:ext uri="{FF2B5EF4-FFF2-40B4-BE49-F238E27FC236}">
                <a16:creationId xmlns:a16="http://schemas.microsoft.com/office/drawing/2014/main" id="{21D28BF6-F473-4FCE-9522-A1F95342C119}"/>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4CDC9"/>
                </a:solidFill>
                <a:latin typeface="Arial"/>
                <a:ea typeface="Arial"/>
                <a:cs typeface="Arial"/>
              </a:defRPr>
            </a:pPr>
            <a:r>
              <a:rPr sz="1275" b="0">
                <a:solidFill>
                  <a:srgbClr val="B4CDC9"/>
                </a:solidFill>
                <a:latin typeface="Arial"/>
                <a:ea typeface="Arial"/>
                <a:cs typeface="Arial"/>
              </a:rPr>
              <a:t>05</a:t>
            </a:r>
          </a:p>
        </p:txBody>
      </p:sp>
      <p:sp>
        <p:nvSpPr>
          <p:cNvPr id="2" name="The visual atlas">
            <a:extLst xmlns:a="http://schemas.openxmlformats.org/drawingml/2006/main">
              <a:ext uri="{FF2B5EF4-FFF2-40B4-BE49-F238E27FC236}">
                <a16:creationId xmlns:a16="http://schemas.microsoft.com/office/drawing/2014/main" id="{E8892E59-DFC3-495D-8171-44A6EDD6A444}"/>
              </a:ext>
            </a:extLst>
          </p:cNvPr>
          <p:cNvSpPr>
            <a:spLocks xmlns:a="http://schemas.openxmlformats.org/drawingml/2006/main" noGrp="1"/>
          </p:cNvSpPr>
          <p:nvPr/>
        </p:nvSpPr>
        <p:spPr>
          <a:xfrm xmlns:a="http://schemas.openxmlformats.org/drawingml/2006/main">
            <a:off x="685800" y="1524000"/>
            <a:ext cx="9906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F5F2EA"/>
                </a:solidFill>
                <a:latin typeface="Arial"/>
                <a:ea typeface="Arial"/>
                <a:cs typeface="Arial"/>
              </a:defRPr>
            </a:pPr>
            <a:r>
              <a:rPr sz="5400" b="1">
                <a:solidFill>
                  <a:srgbClr val="F5F2EA"/>
                </a:solidFill>
                <a:latin typeface="Arial"/>
                <a:ea typeface="Arial"/>
                <a:cs typeface="Arial"/>
              </a:rPr>
              <a:t>The visual atlas</a:t>
            </a:r>
          </a:p>
        </p:txBody>
      </p:sp>
      <p:sp>
        <p:nvSpPr>
          <p:cNvPr id="3" name="Ten labels. Several kinds of design know">
            <a:extLst xmlns:a="http://schemas.openxmlformats.org/drawingml/2006/main">
              <a:ext uri="{FF2B5EF4-FFF2-40B4-BE49-F238E27FC236}">
                <a16:creationId xmlns:a16="http://schemas.microsoft.com/office/drawing/2014/main" id="{B2E3FAD9-EB6A-4902-BF7A-4E9B65AC7C17}"/>
              </a:ext>
            </a:extLst>
          </p:cNvPr>
          <p:cNvSpPr>
            <a:spLocks xmlns:a="http://schemas.openxmlformats.org/drawingml/2006/main" noGrp="1"/>
          </p:cNvSpPr>
          <p:nvPr/>
        </p:nvSpPr>
        <p:spPr>
          <a:xfrm xmlns:a="http://schemas.openxmlformats.org/drawingml/2006/main">
            <a:off x="723900" y="4333875"/>
            <a:ext cx="971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4CDC9"/>
                </a:solidFill>
                <a:latin typeface="Arial"/>
                <a:ea typeface="Arial"/>
                <a:cs typeface="Arial"/>
              </a:defRPr>
            </a:pPr>
            <a:r>
              <a:rPr sz="2400" b="0">
                <a:solidFill>
                  <a:srgbClr val="B4CDC9"/>
                </a:solidFill>
                <a:latin typeface="Arial"/>
                <a:ea typeface="Arial"/>
                <a:cs typeface="Arial"/>
              </a:rPr>
              <a:t>Ten labels. Several kinds of design knowledge.</a:t>
            </a:r>
          </a:p>
        </p:txBody>
      </p:sp>
    </p:spTree>
    <p:extLst>
      <p:ext uri="{BB962C8B-B14F-4D97-AF65-F5344CB8AC3E}">
        <p14:creationId xmlns:p14="http://schemas.microsoft.com/office/powerpoint/2010/main" val="743173173"/>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06">
            <a:extLst xmlns:a="http://schemas.openxmlformats.org/drawingml/2006/main">
              <a:ext uri="{FF2B5EF4-FFF2-40B4-BE49-F238E27FC236}">
                <a16:creationId xmlns:a16="http://schemas.microsoft.com/office/drawing/2014/main" id="{4C28A1EA-4AF5-41E7-9E0B-61744B9CD839}"/>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06</a:t>
            </a:r>
          </a:p>
        </p:txBody>
      </p:sp>
      <p:sp>
        <p:nvSpPr>
          <p:cNvPr id="2" name="The names describe different things">
            <a:extLst xmlns:a="http://schemas.openxmlformats.org/drawingml/2006/main">
              <a:ext uri="{FF2B5EF4-FFF2-40B4-BE49-F238E27FC236}">
                <a16:creationId xmlns:a16="http://schemas.microsoft.com/office/drawing/2014/main" id="{7B574633-43AD-4530-B6D3-5CE43E852F07}"/>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The names describe different things</a:t>
            </a:r>
          </a:p>
        </p:txBody>
      </p:sp>
      <p:sp>
        <p:nvSpPr>
          <p:cNvPr id="3" name="Risograph names a printing technology.">
            <a:extLst xmlns:a="http://schemas.openxmlformats.org/drawingml/2006/main">
              <a:ext uri="{FF2B5EF4-FFF2-40B4-BE49-F238E27FC236}">
                <a16:creationId xmlns:a16="http://schemas.microsoft.com/office/drawing/2014/main" id="{DE6218D7-EF1F-4BD8-A73F-3B9ADB73B132}"/>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Risograph names a printing technology.</a:t>
            </a:r>
          </a:p>
        </p:txBody>
      </p:sp>
      <p:sp>
        <p:nvSpPr>
          <p:cNvPr id="4" name="Gzhel names a regional ceramic tradition">
            <a:extLst xmlns:a="http://schemas.openxmlformats.org/drawingml/2006/main">
              <a:ext uri="{FF2B5EF4-FFF2-40B4-BE49-F238E27FC236}">
                <a16:creationId xmlns:a16="http://schemas.microsoft.com/office/drawing/2014/main" id="{3FDEA8A7-0CCF-4CB2-B439-E2229B905AE1}"/>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Gzhel names a regional ceramic tradition.</a:t>
            </a:r>
          </a:p>
        </p:txBody>
      </p:sp>
      <p:sp>
        <p:nvSpPr>
          <p:cNvPr id="5" name="Austurbane is an attributed contemporary">
            <a:extLst xmlns:a="http://schemas.openxmlformats.org/drawingml/2006/main">
              <a:ext uri="{FF2B5EF4-FFF2-40B4-BE49-F238E27FC236}">
                <a16:creationId xmlns:a16="http://schemas.microsoft.com/office/drawing/2014/main" id="{764BA92C-77AF-4FF7-A896-71D15BEC7256}"/>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Austurbane is an attributed contemporary classification.</a:t>
            </a:r>
          </a:p>
        </p:txBody>
      </p:sp>
      <p:sp>
        <p:nvSpPr>
          <p:cNvPr id="6" name="Other labels describe visual impressions">
            <a:extLst xmlns:a="http://schemas.openxmlformats.org/drawingml/2006/main">
              <a:ext uri="{FF2B5EF4-FFF2-40B4-BE49-F238E27FC236}">
                <a16:creationId xmlns:a16="http://schemas.microsoft.com/office/drawing/2014/main" id="{ED6CCBFC-C0EA-472C-B76A-D9C4340224EB}"/>
              </a:ext>
            </a:extLst>
          </p:cNvPr>
          <p:cNvSpPr>
            <a:spLocks xmlns:a="http://schemas.openxmlformats.org/drawingml/2006/main" noGrp="1"/>
          </p:cNvSpPr>
          <p:nvPr/>
        </p:nvSpPr>
        <p:spPr>
          <a:xfrm xmlns:a="http://schemas.openxmlformats.org/drawingml/2006/main">
            <a:off x="609600" y="51244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Other labels describe visual impressions or informal hybrids.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2461b63d34d453b"/>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8" name="Visual: supplied reference screenshot">
            <a:extLst xmlns:a="http://schemas.openxmlformats.org/drawingml/2006/main">
              <a:ext uri="{FF2B5EF4-FFF2-40B4-BE49-F238E27FC236}">
                <a16:creationId xmlns:a16="http://schemas.microsoft.com/office/drawing/2014/main" id="{E629E3D3-37AD-4617-B314-6B3DEB645775}"/>
              </a:ext>
            </a:extLst>
          </p:cNvPr>
          <p:cNvSpPr>
            <a:spLocks xmlns:a="http://schemas.openxmlformats.org/drawingml/2006/main" noGrp="1"/>
          </p:cNvSpPr>
          <p:nvPr/>
        </p:nvSpPr>
        <p:spPr>
          <a:xfrm xmlns:a="http://schemas.openxmlformats.org/drawingml/2006/main">
            <a:off x="8048625" y="5905500"/>
            <a:ext cx="3286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2676B"/>
                </a:solidFill>
                <a:latin typeface="Arial"/>
                <a:ea typeface="Arial"/>
                <a:cs typeface="Arial"/>
              </a:defRPr>
            </a:pPr>
            <a:r>
              <a:rPr sz="975" b="0">
                <a:solidFill>
                  <a:srgbClr val="52676B"/>
                </a:solidFill>
                <a:latin typeface="Arial"/>
                <a:ea typeface="Arial"/>
                <a:cs typeface="Arial"/>
              </a:rPr>
              <a:t>Visual: supplied reference screenshot</a:t>
            </a:r>
          </a:p>
        </p:txBody>
      </p:sp>
      <p:sp>
        <p:nvSpPr>
          <p:cNvPr id="9" name="Related research: tiktok.com">
            <a:extLst xmlns:a="http://schemas.openxmlformats.org/drawingml/2006/main">
              <a:ext uri="{FF2B5EF4-FFF2-40B4-BE49-F238E27FC236}">
                <a16:creationId xmlns:a16="http://schemas.microsoft.com/office/drawing/2014/main" id="{252B912B-4DB4-4D26-811F-B22F47377C76}"/>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211c2e301e3349ff"/>
              </a:rPr>
              <a:t>Related research: tiktok.com</a:t>
            </a:r>
          </a:p>
        </p:txBody>
      </p:sp>
    </p:spTree>
    <p:extLst>
      <p:ext uri="{BB962C8B-B14F-4D97-AF65-F5344CB8AC3E}">
        <p14:creationId xmlns:p14="http://schemas.microsoft.com/office/powerpoint/2010/main" val="902703241"/>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07">
            <a:extLst xmlns:a="http://schemas.openxmlformats.org/drawingml/2006/main">
              <a:ext uri="{FF2B5EF4-FFF2-40B4-BE49-F238E27FC236}">
                <a16:creationId xmlns:a16="http://schemas.microsoft.com/office/drawing/2014/main" id="{0A769479-4C13-4B21-BFEA-C0BB53B663F8}"/>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07</a:t>
            </a:r>
          </a:p>
        </p:txBody>
      </p:sp>
      <p:sp>
        <p:nvSpPr>
          <p:cNvPr id="2" name="Risograph">
            <a:extLst xmlns:a="http://schemas.openxmlformats.org/drawingml/2006/main">
              <a:ext uri="{FF2B5EF4-FFF2-40B4-BE49-F238E27FC236}">
                <a16:creationId xmlns:a16="http://schemas.microsoft.com/office/drawing/2014/main" id="{AD95AF21-AB7C-4695-9A1E-B8FB1D7D903B}"/>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Risograph</a:t>
            </a:r>
          </a:p>
        </p:txBody>
      </p:sp>
      <p:sp>
        <p:nvSpPr>
          <p:cNvPr id="3" name="Separated spot colors create a layered c">
            <a:extLst xmlns:a="http://schemas.openxmlformats.org/drawingml/2006/main">
              <a:ext uri="{FF2B5EF4-FFF2-40B4-BE49-F238E27FC236}">
                <a16:creationId xmlns:a16="http://schemas.microsoft.com/office/drawing/2014/main" id="{DF4B64BB-4510-4B77-A6F5-FAAB0CE21AC0}"/>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Separated spot colors create a layered composition.</a:t>
            </a:r>
          </a:p>
        </p:txBody>
      </p:sp>
      <p:sp>
        <p:nvSpPr>
          <p:cNvPr id="4" name="Transparent overlaps introduce additiona">
            <a:extLst xmlns:a="http://schemas.openxmlformats.org/drawingml/2006/main">
              <a:ext uri="{FF2B5EF4-FFF2-40B4-BE49-F238E27FC236}">
                <a16:creationId xmlns:a16="http://schemas.microsoft.com/office/drawing/2014/main" id="{E150C677-2A89-41FB-B305-0BA318243D02}"/>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Transparent overlaps introduce additional color relationships.</a:t>
            </a:r>
          </a:p>
        </p:txBody>
      </p:sp>
      <p:sp>
        <p:nvSpPr>
          <p:cNvPr id="5" name="Texture can coexist with precise informa">
            <a:extLst xmlns:a="http://schemas.openxmlformats.org/drawingml/2006/main">
              <a:ext uri="{FF2B5EF4-FFF2-40B4-BE49-F238E27FC236}">
                <a16:creationId xmlns:a16="http://schemas.microsoft.com/office/drawing/2014/main" id="{41EA9F4B-C8A8-48E5-805D-7E9EFE620139}"/>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Texture can coexist with precise information.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bb914843afd44eb"/>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Visual: supplied reference screenshot">
            <a:extLst xmlns:a="http://schemas.openxmlformats.org/drawingml/2006/main">
              <a:ext uri="{FF2B5EF4-FFF2-40B4-BE49-F238E27FC236}">
                <a16:creationId xmlns:a16="http://schemas.microsoft.com/office/drawing/2014/main" id="{6B2AFE84-201F-4152-B764-07A5BF49A885}"/>
              </a:ext>
            </a:extLst>
          </p:cNvPr>
          <p:cNvSpPr>
            <a:spLocks xmlns:a="http://schemas.openxmlformats.org/drawingml/2006/main" noGrp="1"/>
          </p:cNvSpPr>
          <p:nvPr/>
        </p:nvSpPr>
        <p:spPr>
          <a:xfrm xmlns:a="http://schemas.openxmlformats.org/drawingml/2006/main">
            <a:off x="8048625" y="5905500"/>
            <a:ext cx="3286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2676B"/>
                </a:solidFill>
                <a:latin typeface="Arial"/>
                <a:ea typeface="Arial"/>
                <a:cs typeface="Arial"/>
              </a:defRPr>
            </a:pPr>
            <a:r>
              <a:rPr sz="975" b="0">
                <a:solidFill>
                  <a:srgbClr val="52676B"/>
                </a:solidFill>
                <a:latin typeface="Arial"/>
                <a:ea typeface="Arial"/>
                <a:cs typeface="Arial"/>
              </a:rPr>
              <a:t>Visual: supplied reference screenshot</a:t>
            </a:r>
          </a:p>
        </p:txBody>
      </p:sp>
      <p:sp>
        <p:nvSpPr>
          <p:cNvPr id="8" name="Related research: pagemasters.co">
            <a:extLst xmlns:a="http://schemas.openxmlformats.org/drawingml/2006/main">
              <a:ext uri="{FF2B5EF4-FFF2-40B4-BE49-F238E27FC236}">
                <a16:creationId xmlns:a16="http://schemas.microsoft.com/office/drawing/2014/main" id="{61A15871-BAA5-4C85-97CF-4B8CB18E6549}"/>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757cb46ed5fe4b9b"/>
              </a:rPr>
              <a:t>Related research: pagemasters.co</a:t>
            </a:r>
          </a:p>
        </p:txBody>
      </p:sp>
      <p:sp>
        <p:nvSpPr>
          <p:cNvPr id="9" name="Related source: risottostudio.com">
            <a:extLst xmlns:a="http://schemas.openxmlformats.org/drawingml/2006/main">
              <a:ext uri="{FF2B5EF4-FFF2-40B4-BE49-F238E27FC236}">
                <a16:creationId xmlns:a16="http://schemas.microsoft.com/office/drawing/2014/main" id="{2F9D1E40-0AB7-4528-A49A-4FAC652A0006}"/>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16e4596e6d6b445c"/>
              </a:rPr>
              <a:t>Related source: risottostudio.com</a:t>
            </a:r>
          </a:p>
        </p:txBody>
      </p:sp>
    </p:spTree>
    <p:extLst>
      <p:ext uri="{BB962C8B-B14F-4D97-AF65-F5344CB8AC3E}">
        <p14:creationId xmlns:p14="http://schemas.microsoft.com/office/powerpoint/2010/main" val="2053351366"/>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08">
            <a:extLst xmlns:a="http://schemas.openxmlformats.org/drawingml/2006/main">
              <a:ext uri="{FF2B5EF4-FFF2-40B4-BE49-F238E27FC236}">
                <a16:creationId xmlns:a16="http://schemas.microsoft.com/office/drawing/2014/main" id="{9EDBBF9C-24A8-40B2-9C7F-105A5901FA9E}"/>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08</a:t>
            </a:r>
          </a:p>
        </p:txBody>
      </p:sp>
      <p:sp>
        <p:nvSpPr>
          <p:cNvPr id="2" name="Claymorphism">
            <a:extLst xmlns:a="http://schemas.openxmlformats.org/drawingml/2006/main">
              <a:ext uri="{FF2B5EF4-FFF2-40B4-BE49-F238E27FC236}">
                <a16:creationId xmlns:a16="http://schemas.microsoft.com/office/drawing/2014/main" id="{F0AC5E02-0798-41C2-93A2-4C530E8D81FF}"/>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Claymorphism</a:t>
            </a:r>
          </a:p>
        </p:txBody>
      </p:sp>
      <p:sp>
        <p:nvSpPr>
          <p:cNvPr id="3" name="Rounded edges and coordinated light sugg">
            <a:extLst xmlns:a="http://schemas.openxmlformats.org/drawingml/2006/main">
              <a:ext uri="{FF2B5EF4-FFF2-40B4-BE49-F238E27FC236}">
                <a16:creationId xmlns:a16="http://schemas.microsoft.com/office/drawing/2014/main" id="{5747D26F-D616-4CF6-9141-AB631755C93A}"/>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Rounded edges and coordinated light suggest touch.</a:t>
            </a:r>
          </a:p>
        </p:txBody>
      </p:sp>
      <p:sp>
        <p:nvSpPr>
          <p:cNvPr id="4" name="The reference combines fins, folds and g">
            <a:extLst xmlns:a="http://schemas.openxmlformats.org/drawingml/2006/main">
              <a:ext uri="{FF2B5EF4-FFF2-40B4-BE49-F238E27FC236}">
                <a16:creationId xmlns:a16="http://schemas.microsoft.com/office/drawing/2014/main" id="{F7CC7946-74C4-464F-BC25-E16AF101C279}"/>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The reference combines fins, folds and glossy volumes.</a:t>
            </a:r>
          </a:p>
        </p:txBody>
      </p:sp>
      <p:sp>
        <p:nvSpPr>
          <p:cNvPr id="5" name="A consistent material can connect differ">
            <a:extLst xmlns:a="http://schemas.openxmlformats.org/drawingml/2006/main">
              <a:ext uri="{FF2B5EF4-FFF2-40B4-BE49-F238E27FC236}">
                <a16:creationId xmlns:a16="http://schemas.microsoft.com/office/drawing/2014/main" id="{C25CB523-C6E9-4D74-AD81-B7E803232C27}"/>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A consistent material can connect different ideas.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01bcbd1939b4e74"/>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Visual: supplied reference screenshot">
            <a:extLst xmlns:a="http://schemas.openxmlformats.org/drawingml/2006/main">
              <a:ext uri="{FF2B5EF4-FFF2-40B4-BE49-F238E27FC236}">
                <a16:creationId xmlns:a16="http://schemas.microsoft.com/office/drawing/2014/main" id="{11DF41FB-38B5-4E74-BD2B-0327C6EB6DD3}"/>
              </a:ext>
            </a:extLst>
          </p:cNvPr>
          <p:cNvSpPr>
            <a:spLocks xmlns:a="http://schemas.openxmlformats.org/drawingml/2006/main" noGrp="1"/>
          </p:cNvSpPr>
          <p:nvPr/>
        </p:nvSpPr>
        <p:spPr>
          <a:xfrm xmlns:a="http://schemas.openxmlformats.org/drawingml/2006/main">
            <a:off x="8048625" y="5905500"/>
            <a:ext cx="3286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2676B"/>
                </a:solidFill>
                <a:latin typeface="Arial"/>
                <a:ea typeface="Arial"/>
                <a:cs typeface="Arial"/>
              </a:defRPr>
            </a:pPr>
            <a:r>
              <a:rPr sz="975" b="0">
                <a:solidFill>
                  <a:srgbClr val="52676B"/>
                </a:solidFill>
                <a:latin typeface="Arial"/>
                <a:ea typeface="Arial"/>
                <a:cs typeface="Arial"/>
              </a:rPr>
              <a:t>Visual: supplied reference screenshot</a:t>
            </a:r>
          </a:p>
        </p:txBody>
      </p:sp>
      <p:sp>
        <p:nvSpPr>
          <p:cNvPr id="8" name="Related research: behance.net">
            <a:extLst xmlns:a="http://schemas.openxmlformats.org/drawingml/2006/main">
              <a:ext uri="{FF2B5EF4-FFF2-40B4-BE49-F238E27FC236}">
                <a16:creationId xmlns:a16="http://schemas.microsoft.com/office/drawing/2014/main" id="{571B63DB-F9D6-4B9C-9242-B1404C8E92C1}"/>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d590136ceb214b7e"/>
              </a:rPr>
              <a:t>Related research: behance.net</a:t>
            </a:r>
          </a:p>
        </p:txBody>
      </p:sp>
      <p:sp>
        <p:nvSpPr>
          <p:cNvPr id="9" name="Related source: microsoft.design">
            <a:extLst xmlns:a="http://schemas.openxmlformats.org/drawingml/2006/main">
              <a:ext uri="{FF2B5EF4-FFF2-40B4-BE49-F238E27FC236}">
                <a16:creationId xmlns:a16="http://schemas.microsoft.com/office/drawing/2014/main" id="{9C0162B5-8C53-42D7-9DBC-502EAC7D95A5}"/>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b271244468104980"/>
              </a:rPr>
              <a:t>Related source: microsoft.design</a:t>
            </a:r>
          </a:p>
        </p:txBody>
      </p:sp>
    </p:spTree>
    <p:extLst>
      <p:ext uri="{BB962C8B-B14F-4D97-AF65-F5344CB8AC3E}">
        <p14:creationId xmlns:p14="http://schemas.microsoft.com/office/powerpoint/2010/main" val="1207245328"/>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09">
            <a:extLst xmlns:a="http://schemas.openxmlformats.org/drawingml/2006/main">
              <a:ext uri="{FF2B5EF4-FFF2-40B4-BE49-F238E27FC236}">
                <a16:creationId xmlns:a16="http://schemas.microsoft.com/office/drawing/2014/main" id="{6F053C3E-E774-462B-86A7-CC84FB8E2073}"/>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09</a:t>
            </a:r>
          </a:p>
        </p:txBody>
      </p:sp>
      <p:sp>
        <p:nvSpPr>
          <p:cNvPr id="2" name="Organic Tech">
            <a:extLst xmlns:a="http://schemas.openxmlformats.org/drawingml/2006/main">
              <a:ext uri="{FF2B5EF4-FFF2-40B4-BE49-F238E27FC236}">
                <a16:creationId xmlns:a16="http://schemas.microsoft.com/office/drawing/2014/main" id="{37C12D26-6BBD-4D62-AECB-8D8AB692BBD6}"/>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Organic Tech</a:t>
            </a:r>
          </a:p>
        </p:txBody>
      </p:sp>
      <p:sp>
        <p:nvSpPr>
          <p:cNvPr id="3" name="Porous, tufted forms surround a plain in">
            <a:extLst xmlns:a="http://schemas.openxmlformats.org/drawingml/2006/main">
              <a:ext uri="{FF2B5EF4-FFF2-40B4-BE49-F238E27FC236}">
                <a16:creationId xmlns:a16="http://schemas.microsoft.com/office/drawing/2014/main" id="{709DB170-C609-48C6-8F9D-BFAA5ACE867D}"/>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Porous, tufted forms surround a plain information card.</a:t>
            </a:r>
          </a:p>
        </p:txBody>
      </p:sp>
      <p:sp>
        <p:nvSpPr>
          <p:cNvPr id="4" name="Biological complexity contrasts with pre">
            <a:extLst xmlns:a="http://schemas.openxmlformats.org/drawingml/2006/main">
              <a:ext uri="{FF2B5EF4-FFF2-40B4-BE49-F238E27FC236}">
                <a16:creationId xmlns:a16="http://schemas.microsoft.com/office/drawing/2014/main" id="{C213A1DC-F496-4C3D-8FAB-A535ED1F7A9F}"/>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Biological complexity contrasts with precise typography.</a:t>
            </a:r>
          </a:p>
        </p:txBody>
      </p:sp>
      <p:sp>
        <p:nvSpPr>
          <p:cNvPr id="5" name="The subject should connect to a real ide">
            <a:extLst xmlns:a="http://schemas.openxmlformats.org/drawingml/2006/main">
              <a:ext uri="{FF2B5EF4-FFF2-40B4-BE49-F238E27FC236}">
                <a16:creationId xmlns:a16="http://schemas.microsoft.com/office/drawing/2014/main" id="{E410D941-0193-4D64-975B-BA4948A51CAE}"/>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The subject should connect to a real idea.</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03207b9d91f4fde"/>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Visual: supplied reference screenshot">
            <a:extLst xmlns:a="http://schemas.openxmlformats.org/drawingml/2006/main">
              <a:ext uri="{FF2B5EF4-FFF2-40B4-BE49-F238E27FC236}">
                <a16:creationId xmlns:a16="http://schemas.microsoft.com/office/drawing/2014/main" id="{B167BBE6-2EF4-4CC7-A631-E387E233F752}"/>
              </a:ext>
            </a:extLst>
          </p:cNvPr>
          <p:cNvSpPr>
            <a:spLocks xmlns:a="http://schemas.openxmlformats.org/drawingml/2006/main" noGrp="1"/>
          </p:cNvSpPr>
          <p:nvPr/>
        </p:nvSpPr>
        <p:spPr>
          <a:xfrm xmlns:a="http://schemas.openxmlformats.org/drawingml/2006/main">
            <a:off x="8048625" y="5905500"/>
            <a:ext cx="3286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2676B"/>
                </a:solidFill>
                <a:latin typeface="Arial"/>
                <a:ea typeface="Arial"/>
                <a:cs typeface="Arial"/>
              </a:defRPr>
            </a:pPr>
            <a:r>
              <a:rPr sz="975" b="0">
                <a:solidFill>
                  <a:srgbClr val="52676B"/>
                </a:solidFill>
                <a:latin typeface="Arial"/>
                <a:ea typeface="Arial"/>
                <a:cs typeface="Arial"/>
              </a:rPr>
              <a:t>Visual: supplied reference screenshot</a:t>
            </a:r>
          </a:p>
        </p:txBody>
      </p:sp>
      <p:sp>
        <p:nvSpPr>
          <p:cNvPr id="8" name="Related research: agencecartier.com">
            <a:extLst xmlns:a="http://schemas.openxmlformats.org/drawingml/2006/main">
              <a:ext uri="{FF2B5EF4-FFF2-40B4-BE49-F238E27FC236}">
                <a16:creationId xmlns:a16="http://schemas.microsoft.com/office/drawing/2014/main" id="{D6A48567-EF9E-4FED-A15B-B3439C2FD32B}"/>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a7e783e91fe94265"/>
              </a:rPr>
              <a:t>Related research: agencecartier.com</a:t>
            </a:r>
          </a:p>
        </p:txBody>
      </p:sp>
    </p:spTree>
    <p:extLst>
      <p:ext uri="{BB962C8B-B14F-4D97-AF65-F5344CB8AC3E}">
        <p14:creationId xmlns:p14="http://schemas.microsoft.com/office/powerpoint/2010/main" val="820887066"/>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10">
            <a:extLst xmlns:a="http://schemas.openxmlformats.org/drawingml/2006/main">
              <a:ext uri="{FF2B5EF4-FFF2-40B4-BE49-F238E27FC236}">
                <a16:creationId xmlns:a16="http://schemas.microsoft.com/office/drawing/2014/main" id="{F66B60A3-EA84-4DBB-BA05-3F0D4CF77B5B}"/>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10</a:t>
            </a:r>
          </a:p>
        </p:txBody>
      </p:sp>
      <p:sp>
        <p:nvSpPr>
          <p:cNvPr id="2" name="Dirty Gradients">
            <a:extLst xmlns:a="http://schemas.openxmlformats.org/drawingml/2006/main">
              <a:ext uri="{FF2B5EF4-FFF2-40B4-BE49-F238E27FC236}">
                <a16:creationId xmlns:a16="http://schemas.microsoft.com/office/drawing/2014/main" id="{FF3DA1E7-C819-4D37-83EF-32C3163382F5}"/>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Dirty Gradients</a:t>
            </a:r>
          </a:p>
        </p:txBody>
      </p:sp>
      <p:sp>
        <p:nvSpPr>
          <p:cNvPr id="3" name="Broad color transitions create atmospher">
            <a:extLst xmlns:a="http://schemas.openxmlformats.org/drawingml/2006/main">
              <a:ext uri="{FF2B5EF4-FFF2-40B4-BE49-F238E27FC236}">
                <a16:creationId xmlns:a16="http://schemas.microsoft.com/office/drawing/2014/main" id="{89D8248F-A4CE-4AB1-8698-721A4A26AFF1}"/>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Broad color transitions create atmosphere.</a:t>
            </a:r>
          </a:p>
        </p:txBody>
      </p:sp>
      <p:sp>
        <p:nvSpPr>
          <p:cNvPr id="4" name="Muted mixing and irregular texture chang">
            <a:extLst xmlns:a="http://schemas.openxmlformats.org/drawingml/2006/main">
              <a:ext uri="{FF2B5EF4-FFF2-40B4-BE49-F238E27FC236}">
                <a16:creationId xmlns:a16="http://schemas.microsoft.com/office/drawing/2014/main" id="{60B13F7C-327F-4956-8567-8ABD89A902DC}"/>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Muted mixing and irregular texture change the surface.</a:t>
            </a:r>
          </a:p>
        </p:txBody>
      </p:sp>
      <p:sp>
        <p:nvSpPr>
          <p:cNvPr id="5" name="A quiet region helps the words retain pr">
            <a:extLst xmlns:a="http://schemas.openxmlformats.org/drawingml/2006/main">
              <a:ext uri="{FF2B5EF4-FFF2-40B4-BE49-F238E27FC236}">
                <a16:creationId xmlns:a16="http://schemas.microsoft.com/office/drawing/2014/main" id="{D631A8D2-5C1E-4932-A370-72A53640DAD8}"/>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A quiet region helps the words retain priority.</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18208a1f04048c0"/>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Visual: supplied reference screenshot">
            <a:extLst xmlns:a="http://schemas.openxmlformats.org/drawingml/2006/main">
              <a:ext uri="{FF2B5EF4-FFF2-40B4-BE49-F238E27FC236}">
                <a16:creationId xmlns:a16="http://schemas.microsoft.com/office/drawing/2014/main" id="{74D9DFE8-83CA-410F-8682-2631E67C277F}"/>
              </a:ext>
            </a:extLst>
          </p:cNvPr>
          <p:cNvSpPr>
            <a:spLocks xmlns:a="http://schemas.openxmlformats.org/drawingml/2006/main" noGrp="1"/>
          </p:cNvSpPr>
          <p:nvPr/>
        </p:nvSpPr>
        <p:spPr>
          <a:xfrm xmlns:a="http://schemas.openxmlformats.org/drawingml/2006/main">
            <a:off x="8048625" y="5905500"/>
            <a:ext cx="3286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2676B"/>
                </a:solidFill>
                <a:latin typeface="Arial"/>
                <a:ea typeface="Arial"/>
                <a:cs typeface="Arial"/>
              </a:defRPr>
            </a:pPr>
            <a:r>
              <a:rPr sz="975" b="0">
                <a:solidFill>
                  <a:srgbClr val="52676B"/>
                </a:solidFill>
                <a:latin typeface="Arial"/>
                <a:ea typeface="Arial"/>
                <a:cs typeface="Arial"/>
              </a:rPr>
              <a:t>Visual: supplied reference screenshot</a:t>
            </a:r>
          </a:p>
        </p:txBody>
      </p:sp>
      <p:sp>
        <p:nvSpPr>
          <p:cNvPr id="8" name="Related research: pentagram.com">
            <a:extLst xmlns:a="http://schemas.openxmlformats.org/drawingml/2006/main">
              <a:ext uri="{FF2B5EF4-FFF2-40B4-BE49-F238E27FC236}">
                <a16:creationId xmlns:a16="http://schemas.microsoft.com/office/drawing/2014/main" id="{A6C720C5-8DB9-4AA7-ADF6-3A640972FB6F}"/>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a96a3ff24a864b95"/>
              </a:rPr>
              <a:t>Related research: pentagram.com</a:t>
            </a:r>
          </a:p>
        </p:txBody>
      </p:sp>
    </p:spTree>
    <p:extLst>
      <p:ext uri="{BB962C8B-B14F-4D97-AF65-F5344CB8AC3E}">
        <p14:creationId xmlns:p14="http://schemas.microsoft.com/office/powerpoint/2010/main" val="1424516423"/>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11">
            <a:extLst xmlns:a="http://schemas.openxmlformats.org/drawingml/2006/main">
              <a:ext uri="{FF2B5EF4-FFF2-40B4-BE49-F238E27FC236}">
                <a16:creationId xmlns:a16="http://schemas.microsoft.com/office/drawing/2014/main" id="{DC6847AA-E8C7-49DE-B09B-EBDDC3FF6358}"/>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11</a:t>
            </a:r>
          </a:p>
        </p:txBody>
      </p:sp>
      <p:sp>
        <p:nvSpPr>
          <p:cNvPr id="2" name="Austurbane">
            <a:extLst xmlns:a="http://schemas.openxmlformats.org/drawingml/2006/main">
              <a:ext uri="{FF2B5EF4-FFF2-40B4-BE49-F238E27FC236}">
                <a16:creationId xmlns:a16="http://schemas.microsoft.com/office/drawing/2014/main" id="{321C8C98-A89A-4B15-9FDE-227567EBF483}"/>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Austurbane</a:t>
            </a:r>
          </a:p>
        </p:txBody>
      </p:sp>
      <p:sp>
        <p:nvSpPr>
          <p:cNvPr id="3" name="Restrained color and fine serif titles s">
            <a:extLst xmlns:a="http://schemas.openxmlformats.org/drawingml/2006/main">
              <a:ext uri="{FF2B5EF4-FFF2-40B4-BE49-F238E27FC236}">
                <a16:creationId xmlns:a16="http://schemas.microsoft.com/office/drawing/2014/main" id="{CA7FBB3C-8EA4-438D-9601-716D361D7067}"/>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Restrained color and fine serif titles set a quiet rhythm.</a:t>
            </a:r>
          </a:p>
        </p:txBody>
      </p:sp>
      <p:sp>
        <p:nvSpPr>
          <p:cNvPr id="4" name="Overlapping objects create depth and dir">
            <a:extLst xmlns:a="http://schemas.openxmlformats.org/drawingml/2006/main">
              <a:ext uri="{FF2B5EF4-FFF2-40B4-BE49-F238E27FC236}">
                <a16:creationId xmlns:a16="http://schemas.microsoft.com/office/drawing/2014/main" id="{0CF2D5F3-25D6-43F8-AE78-51B9294C1E34}"/>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Overlapping objects create depth and directional tension.</a:t>
            </a:r>
          </a:p>
        </p:txBody>
      </p:sp>
      <p:sp>
        <p:nvSpPr>
          <p:cNvPr id="5" name="Lighting and materials contribute as muc">
            <a:extLst xmlns:a="http://schemas.openxmlformats.org/drawingml/2006/main">
              <a:ext uri="{FF2B5EF4-FFF2-40B4-BE49-F238E27FC236}">
                <a16:creationId xmlns:a16="http://schemas.microsoft.com/office/drawing/2014/main" id="{BCD90956-DCAC-4AB2-8BDD-853D34C8B00A}"/>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Lighting and materials contribute as much as palette.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3c14c24fe3748be"/>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Visual: supplied reference screenshot">
            <a:extLst xmlns:a="http://schemas.openxmlformats.org/drawingml/2006/main">
              <a:ext uri="{FF2B5EF4-FFF2-40B4-BE49-F238E27FC236}">
                <a16:creationId xmlns:a16="http://schemas.microsoft.com/office/drawing/2014/main" id="{7CE1403D-F97E-4DF3-A516-2EDFE96998E1}"/>
              </a:ext>
            </a:extLst>
          </p:cNvPr>
          <p:cNvSpPr>
            <a:spLocks xmlns:a="http://schemas.openxmlformats.org/drawingml/2006/main" noGrp="1"/>
          </p:cNvSpPr>
          <p:nvPr/>
        </p:nvSpPr>
        <p:spPr>
          <a:xfrm xmlns:a="http://schemas.openxmlformats.org/drawingml/2006/main">
            <a:off x="8048625" y="5905500"/>
            <a:ext cx="3286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2676B"/>
                </a:solidFill>
                <a:latin typeface="Arial"/>
                <a:ea typeface="Arial"/>
                <a:cs typeface="Arial"/>
              </a:defRPr>
            </a:pPr>
            <a:r>
              <a:rPr sz="975" b="0">
                <a:solidFill>
                  <a:srgbClr val="52676B"/>
                </a:solidFill>
                <a:latin typeface="Arial"/>
                <a:ea typeface="Arial"/>
                <a:cs typeface="Arial"/>
              </a:rPr>
              <a:t>Visual: supplied reference screenshot</a:t>
            </a:r>
          </a:p>
        </p:txBody>
      </p:sp>
      <p:sp>
        <p:nvSpPr>
          <p:cNvPr id="8" name="Related research: cari.institute">
            <a:extLst xmlns:a="http://schemas.openxmlformats.org/drawingml/2006/main">
              <a:ext uri="{FF2B5EF4-FFF2-40B4-BE49-F238E27FC236}">
                <a16:creationId xmlns:a16="http://schemas.microsoft.com/office/drawing/2014/main" id="{29973DD6-2550-48D8-8DCB-EA4C853D384C}"/>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b6cbe1a1fd304083"/>
              </a:rPr>
              <a:t>Related research: cari.institute</a:t>
            </a:r>
          </a:p>
        </p:txBody>
      </p:sp>
    </p:spTree>
    <p:extLst>
      <p:ext uri="{BB962C8B-B14F-4D97-AF65-F5344CB8AC3E}">
        <p14:creationId xmlns:p14="http://schemas.microsoft.com/office/powerpoint/2010/main" val="591630478"/>
      </p:ext>
    </p:extLst>
  </p:cSld>
</p:sld>
</file>

<file path=ppt/slides/slide1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12">
            <a:extLst xmlns:a="http://schemas.openxmlformats.org/drawingml/2006/main">
              <a:ext uri="{FF2B5EF4-FFF2-40B4-BE49-F238E27FC236}">
                <a16:creationId xmlns:a16="http://schemas.microsoft.com/office/drawing/2014/main" id="{AADDC8E2-7803-4A5D-868D-7D16A7564477}"/>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12</a:t>
            </a:r>
          </a:p>
        </p:txBody>
      </p:sp>
      <p:sp>
        <p:nvSpPr>
          <p:cNvPr id="2" name="Clean Girl Brutalism">
            <a:extLst xmlns:a="http://schemas.openxmlformats.org/drawingml/2006/main">
              <a:ext uri="{FF2B5EF4-FFF2-40B4-BE49-F238E27FC236}">
                <a16:creationId xmlns:a16="http://schemas.microsoft.com/office/drawing/2014/main" id="{0BD93267-514D-4FBF-9F90-7E92A6F4566C}"/>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Clean Girl Brutalism</a:t>
            </a:r>
          </a:p>
        </p:txBody>
      </p:sp>
      <p:sp>
        <p:nvSpPr>
          <p:cNvPr id="3" name="A heavy title anchors the upper edge.">
            <a:extLst xmlns:a="http://schemas.openxmlformats.org/drawingml/2006/main">
              <a:ext uri="{FF2B5EF4-FFF2-40B4-BE49-F238E27FC236}">
                <a16:creationId xmlns:a16="http://schemas.microsoft.com/office/drawing/2014/main" id="{D9462A8B-0CCB-47B8-A21E-0ADB920E0846}"/>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A heavy title anchors the upper edge.</a:t>
            </a:r>
          </a:p>
        </p:txBody>
      </p:sp>
      <p:sp>
        <p:nvSpPr>
          <p:cNvPr id="4" name="A large quiet field separates it from co">
            <a:extLst xmlns:a="http://schemas.openxmlformats.org/drawingml/2006/main">
              <a:ext uri="{FF2B5EF4-FFF2-40B4-BE49-F238E27FC236}">
                <a16:creationId xmlns:a16="http://schemas.microsoft.com/office/drawing/2014/main" id="{F648607A-35F3-4EFF-9A22-92A35E3F0E44}"/>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A large quiet field separates it from compact information.</a:t>
            </a:r>
          </a:p>
        </p:txBody>
      </p:sp>
      <p:sp>
        <p:nvSpPr>
          <p:cNvPr id="5" name="One saturated pink block carries strong ">
            <a:extLst xmlns:a="http://schemas.openxmlformats.org/drawingml/2006/main">
              <a:ext uri="{FF2B5EF4-FFF2-40B4-BE49-F238E27FC236}">
                <a16:creationId xmlns:a16="http://schemas.microsoft.com/office/drawing/2014/main" id="{CEE5E1F8-D7CB-410C-829F-A8FD74FFCF54}"/>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One saturated pink block carries strong visual weight.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64ec19447bf417c"/>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Visual: supplied reference screenshot">
            <a:extLst xmlns:a="http://schemas.openxmlformats.org/drawingml/2006/main">
              <a:ext uri="{FF2B5EF4-FFF2-40B4-BE49-F238E27FC236}">
                <a16:creationId xmlns:a16="http://schemas.microsoft.com/office/drawing/2014/main" id="{251D0D93-0283-40FF-8156-A02CFE9ED14A}"/>
              </a:ext>
            </a:extLst>
          </p:cNvPr>
          <p:cNvSpPr>
            <a:spLocks xmlns:a="http://schemas.openxmlformats.org/drawingml/2006/main" noGrp="1"/>
          </p:cNvSpPr>
          <p:nvPr/>
        </p:nvSpPr>
        <p:spPr>
          <a:xfrm xmlns:a="http://schemas.openxmlformats.org/drawingml/2006/main">
            <a:off x="8048625" y="5905500"/>
            <a:ext cx="3286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2676B"/>
                </a:solidFill>
                <a:latin typeface="Arial"/>
                <a:ea typeface="Arial"/>
                <a:cs typeface="Arial"/>
              </a:defRPr>
            </a:pPr>
            <a:r>
              <a:rPr sz="975" b="0">
                <a:solidFill>
                  <a:srgbClr val="52676B"/>
                </a:solidFill>
                <a:latin typeface="Arial"/>
                <a:ea typeface="Arial"/>
                <a:cs typeface="Arial"/>
              </a:rPr>
              <a:t>Visual: supplied reference screenshot</a:t>
            </a:r>
          </a:p>
        </p:txBody>
      </p:sp>
      <p:sp>
        <p:nvSpPr>
          <p:cNvPr id="8" name="Related research: cari.institute">
            <a:extLst xmlns:a="http://schemas.openxmlformats.org/drawingml/2006/main">
              <a:ext uri="{FF2B5EF4-FFF2-40B4-BE49-F238E27FC236}">
                <a16:creationId xmlns:a16="http://schemas.microsoft.com/office/drawing/2014/main" id="{0CD1815F-B064-4C89-B971-E3CE86A61778}"/>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17ad980512c94388"/>
              </a:rPr>
              <a:t>Related research: cari.institute</a:t>
            </a:r>
          </a:p>
        </p:txBody>
      </p:sp>
      <p:sp>
        <p:nvSpPr>
          <p:cNvPr id="9" name="Related source: riba.org">
            <a:extLst xmlns:a="http://schemas.openxmlformats.org/drawingml/2006/main">
              <a:ext uri="{FF2B5EF4-FFF2-40B4-BE49-F238E27FC236}">
                <a16:creationId xmlns:a16="http://schemas.microsoft.com/office/drawing/2014/main" id="{B673FF27-CA87-4175-8293-0B751AE0B2D6}"/>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b12a2de15d2a47f4"/>
              </a:rPr>
              <a:t>Related source: riba.org</a:t>
            </a:r>
          </a:p>
        </p:txBody>
      </p:sp>
    </p:spTree>
    <p:extLst>
      <p:ext uri="{BB962C8B-B14F-4D97-AF65-F5344CB8AC3E}">
        <p14:creationId xmlns:p14="http://schemas.microsoft.com/office/powerpoint/2010/main" val="2062596633"/>
      </p:ext>
    </p:extLst>
  </p:cSld>
</p:sld>
</file>

<file path=ppt/slides/slide1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13">
            <a:extLst xmlns:a="http://schemas.openxmlformats.org/drawingml/2006/main">
              <a:ext uri="{FF2B5EF4-FFF2-40B4-BE49-F238E27FC236}">
                <a16:creationId xmlns:a16="http://schemas.microsoft.com/office/drawing/2014/main" id="{21A06865-53BE-4113-87E2-DE23AEE5BFED}"/>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13</a:t>
            </a:r>
          </a:p>
        </p:txBody>
      </p:sp>
      <p:sp>
        <p:nvSpPr>
          <p:cNvPr id="2" name="Spray">
            <a:extLst xmlns:a="http://schemas.openxmlformats.org/drawingml/2006/main">
              <a:ext uri="{FF2B5EF4-FFF2-40B4-BE49-F238E27FC236}">
                <a16:creationId xmlns:a16="http://schemas.microsoft.com/office/drawing/2014/main" id="{0C730CFA-B05B-416B-96C8-70A57DED01BE}"/>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Spray</a:t>
            </a:r>
          </a:p>
        </p:txBody>
      </p:sp>
      <p:sp>
        <p:nvSpPr>
          <p:cNvPr id="3" name="Blue gestural marks carry personality.">
            <a:extLst xmlns:a="http://schemas.openxmlformats.org/drawingml/2006/main">
              <a:ext uri="{FF2B5EF4-FFF2-40B4-BE49-F238E27FC236}">
                <a16:creationId xmlns:a16="http://schemas.microsoft.com/office/drawing/2014/main" id="{B820B038-0872-44E2-A0C6-1154C3DF1874}"/>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Blue gestural marks carry personality.</a:t>
            </a:r>
          </a:p>
        </p:txBody>
      </p:sp>
      <p:sp>
        <p:nvSpPr>
          <p:cNvPr id="4" name="Small black typesetting carries product ">
            <a:extLst xmlns:a="http://schemas.openxmlformats.org/drawingml/2006/main">
              <a:ext uri="{FF2B5EF4-FFF2-40B4-BE49-F238E27FC236}">
                <a16:creationId xmlns:a16="http://schemas.microsoft.com/office/drawing/2014/main" id="{BD140149-CB33-4F8C-82E2-BA85561E3766}"/>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Small black typesetting carries product facts.</a:t>
            </a:r>
          </a:p>
        </p:txBody>
      </p:sp>
      <p:sp>
        <p:nvSpPr>
          <p:cNvPr id="5" name="The arrangement stays organized while th">
            <a:extLst xmlns:a="http://schemas.openxmlformats.org/drawingml/2006/main">
              <a:ext uri="{FF2B5EF4-FFF2-40B4-BE49-F238E27FC236}">
                <a16:creationId xmlns:a16="http://schemas.microsoft.com/office/drawing/2014/main" id="{3D2E2CA8-DCC2-4365-A26A-ADBB921F1993}"/>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The arrangement stays organized while the marks vary.</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3a29af774944806"/>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Visual: supplied reference screenshot">
            <a:extLst xmlns:a="http://schemas.openxmlformats.org/drawingml/2006/main">
              <a:ext uri="{FF2B5EF4-FFF2-40B4-BE49-F238E27FC236}">
                <a16:creationId xmlns:a16="http://schemas.microsoft.com/office/drawing/2014/main" id="{BEB6A162-8AB9-447C-89AE-0DB0A3BF03ED}"/>
              </a:ext>
            </a:extLst>
          </p:cNvPr>
          <p:cNvSpPr>
            <a:spLocks xmlns:a="http://schemas.openxmlformats.org/drawingml/2006/main" noGrp="1"/>
          </p:cNvSpPr>
          <p:nvPr/>
        </p:nvSpPr>
        <p:spPr>
          <a:xfrm xmlns:a="http://schemas.openxmlformats.org/drawingml/2006/main">
            <a:off x="8048625" y="5905500"/>
            <a:ext cx="3286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2676B"/>
                </a:solidFill>
                <a:latin typeface="Arial"/>
                <a:ea typeface="Arial"/>
                <a:cs typeface="Arial"/>
              </a:defRPr>
            </a:pPr>
            <a:r>
              <a:rPr sz="975" b="0">
                <a:solidFill>
                  <a:srgbClr val="52676B"/>
                </a:solidFill>
                <a:latin typeface="Arial"/>
                <a:ea typeface="Arial"/>
                <a:cs typeface="Arial"/>
              </a:rPr>
              <a:t>Visual: supplied reference screenshot</a:t>
            </a:r>
          </a:p>
        </p:txBody>
      </p:sp>
      <p:sp>
        <p:nvSpPr>
          <p:cNvPr id="8" name="Related research: pentagram.com">
            <a:extLst xmlns:a="http://schemas.openxmlformats.org/drawingml/2006/main">
              <a:ext uri="{FF2B5EF4-FFF2-40B4-BE49-F238E27FC236}">
                <a16:creationId xmlns:a16="http://schemas.microsoft.com/office/drawing/2014/main" id="{06324C04-289B-4727-B72D-916AC2C5F2DC}"/>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0bdebfb4f0ac4ced"/>
              </a:rPr>
              <a:t>Related research: pentagram.com</a:t>
            </a:r>
          </a:p>
        </p:txBody>
      </p:sp>
    </p:spTree>
    <p:extLst>
      <p:ext uri="{BB962C8B-B14F-4D97-AF65-F5344CB8AC3E}">
        <p14:creationId xmlns:p14="http://schemas.microsoft.com/office/powerpoint/2010/main" val="1415948315"/>
      </p:ext>
    </p:extLst>
  </p:cSld>
</p:sld>
</file>

<file path=ppt/slides/slide1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14">
            <a:extLst xmlns:a="http://schemas.openxmlformats.org/drawingml/2006/main">
              <a:ext uri="{FF2B5EF4-FFF2-40B4-BE49-F238E27FC236}">
                <a16:creationId xmlns:a16="http://schemas.microsoft.com/office/drawing/2014/main" id="{CB4D70F2-090E-4174-AA23-71BE4C81245A}"/>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14</a:t>
            </a:r>
          </a:p>
        </p:txBody>
      </p:sp>
      <p:sp>
        <p:nvSpPr>
          <p:cNvPr id="2" name="Gzhel and the attribution question">
            <a:extLst xmlns:a="http://schemas.openxmlformats.org/drawingml/2006/main">
              <a:ext uri="{FF2B5EF4-FFF2-40B4-BE49-F238E27FC236}">
                <a16:creationId xmlns:a16="http://schemas.microsoft.com/office/drawing/2014/main" id="{14A0FC90-BDBA-477C-97DD-7B94FE4A1A38}"/>
              </a:ext>
            </a:extLst>
          </p:cNvPr>
          <p:cNvSpPr>
            <a:spLocks xmlns:a="http://schemas.openxmlformats.org/drawingml/2006/main" noGrp="1"/>
          </p:cNvSpPr>
          <p:nvPr/>
        </p:nvSpPr>
        <p:spPr>
          <a:xfrm xmlns:a="http://schemas.openxmlformats.org/drawingml/2006/main">
            <a:off x="609600" y="457200"/>
            <a:ext cx="7620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Gzhel and the attribution question</a:t>
            </a:r>
          </a:p>
        </p:txBody>
      </p:sp>
      <p:sp>
        <p:nvSpPr>
          <p:cNvPr id="3" name="Cobalt-on-white can carry rhythm through">
            <a:extLst xmlns:a="http://schemas.openxmlformats.org/drawingml/2006/main">
              <a:ext uri="{FF2B5EF4-FFF2-40B4-BE49-F238E27FC236}">
                <a16:creationId xmlns:a16="http://schemas.microsoft.com/office/drawing/2014/main" id="{DC5C9625-FC68-4D04-93AE-11234E39618C}"/>
              </a:ext>
            </a:extLst>
          </p:cNvPr>
          <p:cNvSpPr>
            <a:spLocks xmlns:a="http://schemas.openxmlformats.org/drawingml/2006/main" noGrp="1"/>
          </p:cNvSpPr>
          <p:nvPr/>
        </p:nvSpPr>
        <p:spPr>
          <a:xfrm xmlns:a="http://schemas.openxmlformats.org/drawingml/2006/main">
            <a:off x="609600" y="19240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B32"/>
                </a:solidFill>
                <a:latin typeface="Arial"/>
                <a:ea typeface="Arial"/>
                <a:cs typeface="Arial"/>
              </a:defRPr>
            </a:pPr>
            <a:r>
              <a:rPr sz="2250" b="1">
                <a:solidFill>
                  <a:srgbClr val="182B32"/>
                </a:solidFill>
                <a:latin typeface="Arial"/>
                <a:ea typeface="Arial"/>
                <a:cs typeface="Arial"/>
              </a:rPr>
              <a:t>Cobalt-on-white can carry rhythm through tone and scale.</a:t>
            </a:r>
          </a:p>
        </p:txBody>
      </p:sp>
      <p:sp>
        <p:nvSpPr>
          <p:cNvPr id="4" name="Repeated motifs and open space shape a p">
            <a:extLst xmlns:a="http://schemas.openxmlformats.org/drawingml/2006/main">
              <a:ext uri="{FF2B5EF4-FFF2-40B4-BE49-F238E27FC236}">
                <a16:creationId xmlns:a16="http://schemas.microsoft.com/office/drawing/2014/main" id="{362D26B6-652D-45ED-8D04-1B1BA2938389}"/>
              </a:ext>
            </a:extLst>
          </p:cNvPr>
          <p:cNvSpPr>
            <a:spLocks xmlns:a="http://schemas.openxmlformats.org/drawingml/2006/main" noGrp="1"/>
          </p:cNvSpPr>
          <p:nvPr/>
        </p:nvSpPr>
        <p:spPr>
          <a:xfrm xmlns:a="http://schemas.openxmlformats.org/drawingml/2006/main">
            <a:off x="609600" y="29908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Repeated motifs and open space shape a pattern.</a:t>
            </a:r>
          </a:p>
        </p:txBody>
      </p:sp>
      <p:sp>
        <p:nvSpPr>
          <p:cNvPr id="5" name="The LOEWE bag’s Gzhel attribution remain">
            <a:extLst xmlns:a="http://schemas.openxmlformats.org/drawingml/2006/main">
              <a:ext uri="{FF2B5EF4-FFF2-40B4-BE49-F238E27FC236}">
                <a16:creationId xmlns:a16="http://schemas.microsoft.com/office/drawing/2014/main" id="{2FF706FF-B8EA-47A8-9954-D21D7F800377}"/>
              </a:ext>
            </a:extLst>
          </p:cNvPr>
          <p:cNvSpPr>
            <a:spLocks xmlns:a="http://schemas.openxmlformats.org/drawingml/2006/main" noGrp="1"/>
          </p:cNvSpPr>
          <p:nvPr/>
        </p:nvSpPr>
        <p:spPr>
          <a:xfrm xmlns:a="http://schemas.openxmlformats.org/drawingml/2006/main">
            <a:off x="609600" y="4057650"/>
            <a:ext cx="676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The LOEWE bag’s Gzhel attribution remains unverified.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f0e558465044887"/>
          <a:stretch xmlns:a="http://schemas.openxmlformats.org/drawingml/2006/main"/>
        </p:blipFill>
        <p:spPr>
          <a:xfrm xmlns:a="http://schemas.openxmlformats.org/drawingml/2006/main">
            <a:off x="8574694" y="990600"/>
            <a:ext cx="2233986" cy="4848225"/>
          </a:xfrm>
          <a:prstGeom xmlns:a="http://schemas.openxmlformats.org/drawingml/2006/main" prst="rect">
            <a:avLst/>
          </a:prstGeom>
        </p:spPr>
      </p:pic>
      <p:sp>
        <p:nvSpPr>
          <p:cNvPr id="7" name="Visual: supplied reference screenshot">
            <a:extLst xmlns:a="http://schemas.openxmlformats.org/drawingml/2006/main">
              <a:ext uri="{FF2B5EF4-FFF2-40B4-BE49-F238E27FC236}">
                <a16:creationId xmlns:a16="http://schemas.microsoft.com/office/drawing/2014/main" id="{A13B745B-81B2-4F8B-93F7-53CAA68C5ECF}"/>
              </a:ext>
            </a:extLst>
          </p:cNvPr>
          <p:cNvSpPr>
            <a:spLocks xmlns:a="http://schemas.openxmlformats.org/drawingml/2006/main" noGrp="1"/>
          </p:cNvSpPr>
          <p:nvPr/>
        </p:nvSpPr>
        <p:spPr>
          <a:xfrm xmlns:a="http://schemas.openxmlformats.org/drawingml/2006/main">
            <a:off x="8048625" y="5905500"/>
            <a:ext cx="3286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2676B"/>
                </a:solidFill>
                <a:latin typeface="Arial"/>
                <a:ea typeface="Arial"/>
                <a:cs typeface="Arial"/>
              </a:defRPr>
            </a:pPr>
            <a:r>
              <a:rPr sz="975" b="0">
                <a:solidFill>
                  <a:srgbClr val="52676B"/>
                </a:solidFill>
                <a:latin typeface="Arial"/>
                <a:ea typeface="Arial"/>
                <a:cs typeface="Arial"/>
              </a:rPr>
              <a:t>Visual: supplied reference screenshot</a:t>
            </a:r>
          </a:p>
        </p:txBody>
      </p:sp>
      <p:sp>
        <p:nvSpPr>
          <p:cNvPr id="8" name="Related research: unesco.ru">
            <a:extLst xmlns:a="http://schemas.openxmlformats.org/drawingml/2006/main">
              <a:ext uri="{FF2B5EF4-FFF2-40B4-BE49-F238E27FC236}">
                <a16:creationId xmlns:a16="http://schemas.microsoft.com/office/drawing/2014/main" id="{D3CE986C-DB4D-4BBD-B547-28D0FA74AB22}"/>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ff7da358eda7404b"/>
              </a:rPr>
              <a:t>Related research: unesco.ru</a:t>
            </a:r>
          </a:p>
        </p:txBody>
      </p:sp>
      <p:sp>
        <p:nvSpPr>
          <p:cNvPr id="9" name="Related source: farfor-gzhel.com">
            <a:extLst xmlns:a="http://schemas.openxmlformats.org/drawingml/2006/main">
              <a:ext uri="{FF2B5EF4-FFF2-40B4-BE49-F238E27FC236}">
                <a16:creationId xmlns:a16="http://schemas.microsoft.com/office/drawing/2014/main" id="{47644CB4-0B74-4B36-849A-037318B08766}"/>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0ef755d99109429d"/>
              </a:rPr>
              <a:t>Related source: farfor-gzhel.com</a:t>
            </a:r>
          </a:p>
        </p:txBody>
      </p:sp>
    </p:spTree>
    <p:extLst>
      <p:ext uri="{BB962C8B-B14F-4D97-AF65-F5344CB8AC3E}">
        <p14:creationId xmlns:p14="http://schemas.microsoft.com/office/powerpoint/2010/main" val="1933835706"/>
      </p:ext>
    </p:extLst>
  </p:cSld>
</p:sld>
</file>

<file path=ppt/slides/slide1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15">
            <a:extLst xmlns:a="http://schemas.openxmlformats.org/drawingml/2006/main">
              <a:ext uri="{FF2B5EF4-FFF2-40B4-BE49-F238E27FC236}">
                <a16:creationId xmlns:a16="http://schemas.microsoft.com/office/drawing/2014/main" id="{6090A784-27DE-48E2-A2F3-FE16ECD773E5}"/>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15</a:t>
            </a:r>
          </a:p>
        </p:txBody>
      </p:sp>
      <p:sp>
        <p:nvSpPr>
          <p:cNvPr id="2" name="Holographic iridescence">
            <a:extLst xmlns:a="http://schemas.openxmlformats.org/drawingml/2006/main">
              <a:ext uri="{FF2B5EF4-FFF2-40B4-BE49-F238E27FC236}">
                <a16:creationId xmlns:a16="http://schemas.microsoft.com/office/drawing/2014/main" id="{B9007F2C-0128-4651-8E5B-2F7FD033E648}"/>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Holographic iridescence</a:t>
            </a:r>
          </a:p>
        </p:txBody>
      </p:sp>
      <p:sp>
        <p:nvSpPr>
          <p:cNvPr id="3" name="01">
            <a:extLst xmlns:a="http://schemas.openxmlformats.org/drawingml/2006/main">
              <a:ext uri="{FF2B5EF4-FFF2-40B4-BE49-F238E27FC236}">
                <a16:creationId xmlns:a16="http://schemas.microsoft.com/office/drawing/2014/main" id="{C418F5C7-7216-4987-9847-D2CC08EA9DD3}"/>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Changing highlights suggest a responsive">
            <a:extLst xmlns:a="http://schemas.openxmlformats.org/drawingml/2006/main">
              <a:ext uri="{FF2B5EF4-FFF2-40B4-BE49-F238E27FC236}">
                <a16:creationId xmlns:a16="http://schemas.microsoft.com/office/drawing/2014/main" id="{FB612FF8-41BE-46A3-B85F-E284C202FB48}"/>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Changing highlights suggest a responsive material.</a:t>
            </a:r>
          </a:p>
        </p:txBody>
      </p:sp>
      <p:sp>
        <p:nvSpPr>
          <p:cNvPr id="5" name="02">
            <a:extLst xmlns:a="http://schemas.openxmlformats.org/drawingml/2006/main">
              <a:ext uri="{FF2B5EF4-FFF2-40B4-BE49-F238E27FC236}">
                <a16:creationId xmlns:a16="http://schemas.microsoft.com/office/drawing/2014/main" id="{9EDD4E67-78DF-48E7-B036-161768D8FCDC}"/>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Reflection, geometry and lighting work t">
            <a:extLst xmlns:a="http://schemas.openxmlformats.org/drawingml/2006/main">
              <a:ext uri="{FF2B5EF4-FFF2-40B4-BE49-F238E27FC236}">
                <a16:creationId xmlns:a16="http://schemas.microsoft.com/office/drawing/2014/main" id="{2862166D-C063-421E-A9E2-22E51E1989F0}"/>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Reflection, geometry and lighting work together.</a:t>
            </a:r>
          </a:p>
        </p:txBody>
      </p:sp>
      <p:sp>
        <p:nvSpPr>
          <p:cNvPr id="7" name="03">
            <a:extLst xmlns:a="http://schemas.openxmlformats.org/drawingml/2006/main">
              <a:ext uri="{FF2B5EF4-FFF2-40B4-BE49-F238E27FC236}">
                <a16:creationId xmlns:a16="http://schemas.microsoft.com/office/drawing/2014/main" id="{F4BB80E4-A38A-437C-9285-956EAC0C9C31}"/>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A static rainbow fill cannot establish h">
            <a:extLst xmlns:a="http://schemas.openxmlformats.org/drawingml/2006/main">
              <a:ext uri="{FF2B5EF4-FFF2-40B4-BE49-F238E27FC236}">
                <a16:creationId xmlns:a16="http://schemas.microsoft.com/office/drawing/2014/main" id="{05F6D79D-CEBE-4A71-ADD2-CB9A4DC913A2}"/>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static rainbow fill cannot establish holography.</a:t>
            </a:r>
          </a:p>
        </p:txBody>
      </p:sp>
      <p:sp>
        <p:nvSpPr>
          <p:cNvPr id="9" name="Source: 3m.com">
            <a:extLst xmlns:a="http://schemas.openxmlformats.org/drawingml/2006/main">
              <a:ext uri="{FF2B5EF4-FFF2-40B4-BE49-F238E27FC236}">
                <a16:creationId xmlns:a16="http://schemas.microsoft.com/office/drawing/2014/main" id="{0865E123-79A5-4C96-BD2D-0C93FAB86FE0}"/>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d0c5e6ce4b6d4d5a"/>
              </a:rPr>
              <a:t>Source: 3m.com</a:t>
            </a:r>
          </a:p>
        </p:txBody>
      </p:sp>
    </p:spTree>
    <p:extLst>
      <p:ext uri="{BB962C8B-B14F-4D97-AF65-F5344CB8AC3E}">
        <p14:creationId xmlns:p14="http://schemas.microsoft.com/office/powerpoint/2010/main" val="1137665225"/>
      </p:ext>
    </p:extLst>
  </p:cSld>
</p:sld>
</file>

<file path=ppt/slides/slide1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16">
            <a:extLst xmlns:a="http://schemas.openxmlformats.org/drawingml/2006/main">
              <a:ext uri="{FF2B5EF4-FFF2-40B4-BE49-F238E27FC236}">
                <a16:creationId xmlns:a16="http://schemas.microsoft.com/office/drawing/2014/main" id="{50221922-5C22-4634-A003-8C5AFD233DC1}"/>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16</a:t>
            </a:r>
          </a:p>
        </p:txBody>
      </p:sp>
      <p:sp>
        <p:nvSpPr>
          <p:cNvPr id="2" name="Cultural references need specific contex">
            <a:extLst xmlns:a="http://schemas.openxmlformats.org/drawingml/2006/main">
              <a:ext uri="{FF2B5EF4-FFF2-40B4-BE49-F238E27FC236}">
                <a16:creationId xmlns:a16="http://schemas.microsoft.com/office/drawing/2014/main" id="{10CF1BBD-7D06-4C84-8A1C-F93C8EBE7CC5}"/>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Cultural references need specific context</a:t>
            </a:r>
          </a:p>
        </p:txBody>
      </p:sp>
      <p:sp>
        <p:nvSpPr>
          <p:cNvPr id="3" name="01">
            <a:extLst xmlns:a="http://schemas.openxmlformats.org/drawingml/2006/main">
              <a:ext uri="{FF2B5EF4-FFF2-40B4-BE49-F238E27FC236}">
                <a16:creationId xmlns:a16="http://schemas.microsoft.com/office/drawing/2014/main" id="{C261B426-B0E1-4F56-AD7C-AB0884677996}"/>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The source’s “Asian Chic” thumbnail show">
            <a:extLst xmlns:a="http://schemas.openxmlformats.org/drawingml/2006/main">
              <a:ext uri="{FF2B5EF4-FFF2-40B4-BE49-F238E27FC236}">
                <a16:creationId xmlns:a16="http://schemas.microsoft.com/office/drawing/2014/main" id="{A92BAA85-C42B-4987-9D50-976A2F2D80EE}"/>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The source’s “Asian Chic” thumbnail shows a dense frame and saturated contrast.</a:t>
            </a:r>
          </a:p>
        </p:txBody>
      </p:sp>
      <p:sp>
        <p:nvSpPr>
          <p:cNvPr id="5" name="02">
            <a:extLst xmlns:a="http://schemas.openxmlformats.org/drawingml/2006/main">
              <a:ext uri="{FF2B5EF4-FFF2-40B4-BE49-F238E27FC236}">
                <a16:creationId xmlns:a16="http://schemas.microsoft.com/office/drawing/2014/main" id="{678ADD00-7A2A-49B3-A332-9E10F7B0D24A}"/>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 maker, place and date are more useful ">
            <a:extLst xmlns:a="http://schemas.openxmlformats.org/drawingml/2006/main">
              <a:ext uri="{FF2B5EF4-FFF2-40B4-BE49-F238E27FC236}">
                <a16:creationId xmlns:a16="http://schemas.microsoft.com/office/drawing/2014/main" id="{2C126EA3-6158-4B27-A35B-B68FB1F50D8A}"/>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maker, place and date are more useful than a broad label.</a:t>
            </a:r>
          </a:p>
        </p:txBody>
      </p:sp>
      <p:sp>
        <p:nvSpPr>
          <p:cNvPr id="7" name="03">
            <a:extLst xmlns:a="http://schemas.openxmlformats.org/drawingml/2006/main">
              <a:ext uri="{FF2B5EF4-FFF2-40B4-BE49-F238E27FC236}">
                <a16:creationId xmlns:a16="http://schemas.microsoft.com/office/drawing/2014/main" id="{30725F5A-7A44-4D64-B775-58730E306F95}"/>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Lettering and motifs carry meanings beyo">
            <a:extLst xmlns:a="http://schemas.openxmlformats.org/drawingml/2006/main">
              <a:ext uri="{FF2B5EF4-FFF2-40B4-BE49-F238E27FC236}">
                <a16:creationId xmlns:a16="http://schemas.microsoft.com/office/drawing/2014/main" id="{79E52BC7-52D1-4B7B-91FF-2D1BF17FB0FA}"/>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Lettering and motifs carry meanings beyond appearance.</a:t>
            </a:r>
          </a:p>
        </p:txBody>
      </p:sp>
      <p:sp>
        <p:nvSpPr>
          <p:cNvPr id="9" name="Source: colorado.edu">
            <a:extLst xmlns:a="http://schemas.openxmlformats.org/drawingml/2006/main">
              <a:ext uri="{FF2B5EF4-FFF2-40B4-BE49-F238E27FC236}">
                <a16:creationId xmlns:a16="http://schemas.microsoft.com/office/drawing/2014/main" id="{4D38AFFD-135D-4AF3-B83C-32216382129E}"/>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44c3c9ec9bf487a"/>
              </a:rPr>
              <a:t>Source: colorado.edu</a:t>
            </a:r>
          </a:p>
        </p:txBody>
      </p:sp>
      <p:sp>
        <p:nvSpPr>
          <p:cNvPr id="10" name="Related source: vam.ac.uk">
            <a:extLst xmlns:a="http://schemas.openxmlformats.org/drawingml/2006/main">
              <a:ext uri="{FF2B5EF4-FFF2-40B4-BE49-F238E27FC236}">
                <a16:creationId xmlns:a16="http://schemas.microsoft.com/office/drawing/2014/main" id="{FD4F0405-EEDE-4E2D-A121-5DE6869AEC7E}"/>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0a632c2ef7164c05"/>
              </a:rPr>
              <a:t>Related source: vam.ac.uk</a:t>
            </a:r>
          </a:p>
        </p:txBody>
      </p:sp>
    </p:spTree>
    <p:extLst>
      <p:ext uri="{BB962C8B-B14F-4D97-AF65-F5344CB8AC3E}">
        <p14:creationId xmlns:p14="http://schemas.microsoft.com/office/powerpoint/2010/main" val="405986649"/>
      </p:ext>
    </p:extLst>
  </p:cSld>
</p:sld>
</file>

<file path=ppt/slides/slide1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17">
            <a:extLst xmlns:a="http://schemas.openxmlformats.org/drawingml/2006/main">
              <a:ext uri="{FF2B5EF4-FFF2-40B4-BE49-F238E27FC236}">
                <a16:creationId xmlns:a16="http://schemas.microsoft.com/office/drawing/2014/main" id="{BA197672-5783-4DAE-9F18-120510F44C11}"/>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17</a:t>
            </a:r>
          </a:p>
        </p:txBody>
      </p:sp>
      <p:sp>
        <p:nvSpPr>
          <p:cNvPr id="2" name="Combining styles by assigning roles">
            <a:extLst xmlns:a="http://schemas.openxmlformats.org/drawingml/2006/main">
              <a:ext uri="{FF2B5EF4-FFF2-40B4-BE49-F238E27FC236}">
                <a16:creationId xmlns:a16="http://schemas.microsoft.com/office/drawing/2014/main" id="{05D1EB3F-34FC-4681-B346-0D0C107F5491}"/>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Combining styles by assigning roles</a:t>
            </a:r>
          </a:p>
        </p:txBody>
      </p:sp>
      <p:sp>
        <p:nvSpPr>
          <p:cNvPr id="3" name="01">
            <a:extLst xmlns:a="http://schemas.openxmlformats.org/drawingml/2006/main">
              <a:ext uri="{FF2B5EF4-FFF2-40B4-BE49-F238E27FC236}">
                <a16:creationId xmlns:a16="http://schemas.microsoft.com/office/drawing/2014/main" id="{94E9AD9A-8498-4B47-B87B-42D304CB9878}"/>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Typography and spacing organize the info">
            <a:extLst xmlns:a="http://schemas.openxmlformats.org/drawingml/2006/main">
              <a:ext uri="{FF2B5EF4-FFF2-40B4-BE49-F238E27FC236}">
                <a16:creationId xmlns:a16="http://schemas.microsoft.com/office/drawing/2014/main" id="{5F66F4DA-AEE7-48E9-96BF-BAEAC6E24CFB}"/>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Typography and spacing organize the information.</a:t>
            </a:r>
          </a:p>
        </p:txBody>
      </p:sp>
      <p:sp>
        <p:nvSpPr>
          <p:cNvPr id="5" name="02">
            <a:extLst xmlns:a="http://schemas.openxmlformats.org/drawingml/2006/main">
              <a:ext uri="{FF2B5EF4-FFF2-40B4-BE49-F238E27FC236}">
                <a16:creationId xmlns:a16="http://schemas.microsoft.com/office/drawing/2014/main" id="{02E609AB-AC12-459C-A00A-47D756D3E1C0}"/>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One material family gives imagery a shar">
            <a:extLst xmlns:a="http://schemas.openxmlformats.org/drawingml/2006/main">
              <a:ext uri="{FF2B5EF4-FFF2-40B4-BE49-F238E27FC236}">
                <a16:creationId xmlns:a16="http://schemas.microsoft.com/office/drawing/2014/main" id="{80981397-60D9-4D32-8719-408425A026AF}"/>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One material family gives imagery a shared character.</a:t>
            </a:r>
          </a:p>
        </p:txBody>
      </p:sp>
      <p:sp>
        <p:nvSpPr>
          <p:cNvPr id="7" name="03">
            <a:extLst xmlns:a="http://schemas.openxmlformats.org/drawingml/2006/main">
              <a:ext uri="{FF2B5EF4-FFF2-40B4-BE49-F238E27FC236}">
                <a16:creationId xmlns:a16="http://schemas.microsoft.com/office/drawing/2014/main" id="{F3FB8D30-C3C9-40B1-AB9B-E526645E0CD1}"/>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Color creates atmosphere or carries a de">
            <a:extLst xmlns:a="http://schemas.openxmlformats.org/drawingml/2006/main">
              <a:ext uri="{FF2B5EF4-FFF2-40B4-BE49-F238E27FC236}">
                <a16:creationId xmlns:a16="http://schemas.microsoft.com/office/drawing/2014/main" id="{62042572-435C-4C0C-A775-A0BFBF622B1E}"/>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Color creates atmosphere or carries a defined meaning.</a:t>
            </a:r>
          </a:p>
        </p:txBody>
      </p:sp>
      <p:sp>
        <p:nvSpPr>
          <p:cNvPr id="9" name="04">
            <a:extLst xmlns:a="http://schemas.openxmlformats.org/drawingml/2006/main">
              <a:ext uri="{FF2B5EF4-FFF2-40B4-BE49-F238E27FC236}">
                <a16:creationId xmlns:a16="http://schemas.microsoft.com/office/drawing/2014/main" id="{2BA82ABC-D2D5-4CD9-820C-48A91C420B5D}"/>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A gesture supplies emphasis where it is ">
            <a:extLst xmlns:a="http://schemas.openxmlformats.org/drawingml/2006/main">
              <a:ext uri="{FF2B5EF4-FFF2-40B4-BE49-F238E27FC236}">
                <a16:creationId xmlns:a16="http://schemas.microsoft.com/office/drawing/2014/main" id="{CE6544FB-4F8E-4A41-86EC-4E38B923E4F9}"/>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gesture supplies emphasis where it is useful.</a:t>
            </a:r>
          </a:p>
        </p:txBody>
      </p:sp>
      <p:sp>
        <p:nvSpPr>
          <p:cNvPr id="11" name="Source: play.studio">
            <a:extLst xmlns:a="http://schemas.openxmlformats.org/drawingml/2006/main">
              <a:ext uri="{FF2B5EF4-FFF2-40B4-BE49-F238E27FC236}">
                <a16:creationId xmlns:a16="http://schemas.microsoft.com/office/drawing/2014/main" id="{41BBE509-0507-4D4F-BB1C-3E0F1307C8AF}"/>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b18f8e2ed70f4c8e"/>
              </a:rPr>
              <a:t>Source: play.studio</a:t>
            </a:r>
          </a:p>
        </p:txBody>
      </p:sp>
    </p:spTree>
    <p:extLst>
      <p:ext uri="{BB962C8B-B14F-4D97-AF65-F5344CB8AC3E}">
        <p14:creationId xmlns:p14="http://schemas.microsoft.com/office/powerpoint/2010/main" val="1834701457"/>
      </p:ext>
    </p:extLst>
  </p:cSld>
</p:sld>
</file>

<file path=ppt/slides/slide18.xml><?xml version="1.0" encoding="utf-8"?>
<p:sld xmlns:p="http://schemas.openxmlformats.org/presentationml/2006/main">
  <p:cSld>
    <p:bg>
      <p:bgPr>
        <a:solidFill xmlns:a="http://schemas.openxmlformats.org/drawingml/2006/main">
          <a:srgbClr val="16333A"/>
        </a:solidFill>
      </p:bgPr>
    </p:bg>
    <p:spTree>
      <p:nvGrpSpPr>
        <p:cNvPr id="1" name=""/>
        <p:cNvGrpSpPr/>
        <p:nvPr/>
      </p:nvGrpSpPr>
      <p:grpSpPr>
        <a:xfrm xmlns:a="http://schemas.openxmlformats.org/drawingml/2006/main"/>
      </p:grpSpPr>
      <p:sp>
        <p:nvSpPr>
          <p:cNvPr id="4" name="18">
            <a:extLst xmlns:a="http://schemas.openxmlformats.org/drawingml/2006/main">
              <a:ext uri="{FF2B5EF4-FFF2-40B4-BE49-F238E27FC236}">
                <a16:creationId xmlns:a16="http://schemas.microsoft.com/office/drawing/2014/main" id="{F381BFA3-BCB0-4901-8F62-ABA6C52296B9}"/>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4CDC9"/>
                </a:solidFill>
                <a:latin typeface="Arial"/>
                <a:ea typeface="Arial"/>
                <a:cs typeface="Arial"/>
              </a:defRPr>
            </a:pPr>
            <a:r>
              <a:rPr sz="1275" b="0">
                <a:solidFill>
                  <a:srgbClr val="B4CDC9"/>
                </a:solidFill>
                <a:latin typeface="Arial"/>
                <a:ea typeface="Arial"/>
                <a:cs typeface="Arial"/>
              </a:rPr>
              <a:t>18</a:t>
            </a:r>
          </a:p>
        </p:txBody>
      </p:sp>
      <p:sp>
        <p:nvSpPr>
          <p:cNvPr id="2" name="Logo craft and brand systems">
            <a:extLst xmlns:a="http://schemas.openxmlformats.org/drawingml/2006/main">
              <a:ext uri="{FF2B5EF4-FFF2-40B4-BE49-F238E27FC236}">
                <a16:creationId xmlns:a16="http://schemas.microsoft.com/office/drawing/2014/main" id="{DC3DCA35-15B6-48A1-BA5F-3B75473A1911}"/>
              </a:ext>
            </a:extLst>
          </p:cNvPr>
          <p:cNvSpPr>
            <a:spLocks xmlns:a="http://schemas.openxmlformats.org/drawingml/2006/main" noGrp="1"/>
          </p:cNvSpPr>
          <p:nvPr/>
        </p:nvSpPr>
        <p:spPr>
          <a:xfrm xmlns:a="http://schemas.openxmlformats.org/drawingml/2006/main">
            <a:off x="685800" y="1524000"/>
            <a:ext cx="9906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F5F2EA"/>
                </a:solidFill>
                <a:latin typeface="Arial"/>
                <a:ea typeface="Arial"/>
                <a:cs typeface="Arial"/>
              </a:defRPr>
            </a:pPr>
            <a:r>
              <a:rPr sz="5400" b="1">
                <a:solidFill>
                  <a:srgbClr val="F5F2EA"/>
                </a:solidFill>
                <a:latin typeface="Arial"/>
                <a:ea typeface="Arial"/>
                <a:cs typeface="Arial"/>
              </a:rPr>
              <a:t>Logo craft and brand systems</a:t>
            </a:r>
          </a:p>
        </p:txBody>
      </p:sp>
      <p:sp>
        <p:nvSpPr>
          <p:cNvPr id="3" name="How specific decisions become a recogniz">
            <a:extLst xmlns:a="http://schemas.openxmlformats.org/drawingml/2006/main">
              <a:ext uri="{FF2B5EF4-FFF2-40B4-BE49-F238E27FC236}">
                <a16:creationId xmlns:a16="http://schemas.microsoft.com/office/drawing/2014/main" id="{68DA2FD6-6EA3-4052-ADAA-6986C088A4A0}"/>
              </a:ext>
            </a:extLst>
          </p:cNvPr>
          <p:cNvSpPr>
            <a:spLocks xmlns:a="http://schemas.openxmlformats.org/drawingml/2006/main" noGrp="1"/>
          </p:cNvSpPr>
          <p:nvPr/>
        </p:nvSpPr>
        <p:spPr>
          <a:xfrm xmlns:a="http://schemas.openxmlformats.org/drawingml/2006/main">
            <a:off x="723900" y="4333875"/>
            <a:ext cx="971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4CDC9"/>
                </a:solidFill>
                <a:latin typeface="Arial"/>
                <a:ea typeface="Arial"/>
                <a:cs typeface="Arial"/>
              </a:defRPr>
            </a:pPr>
            <a:r>
              <a:rPr sz="2400" b="0">
                <a:solidFill>
                  <a:srgbClr val="B4CDC9"/>
                </a:solidFill>
                <a:latin typeface="Arial"/>
                <a:ea typeface="Arial"/>
                <a:cs typeface="Arial"/>
              </a:rPr>
              <a:t>How specific decisions become a recognizable family.</a:t>
            </a:r>
          </a:p>
        </p:txBody>
      </p:sp>
    </p:spTree>
    <p:extLst>
      <p:ext uri="{BB962C8B-B14F-4D97-AF65-F5344CB8AC3E}">
        <p14:creationId xmlns:p14="http://schemas.microsoft.com/office/powerpoint/2010/main" val="914517895"/>
      </p:ext>
    </p:extLst>
  </p:cSld>
</p:sld>
</file>

<file path=ppt/slides/slide1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19">
            <a:extLst xmlns:a="http://schemas.openxmlformats.org/drawingml/2006/main">
              <a:ext uri="{FF2B5EF4-FFF2-40B4-BE49-F238E27FC236}">
                <a16:creationId xmlns:a16="http://schemas.microsoft.com/office/drawing/2014/main" id="{F23B41E1-8019-4E88-910B-781A06600A28}"/>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19</a:t>
            </a:r>
          </a:p>
        </p:txBody>
      </p:sp>
      <p:sp>
        <p:nvSpPr>
          <p:cNvPr id="2" name="Nike: a silhouette with a job">
            <a:extLst xmlns:a="http://schemas.openxmlformats.org/drawingml/2006/main">
              <a:ext uri="{FF2B5EF4-FFF2-40B4-BE49-F238E27FC236}">
                <a16:creationId xmlns:a16="http://schemas.microsoft.com/office/drawing/2014/main" id="{4E5095FC-E4BD-4308-83D1-83D5E3608512}"/>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Nike: a silhouette with a job</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39bf66f227f4b6a"/>
          <a:stretch xmlns:a="http://schemas.openxmlformats.org/drawingml/2006/main"/>
        </p:blipFill>
        <p:spPr>
          <a:xfrm xmlns:a="http://schemas.openxmlformats.org/drawingml/2006/main">
            <a:off x="788194" y="1685925"/>
            <a:ext cx="5929313" cy="3952875"/>
          </a:xfrm>
          <a:prstGeom xmlns:a="http://schemas.openxmlformats.org/drawingml/2006/main" prst="rect">
            <a:avLst/>
          </a:prstGeom>
        </p:spPr>
      </p:pic>
      <p:sp>
        <p:nvSpPr>
          <p:cNvPr id="4" name="Carolyn Davidson designed the shoe-side ">
            <a:extLst xmlns:a="http://schemas.openxmlformats.org/drawingml/2006/main">
              <a:ext uri="{FF2B5EF4-FFF2-40B4-BE49-F238E27FC236}">
                <a16:creationId xmlns:a16="http://schemas.microsoft.com/office/drawing/2014/main" id="{B1256A59-839C-40FF-8332-CB7A0AFAB961}"/>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Carolyn Davidson designed the shoe-side mark in 1971; its curve suggested motion.</a:t>
            </a:r>
          </a:p>
        </p:txBody>
      </p:sp>
      <p:sp>
        <p:nvSpPr>
          <p:cNvPr id="5" name="Study the taper, direction and negative ">
            <a:extLst xmlns:a="http://schemas.openxmlformats.org/drawingml/2006/main">
              <a:ext uri="{FF2B5EF4-FFF2-40B4-BE49-F238E27FC236}">
                <a16:creationId xmlns:a16="http://schemas.microsoft.com/office/drawing/2014/main" id="{49E74819-5DED-4C08-9626-D5B87E2481F8}"/>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Study the taper, direction and negative space rather than just its simplicity.</a:t>
            </a:r>
          </a:p>
        </p:txBody>
      </p:sp>
      <p:sp>
        <p:nvSpPr>
          <p:cNvPr id="6" name="Its present familiarity is not a fair fi">
            <a:extLst xmlns:a="http://schemas.openxmlformats.org/drawingml/2006/main">
              <a:ext uri="{FF2B5EF4-FFF2-40B4-BE49-F238E27FC236}">
                <a16:creationId xmlns:a16="http://schemas.microsoft.com/office/drawing/2014/main" id="{04B2938D-A4D0-455B-8AB6-FB387D4FAB32}"/>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Its present familiarity is not a fair first-impression test for a new logo.</a:t>
            </a:r>
          </a:p>
        </p:txBody>
      </p:sp>
      <p:sp>
        <p:nvSpPr>
          <p:cNvPr id="7" name="Source: about.nike.com">
            <a:extLst xmlns:a="http://schemas.openxmlformats.org/drawingml/2006/main">
              <a:ext uri="{FF2B5EF4-FFF2-40B4-BE49-F238E27FC236}">
                <a16:creationId xmlns:a16="http://schemas.microsoft.com/office/drawing/2014/main" id="{A06B9463-6B4E-4B69-9D35-12EE4D63C34F}"/>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9609184cfde54790"/>
              </a:rPr>
              <a:t>Source: about.nike.com</a:t>
            </a:r>
          </a:p>
        </p:txBody>
      </p:sp>
    </p:spTree>
    <p:extLst>
      <p:ext uri="{BB962C8B-B14F-4D97-AF65-F5344CB8AC3E}">
        <p14:creationId xmlns:p14="http://schemas.microsoft.com/office/powerpoint/2010/main" val="725798624"/>
      </p:ext>
    </p:extLst>
  </p:cSld>
</p:sld>
</file>

<file path=ppt/slides/slide2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20">
            <a:extLst xmlns:a="http://schemas.openxmlformats.org/drawingml/2006/main">
              <a:ext uri="{FF2B5EF4-FFF2-40B4-BE49-F238E27FC236}">
                <a16:creationId xmlns:a16="http://schemas.microsoft.com/office/drawing/2014/main" id="{EF21B745-12A1-44DC-A470-AC0587690CD1}"/>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20</a:t>
            </a:r>
          </a:p>
        </p:txBody>
      </p:sp>
      <p:sp>
        <p:nvSpPr>
          <p:cNvPr id="2" name="FedEx: meaning between the letters">
            <a:extLst xmlns:a="http://schemas.openxmlformats.org/drawingml/2006/main">
              <a:ext uri="{FF2B5EF4-FFF2-40B4-BE49-F238E27FC236}">
                <a16:creationId xmlns:a16="http://schemas.microsoft.com/office/drawing/2014/main" id="{DD8059B6-1DB3-4D73-88EA-A7EE2571DA67}"/>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FedEx: meaning between the letters</a:t>
            </a:r>
          </a:p>
        </p:txBody>
      </p:sp>
      <p:sp>
        <p:nvSpPr>
          <p:cNvPr id="3" name="01">
            <a:extLst xmlns:a="http://schemas.openxmlformats.org/drawingml/2006/main">
              <a:ext uri="{FF2B5EF4-FFF2-40B4-BE49-F238E27FC236}">
                <a16:creationId xmlns:a16="http://schemas.microsoft.com/office/drawing/2014/main" id="{CCD18B4F-F7F4-4BCB-A6E0-9B4DFCE602A9}"/>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Lindon Leader describes reconstructing l">
            <a:extLst xmlns:a="http://schemas.openxmlformats.org/drawingml/2006/main">
              <a:ext uri="{FF2B5EF4-FFF2-40B4-BE49-F238E27FC236}">
                <a16:creationId xmlns:a16="http://schemas.microsoft.com/office/drawing/2014/main" id="{D6E35CFC-5748-40BD-9818-1A6B160F14BD}"/>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Lindon Leader describes reconstructing letterforms to create the E–x arrow.</a:t>
            </a:r>
          </a:p>
        </p:txBody>
      </p:sp>
      <p:sp>
        <p:nvSpPr>
          <p:cNvPr id="5" name="02">
            <a:extLst xmlns:a="http://schemas.openxmlformats.org/drawingml/2006/main">
              <a:ext uri="{FF2B5EF4-FFF2-40B4-BE49-F238E27FC236}">
                <a16:creationId xmlns:a16="http://schemas.microsoft.com/office/drawing/2014/main" id="{92F31507-C71F-48A8-99E2-4D444791107F}"/>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The wordmark communicates the name; the ">
            <a:extLst xmlns:a="http://schemas.openxmlformats.org/drawingml/2006/main">
              <a:ext uri="{FF2B5EF4-FFF2-40B4-BE49-F238E27FC236}">
                <a16:creationId xmlns:a16="http://schemas.microsoft.com/office/drawing/2014/main" id="{765AD8CF-8151-4D4A-8559-A859DD2C8AC9}"/>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The wordmark communicates the name; the arrow supplies a second discovery.</a:t>
            </a:r>
          </a:p>
        </p:txBody>
      </p:sp>
      <p:sp>
        <p:nvSpPr>
          <p:cNvPr id="7" name="03">
            <a:extLst xmlns:a="http://schemas.openxmlformats.org/drawingml/2006/main">
              <a:ext uri="{FF2B5EF4-FFF2-40B4-BE49-F238E27FC236}">
                <a16:creationId xmlns:a16="http://schemas.microsoft.com/office/drawing/2014/main" id="{9AC6EB68-AC4E-4AFE-8EDC-45528BBE32E4}"/>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A hidden idea should reward attention wi">
            <a:extLst xmlns:a="http://schemas.openxmlformats.org/drawingml/2006/main">
              <a:ext uri="{FF2B5EF4-FFF2-40B4-BE49-F238E27FC236}">
                <a16:creationId xmlns:a16="http://schemas.microsoft.com/office/drawing/2014/main" id="{19A1A489-82F1-4C5F-B1E2-6F645B6D2430}"/>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hidden idea should reward attention without requiring explanation.</a:t>
            </a:r>
          </a:p>
        </p:txBody>
      </p:sp>
      <p:sp>
        <p:nvSpPr>
          <p:cNvPr id="9" name="Source: thesneeze.com">
            <a:extLst xmlns:a="http://schemas.openxmlformats.org/drawingml/2006/main">
              <a:ext uri="{FF2B5EF4-FFF2-40B4-BE49-F238E27FC236}">
                <a16:creationId xmlns:a16="http://schemas.microsoft.com/office/drawing/2014/main" id="{1C484BB6-3555-48C4-BBFD-0581B9C13887}"/>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3027ac8a4d7347a5"/>
              </a:rPr>
              <a:t>Source: thesneeze.com</a:t>
            </a:r>
          </a:p>
        </p:txBody>
      </p:sp>
    </p:spTree>
    <p:extLst>
      <p:ext uri="{BB962C8B-B14F-4D97-AF65-F5344CB8AC3E}">
        <p14:creationId xmlns:p14="http://schemas.microsoft.com/office/powerpoint/2010/main" val="1114083774"/>
      </p:ext>
    </p:extLst>
  </p:cSld>
</p:sld>
</file>

<file path=ppt/slides/slide2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21">
            <a:extLst xmlns:a="http://schemas.openxmlformats.org/drawingml/2006/main">
              <a:ext uri="{FF2B5EF4-FFF2-40B4-BE49-F238E27FC236}">
                <a16:creationId xmlns:a16="http://schemas.microsoft.com/office/drawing/2014/main" id="{5554583E-BC9E-4690-AC83-2F7BC5A5BC18}"/>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21</a:t>
            </a:r>
          </a:p>
        </p:txBody>
      </p:sp>
      <p:sp>
        <p:nvSpPr>
          <p:cNvPr id="2" name="IBM: the mark lives inside a system">
            <a:extLst xmlns:a="http://schemas.openxmlformats.org/drawingml/2006/main">
              <a:ext uri="{FF2B5EF4-FFF2-40B4-BE49-F238E27FC236}">
                <a16:creationId xmlns:a16="http://schemas.microsoft.com/office/drawing/2014/main" id="{06C79362-E5FF-4C04-9B25-578F27456B32}"/>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IBM: the mark lives inside a system</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dc42ec8ed6745c1"/>
          <a:stretch xmlns:a="http://schemas.openxmlformats.org/drawingml/2006/main"/>
        </p:blipFill>
        <p:spPr>
          <a:xfrm xmlns:a="http://schemas.openxmlformats.org/drawingml/2006/main">
            <a:off x="609600" y="1896248"/>
            <a:ext cx="6286500" cy="3532229"/>
          </a:xfrm>
          <a:prstGeom xmlns:a="http://schemas.openxmlformats.org/drawingml/2006/main" prst="rect">
            <a:avLst/>
          </a:prstGeom>
        </p:spPr>
      </p:pic>
      <p:sp>
        <p:nvSpPr>
          <p:cNvPr id="4" name="Paul Rand's 8-bar design dates to 1972.">
            <a:extLst xmlns:a="http://schemas.openxmlformats.org/drawingml/2006/main">
              <a:ext uri="{FF2B5EF4-FFF2-40B4-BE49-F238E27FC236}">
                <a16:creationId xmlns:a16="http://schemas.microsoft.com/office/drawing/2014/main" id="{D4DB0141-B974-4414-B6E5-9A87D6FFC4A5}"/>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Paul Rand's 8-bar design dates to 1972.</a:t>
            </a:r>
          </a:p>
        </p:txBody>
      </p:sp>
      <p:sp>
        <p:nvSpPr>
          <p:cNvPr id="5" name="Official light and dark versions use opt">
            <a:extLst xmlns:a="http://schemas.openxmlformats.org/drawingml/2006/main">
              <a:ext uri="{FF2B5EF4-FFF2-40B4-BE49-F238E27FC236}">
                <a16:creationId xmlns:a16="http://schemas.microsoft.com/office/drawing/2014/main" id="{E153278E-2CB4-4D1F-BAD9-29D02BC91469}"/>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Official light and dark versions use optical adjustments rather than a simple inversion.</a:t>
            </a:r>
          </a:p>
        </p:txBody>
      </p:sp>
      <p:sp>
        <p:nvSpPr>
          <p:cNvPr id="6" name="Clear space, placement and consistent ap">
            <a:extLst xmlns:a="http://schemas.openxmlformats.org/drawingml/2006/main">
              <a:ext uri="{FF2B5EF4-FFF2-40B4-BE49-F238E27FC236}">
                <a16:creationId xmlns:a16="http://schemas.microsoft.com/office/drawing/2014/main" id="{18CD02AB-B266-4B2C-A72D-4EBA72C3E5AB}"/>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Clear space, placement and consistent application protect the identity.</a:t>
            </a:r>
          </a:p>
        </p:txBody>
      </p:sp>
      <p:sp>
        <p:nvSpPr>
          <p:cNvPr id="7" name="Source: ibm.com">
            <a:extLst xmlns:a="http://schemas.openxmlformats.org/drawingml/2006/main">
              <a:ext uri="{FF2B5EF4-FFF2-40B4-BE49-F238E27FC236}">
                <a16:creationId xmlns:a16="http://schemas.microsoft.com/office/drawing/2014/main" id="{D8D33026-33DB-46C9-BD0F-14CD1769F90A}"/>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a7175c66d22541ca"/>
              </a:rPr>
              <a:t>Source: ibm.com</a:t>
            </a:r>
          </a:p>
        </p:txBody>
      </p:sp>
    </p:spTree>
    <p:extLst>
      <p:ext uri="{BB962C8B-B14F-4D97-AF65-F5344CB8AC3E}">
        <p14:creationId xmlns:p14="http://schemas.microsoft.com/office/powerpoint/2010/main" val="86920920"/>
      </p:ext>
    </p:extLst>
  </p:cSld>
</p:sld>
</file>

<file path=ppt/slides/slide2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22">
            <a:extLst xmlns:a="http://schemas.openxmlformats.org/drawingml/2006/main">
              <a:ext uri="{FF2B5EF4-FFF2-40B4-BE49-F238E27FC236}">
                <a16:creationId xmlns:a16="http://schemas.microsoft.com/office/drawing/2014/main" id="{B97F0DF8-299E-4A37-AFCB-25F63988036B}"/>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22</a:t>
            </a:r>
          </a:p>
        </p:txBody>
      </p:sp>
      <p:sp>
        <p:nvSpPr>
          <p:cNvPr id="2" name="Recognition and familiarity">
            <a:extLst xmlns:a="http://schemas.openxmlformats.org/drawingml/2006/main">
              <a:ext uri="{FF2B5EF4-FFF2-40B4-BE49-F238E27FC236}">
                <a16:creationId xmlns:a16="http://schemas.microsoft.com/office/drawing/2014/main" id="{B21B1FB1-13DF-47AA-9D30-136AEB14BC6F}"/>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Recognition and familiarity</a:t>
            </a:r>
          </a:p>
        </p:txBody>
      </p:sp>
      <p:sp>
        <p:nvSpPr>
          <p:cNvPr id="3" name="01">
            <a:extLst xmlns:a="http://schemas.openxmlformats.org/drawingml/2006/main">
              <a:ext uri="{FF2B5EF4-FFF2-40B4-BE49-F238E27FC236}">
                <a16:creationId xmlns:a16="http://schemas.microsoft.com/office/drawing/2014/main" id="{36A1D857-16ED-452C-B61C-CFB986DA64A2}"/>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Separate shape discrimination, prior fam">
            <a:extLst xmlns:a="http://schemas.openxmlformats.org/drawingml/2006/main">
              <a:ext uri="{FF2B5EF4-FFF2-40B4-BE49-F238E27FC236}">
                <a16:creationId xmlns:a16="http://schemas.microsoft.com/office/drawing/2014/main" id="{A20FBE11-F833-4717-AF12-88178F73A416}"/>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Separate shape discrimination, prior familiarity and correct brand naming.</a:t>
            </a:r>
          </a:p>
        </p:txBody>
      </p:sp>
      <p:sp>
        <p:nvSpPr>
          <p:cNvPr id="5" name="02">
            <a:extLst xmlns:a="http://schemas.openxmlformats.org/drawingml/2006/main">
              <a:ext uri="{FF2B5EF4-FFF2-40B4-BE49-F238E27FC236}">
                <a16:creationId xmlns:a16="http://schemas.microsoft.com/office/drawing/2014/main" id="{BBB84929-D2F4-4C36-A294-A08ABC469674}"/>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Famous marks carry years of exposure and">
            <a:extLst xmlns:a="http://schemas.openxmlformats.org/drawingml/2006/main">
              <a:ext uri="{FF2B5EF4-FFF2-40B4-BE49-F238E27FC236}">
                <a16:creationId xmlns:a16="http://schemas.microsoft.com/office/drawing/2014/main" id="{2BC9E400-F385-4C33-B3E7-98C889CB4E78}"/>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Famous marks carry years of exposure and associations into the comparison.</a:t>
            </a:r>
          </a:p>
        </p:txBody>
      </p:sp>
      <p:sp>
        <p:nvSpPr>
          <p:cNvPr id="7" name="03">
            <a:extLst xmlns:a="http://schemas.openxmlformats.org/drawingml/2006/main">
              <a:ext uri="{FF2B5EF4-FFF2-40B4-BE49-F238E27FC236}">
                <a16:creationId xmlns:a16="http://schemas.microsoft.com/office/drawing/2014/main" id="{835D66D5-63FE-4C6F-A9E4-F1DBC485C917}"/>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For new work, test readability and learn">
            <a:extLst xmlns:a="http://schemas.openxmlformats.org/drawingml/2006/main">
              <a:ext uri="{FF2B5EF4-FFF2-40B4-BE49-F238E27FC236}">
                <a16:creationId xmlns:a16="http://schemas.microsoft.com/office/drawing/2014/main" id="{C4531061-C834-4B7C-83F6-6834CD3B62FD}"/>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For new work, test readability and learning rather than a claim of instant iconic status.</a:t>
            </a:r>
          </a:p>
        </p:txBody>
      </p:sp>
      <p:sp>
        <p:nvSpPr>
          <p:cNvPr id="9" name="Source: about.nike.com">
            <a:extLst xmlns:a="http://schemas.openxmlformats.org/drawingml/2006/main">
              <a:ext uri="{FF2B5EF4-FFF2-40B4-BE49-F238E27FC236}">
                <a16:creationId xmlns:a16="http://schemas.microsoft.com/office/drawing/2014/main" id="{9637AFB0-2C02-4C01-97CA-2F4D990AADA2}"/>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bac241032f264bb8"/>
              </a:rPr>
              <a:t>Source: about.nike.com</a:t>
            </a:r>
          </a:p>
        </p:txBody>
      </p:sp>
      <p:sp>
        <p:nvSpPr>
          <p:cNvPr id="10" name="Related source: ibm.com">
            <a:extLst xmlns:a="http://schemas.openxmlformats.org/drawingml/2006/main">
              <a:ext uri="{FF2B5EF4-FFF2-40B4-BE49-F238E27FC236}">
                <a16:creationId xmlns:a16="http://schemas.microsoft.com/office/drawing/2014/main" id="{6FFC7FB5-EB4B-4408-9EEE-80A15335F4AC}"/>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c934963c99349cc"/>
              </a:rPr>
              <a:t>Related source: ibm.com</a:t>
            </a:r>
          </a:p>
        </p:txBody>
      </p:sp>
    </p:spTree>
    <p:extLst>
      <p:ext uri="{BB962C8B-B14F-4D97-AF65-F5344CB8AC3E}">
        <p14:creationId xmlns:p14="http://schemas.microsoft.com/office/powerpoint/2010/main" val="229883541"/>
      </p:ext>
    </p:extLst>
  </p:cSld>
</p:sld>
</file>

<file path=ppt/slides/slide2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23">
            <a:extLst xmlns:a="http://schemas.openxmlformats.org/drawingml/2006/main">
              <a:ext uri="{FF2B5EF4-FFF2-40B4-BE49-F238E27FC236}">
                <a16:creationId xmlns:a16="http://schemas.microsoft.com/office/drawing/2014/main" id="{E6EE67F1-1DD3-4E20-B02F-3E1D25B8116A}"/>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23</a:t>
            </a:r>
          </a:p>
        </p:txBody>
      </p:sp>
      <p:sp>
        <p:nvSpPr>
          <p:cNvPr id="2" name="Logo critique: inspect relationships">
            <a:extLst xmlns:a="http://schemas.openxmlformats.org/drawingml/2006/main">
              <a:ext uri="{FF2B5EF4-FFF2-40B4-BE49-F238E27FC236}">
                <a16:creationId xmlns:a16="http://schemas.microsoft.com/office/drawing/2014/main" id="{8AAFD2AF-1C00-4318-B06E-D43B4C5E9D43}"/>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Logo critique: inspect relationships</a:t>
            </a:r>
          </a:p>
        </p:txBody>
      </p:sp>
      <p:sp>
        <p:nvSpPr>
          <p:cNvPr id="3" name="01">
            <a:extLst xmlns:a="http://schemas.openxmlformats.org/drawingml/2006/main">
              <a:ext uri="{FF2B5EF4-FFF2-40B4-BE49-F238E27FC236}">
                <a16:creationId xmlns:a16="http://schemas.microsoft.com/office/drawing/2014/main" id="{F0AE0558-2FB3-4E5C-B6E9-15AAC9F85729}"/>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Silhouette: what reads before the detail">
            <a:extLst xmlns:a="http://schemas.openxmlformats.org/drawingml/2006/main">
              <a:ext uri="{FF2B5EF4-FFF2-40B4-BE49-F238E27FC236}">
                <a16:creationId xmlns:a16="http://schemas.microsoft.com/office/drawing/2014/main" id="{8265E924-0DB2-4C19-9062-1A43362B2AB9}"/>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Silhouette: what reads before the details?</a:t>
            </a:r>
          </a:p>
        </p:txBody>
      </p:sp>
      <p:sp>
        <p:nvSpPr>
          <p:cNvPr id="5" name="02">
            <a:extLst xmlns:a="http://schemas.openxmlformats.org/drawingml/2006/main">
              <a:ext uri="{FF2B5EF4-FFF2-40B4-BE49-F238E27FC236}">
                <a16:creationId xmlns:a16="http://schemas.microsoft.com/office/drawing/2014/main" id="{0B2FDC25-43BB-4C77-9B96-125C48BE6B10}"/>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Interior spaces, curves and spacing shap">
            <a:extLst xmlns:a="http://schemas.openxmlformats.org/drawingml/2006/main">
              <a:ext uri="{FF2B5EF4-FFF2-40B4-BE49-F238E27FC236}">
                <a16:creationId xmlns:a16="http://schemas.microsoft.com/office/drawing/2014/main" id="{2335700B-B129-4C2D-8AE1-6C51CF33F82D}"/>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Interior spaces, curves and spacing shape the word.</a:t>
            </a:r>
          </a:p>
        </p:txBody>
      </p:sp>
      <p:sp>
        <p:nvSpPr>
          <p:cNvPr id="7" name="03">
            <a:extLst xmlns:a="http://schemas.openxmlformats.org/drawingml/2006/main">
              <a:ext uri="{FF2B5EF4-FFF2-40B4-BE49-F238E27FC236}">
                <a16:creationId xmlns:a16="http://schemas.microsoft.com/office/drawing/2014/main" id="{7B156366-D769-4471-9995-B1F63DDF29E4}"/>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Compare the full name and a compact mark">
            <a:extLst xmlns:a="http://schemas.openxmlformats.org/drawingml/2006/main">
              <a:ext uri="{FF2B5EF4-FFF2-40B4-BE49-F238E27FC236}">
                <a16:creationId xmlns:a16="http://schemas.microsoft.com/office/drawing/2014/main" id="{2269B077-F441-4508-A18C-32470FA08005}"/>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Compare the full name and a compact mark.</a:t>
            </a:r>
          </a:p>
        </p:txBody>
      </p:sp>
      <p:sp>
        <p:nvSpPr>
          <p:cNvPr id="9" name="04">
            <a:extLst xmlns:a="http://schemas.openxmlformats.org/drawingml/2006/main">
              <a:ext uri="{FF2B5EF4-FFF2-40B4-BE49-F238E27FC236}">
                <a16:creationId xmlns:a16="http://schemas.microsoft.com/office/drawing/2014/main" id="{CED6B714-47E3-429C-8244-D54A8DB297A9}"/>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Separate craft observations from persona">
            <a:extLst xmlns:a="http://schemas.openxmlformats.org/drawingml/2006/main">
              <a:ext uri="{FF2B5EF4-FFF2-40B4-BE49-F238E27FC236}">
                <a16:creationId xmlns:a16="http://schemas.microsoft.com/office/drawing/2014/main" id="{03D37F14-7A45-44E9-982D-D48AD058B064}"/>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Separate craft observations from personal taste.</a:t>
            </a:r>
          </a:p>
        </p:txBody>
      </p:sp>
      <p:sp>
        <p:nvSpPr>
          <p:cNvPr id="11" name="Source: edenbrands.us">
            <a:extLst xmlns:a="http://schemas.openxmlformats.org/drawingml/2006/main">
              <a:ext uri="{FF2B5EF4-FFF2-40B4-BE49-F238E27FC236}">
                <a16:creationId xmlns:a16="http://schemas.microsoft.com/office/drawing/2014/main" id="{D438D4A2-1A1B-4D60-8C01-03F7FB2A6871}"/>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17fccbe39c5b4862"/>
              </a:rPr>
              <a:t>Source: edenbrands.us</a:t>
            </a:r>
          </a:p>
        </p:txBody>
      </p:sp>
      <p:sp>
        <p:nvSpPr>
          <p:cNvPr id="12" name="Related source: tiktok.com">
            <a:extLst xmlns:a="http://schemas.openxmlformats.org/drawingml/2006/main">
              <a:ext uri="{FF2B5EF4-FFF2-40B4-BE49-F238E27FC236}">
                <a16:creationId xmlns:a16="http://schemas.microsoft.com/office/drawing/2014/main" id="{DA33EB6B-B508-4F32-8083-4704C04F52F4}"/>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103bd542810c4d36"/>
              </a:rPr>
              <a:t>Related source: tiktok.com</a:t>
            </a:r>
          </a:p>
        </p:txBody>
      </p:sp>
    </p:spTree>
    <p:extLst>
      <p:ext uri="{BB962C8B-B14F-4D97-AF65-F5344CB8AC3E}">
        <p14:creationId xmlns:p14="http://schemas.microsoft.com/office/powerpoint/2010/main" val="1188160668"/>
      </p:ext>
    </p:extLst>
  </p:cSld>
</p:sld>
</file>

<file path=ppt/slides/slide2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24">
            <a:extLst xmlns:a="http://schemas.openxmlformats.org/drawingml/2006/main">
              <a:ext uri="{FF2B5EF4-FFF2-40B4-BE49-F238E27FC236}">
                <a16:creationId xmlns:a16="http://schemas.microsoft.com/office/drawing/2014/main" id="{6D81DBBB-395D-44EC-B82F-D5CCEFA4D3D0}"/>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24</a:t>
            </a:r>
          </a:p>
        </p:txBody>
      </p:sp>
      <p:sp>
        <p:nvSpPr>
          <p:cNvPr id="2" name="Lucy Eden: refine the existing letter">
            <a:extLst xmlns:a="http://schemas.openxmlformats.org/drawingml/2006/main">
              <a:ext uri="{FF2B5EF4-FFF2-40B4-BE49-F238E27FC236}">
                <a16:creationId xmlns:a16="http://schemas.microsoft.com/office/drawing/2014/main" id="{7DEEAFF0-26F1-4C63-84CB-14E3F28276B4}"/>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Lucy Eden: refine the existing letter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aec6ba51ffd4e6e"/>
          <a:stretch xmlns:a="http://schemas.openxmlformats.org/drawingml/2006/main"/>
        </p:blipFill>
        <p:spPr>
          <a:xfrm xmlns:a="http://schemas.openxmlformats.org/drawingml/2006/main">
            <a:off x="1315648" y="1685925"/>
            <a:ext cx="4874404" cy="3952875"/>
          </a:xfrm>
          <a:prstGeom xmlns:a="http://schemas.openxmlformats.org/drawingml/2006/main" prst="rect">
            <a:avLst/>
          </a:prstGeom>
        </p:spPr>
      </p:pic>
      <p:sp>
        <p:nvSpPr>
          <p:cNvPr id="4" name="Earlier sampled frames show Y-curve refi">
            <a:extLst xmlns:a="http://schemas.openxmlformats.org/drawingml/2006/main">
              <a:ext uri="{FF2B5EF4-FFF2-40B4-BE49-F238E27FC236}">
                <a16:creationId xmlns:a16="http://schemas.microsoft.com/office/drawing/2014/main" id="{5B432C63-A64A-4B05-8F17-2CC9FA0DB61F}"/>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Earlier sampled frames show Y-curve refinements.</a:t>
            </a:r>
          </a:p>
        </p:txBody>
      </p:sp>
      <p:sp>
        <p:nvSpPr>
          <p:cNvPr id="5" name="A comparison outline makes contour chang">
            <a:extLst xmlns:a="http://schemas.openxmlformats.org/drawingml/2006/main">
              <a:ext uri="{FF2B5EF4-FFF2-40B4-BE49-F238E27FC236}">
                <a16:creationId xmlns:a16="http://schemas.microsoft.com/office/drawing/2014/main" id="{B75E8A6C-45C7-4BFF-8240-85C996C0A1A2}"/>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A comparison outline makes contour changes visible.</a:t>
            </a:r>
          </a:p>
        </p:txBody>
      </p:sp>
      <p:sp>
        <p:nvSpPr>
          <p:cNvPr id="6" name="Small changes can retain a mark’s charac">
            <a:extLst xmlns:a="http://schemas.openxmlformats.org/drawingml/2006/main">
              <a:ext uri="{FF2B5EF4-FFF2-40B4-BE49-F238E27FC236}">
                <a16:creationId xmlns:a16="http://schemas.microsoft.com/office/drawing/2014/main" id="{BE7796F1-B44E-427E-BC44-C88FDD1057D5}"/>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Small changes can retain a mark’s character.</a:t>
            </a:r>
          </a:p>
        </p:txBody>
      </p:sp>
      <p:sp>
        <p:nvSpPr>
          <p:cNvPr id="7" name="Image: logo context; the editing frame i">
            <a:extLst xmlns:a="http://schemas.openxmlformats.org/drawingml/2006/main">
              <a:ext uri="{FF2B5EF4-FFF2-40B4-BE49-F238E27FC236}">
                <a16:creationId xmlns:a16="http://schemas.microsoft.com/office/drawing/2014/main" id="{C705E05E-6560-4365-A869-ECB6A217C5A2}"/>
              </a:ext>
            </a:extLst>
          </p:cNvPr>
          <p:cNvSpPr>
            <a:spLocks xmlns:a="http://schemas.openxmlformats.org/drawingml/2006/main" noGrp="1"/>
          </p:cNvSpPr>
          <p:nvPr/>
        </p:nvSpPr>
        <p:spPr>
          <a:xfrm xmlns:a="http://schemas.openxmlformats.org/drawingml/2006/main">
            <a:off x="7467600" y="46386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Image: logo context; the editing frame is discussed in notes.</a:t>
            </a:r>
          </a:p>
        </p:txBody>
      </p:sp>
      <p:sp>
        <p:nvSpPr>
          <p:cNvPr id="8" name="Source: tiktok.com">
            <a:extLst xmlns:a="http://schemas.openxmlformats.org/drawingml/2006/main">
              <a:ext uri="{FF2B5EF4-FFF2-40B4-BE49-F238E27FC236}">
                <a16:creationId xmlns:a16="http://schemas.microsoft.com/office/drawing/2014/main" id="{F16E0ED7-2F1E-4821-8EAC-CE15C3D4226B}"/>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33987d16be7844b0"/>
              </a:rPr>
              <a:t>Source: tiktok.com</a:t>
            </a:r>
          </a:p>
        </p:txBody>
      </p:sp>
    </p:spTree>
    <p:extLst>
      <p:ext uri="{BB962C8B-B14F-4D97-AF65-F5344CB8AC3E}">
        <p14:creationId xmlns:p14="http://schemas.microsoft.com/office/powerpoint/2010/main" val="256105352"/>
      </p:ext>
    </p:extLst>
  </p:cSld>
</p:sld>
</file>

<file path=ppt/slides/slide2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25">
            <a:extLst xmlns:a="http://schemas.openxmlformats.org/drawingml/2006/main">
              <a:ext uri="{FF2B5EF4-FFF2-40B4-BE49-F238E27FC236}">
                <a16:creationId xmlns:a16="http://schemas.microsoft.com/office/drawing/2014/main" id="{7BDB9B17-8729-4E87-BAD7-E80496BD7725}"/>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25</a:t>
            </a:r>
          </a:p>
        </p:txBody>
      </p:sp>
      <p:sp>
        <p:nvSpPr>
          <p:cNvPr id="2" name="Michelle Elman: compose one unified name">
            <a:extLst xmlns:a="http://schemas.openxmlformats.org/drawingml/2006/main">
              <a:ext uri="{FF2B5EF4-FFF2-40B4-BE49-F238E27FC236}">
                <a16:creationId xmlns:a16="http://schemas.microsoft.com/office/drawing/2014/main" id="{4BB85847-E6C3-40F9-B054-E53731B8154C}"/>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Michelle Elman: compose one unified name</a:t>
            </a:r>
          </a:p>
        </p:txBody>
      </p:sp>
      <p:sp>
        <p:nvSpPr>
          <p:cNvPr id="3" name="01">
            <a:extLst xmlns:a="http://schemas.openxmlformats.org/drawingml/2006/main">
              <a:ext uri="{FF2B5EF4-FFF2-40B4-BE49-F238E27FC236}">
                <a16:creationId xmlns:a16="http://schemas.microsoft.com/office/drawing/2014/main" id="{16E4CAB1-3EC1-4C11-BE9D-3B47E1367015}"/>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Custom signature lettering nests into a ">
            <a:extLst xmlns:a="http://schemas.openxmlformats.org/drawingml/2006/main">
              <a:ext uri="{FF2B5EF4-FFF2-40B4-BE49-F238E27FC236}">
                <a16:creationId xmlns:a16="http://schemas.microsoft.com/office/drawing/2014/main" id="{2E52F4FD-48AA-4249-93AC-8F373940A0F3}"/>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Custom signature lettering nests into a unified arrangement.</a:t>
            </a:r>
          </a:p>
        </p:txBody>
      </p:sp>
      <p:sp>
        <p:nvSpPr>
          <p:cNvPr id="5" name="02">
            <a:extLst xmlns:a="http://schemas.openxmlformats.org/drawingml/2006/main">
              <a:ext uri="{FF2B5EF4-FFF2-40B4-BE49-F238E27FC236}">
                <a16:creationId xmlns:a16="http://schemas.microsoft.com/office/drawing/2014/main" id="{2A4EE590-834F-452A-B691-EA42F1E257F8}"/>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 small speech bubble adds contextual ch">
            <a:extLst xmlns:a="http://schemas.openxmlformats.org/drawingml/2006/main">
              <a:ext uri="{FF2B5EF4-FFF2-40B4-BE49-F238E27FC236}">
                <a16:creationId xmlns:a16="http://schemas.microsoft.com/office/drawing/2014/main" id="{626EAA4F-D7C8-4CA4-9B20-3F55B9A86D79}"/>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small speech bubble adds contextual character.</a:t>
            </a:r>
          </a:p>
        </p:txBody>
      </p:sp>
      <p:sp>
        <p:nvSpPr>
          <p:cNvPr id="7" name="03">
            <a:extLst xmlns:a="http://schemas.openxmlformats.org/drawingml/2006/main">
              <a:ext uri="{FF2B5EF4-FFF2-40B4-BE49-F238E27FC236}">
                <a16:creationId xmlns:a16="http://schemas.microsoft.com/office/drawing/2014/main" id="{4DAC0758-E5D0-4B38-9EC4-A56552C652E9}"/>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Patterns and illustrations carry additio">
            <a:extLst xmlns:a="http://schemas.openxmlformats.org/drawingml/2006/main">
              <a:ext uri="{FF2B5EF4-FFF2-40B4-BE49-F238E27FC236}">
                <a16:creationId xmlns:a16="http://schemas.microsoft.com/office/drawing/2014/main" id="{C3E7F3A2-AABD-4C34-BAD0-C6EDF00F57F9}"/>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Patterns and illustrations carry additional expression.</a:t>
            </a:r>
          </a:p>
        </p:txBody>
      </p:sp>
      <p:sp>
        <p:nvSpPr>
          <p:cNvPr id="9" name="04">
            <a:extLst xmlns:a="http://schemas.openxmlformats.org/drawingml/2006/main">
              <a:ext uri="{FF2B5EF4-FFF2-40B4-BE49-F238E27FC236}">
                <a16:creationId xmlns:a16="http://schemas.microsoft.com/office/drawing/2014/main" id="{33BCF1CA-B3EE-4D47-8E96-5B3F33044F71}"/>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Judge the composition against the intend">
            <a:extLst xmlns:a="http://schemas.openxmlformats.org/drawingml/2006/main">
              <a:ext uri="{FF2B5EF4-FFF2-40B4-BE49-F238E27FC236}">
                <a16:creationId xmlns:a16="http://schemas.microsoft.com/office/drawing/2014/main" id="{76A09911-2EF8-4D66-B469-21C0C3B4BC38}"/>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Judge the composition against the intended personality.</a:t>
            </a:r>
          </a:p>
        </p:txBody>
      </p:sp>
      <p:sp>
        <p:nvSpPr>
          <p:cNvPr id="11" name="Source: edenbrands.us">
            <a:extLst xmlns:a="http://schemas.openxmlformats.org/drawingml/2006/main">
              <a:ext uri="{FF2B5EF4-FFF2-40B4-BE49-F238E27FC236}">
                <a16:creationId xmlns:a16="http://schemas.microsoft.com/office/drawing/2014/main" id="{DB4DD160-0B37-496A-8F4F-D1DA5CF11B06}"/>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74d724f00f704040"/>
              </a:rPr>
              <a:t>Source: edenbrands.us</a:t>
            </a:r>
          </a:p>
        </p:txBody>
      </p:sp>
    </p:spTree>
    <p:extLst>
      <p:ext uri="{BB962C8B-B14F-4D97-AF65-F5344CB8AC3E}">
        <p14:creationId xmlns:p14="http://schemas.microsoft.com/office/powerpoint/2010/main" val="8332179"/>
      </p:ext>
    </p:extLst>
  </p:cSld>
</p:sld>
</file>

<file path=ppt/slides/slide2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26">
            <a:extLst xmlns:a="http://schemas.openxmlformats.org/drawingml/2006/main">
              <a:ext uri="{FF2B5EF4-FFF2-40B4-BE49-F238E27FC236}">
                <a16:creationId xmlns:a16="http://schemas.microsoft.com/office/drawing/2014/main" id="{D057A0C4-4BB7-4DF0-AC7E-AE0B8FE8F9A7}"/>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26</a:t>
            </a:r>
          </a:p>
        </p:txBody>
      </p:sp>
      <p:sp>
        <p:nvSpPr>
          <p:cNvPr id="2" name="Splatter: let the experience shape the l">
            <a:extLst xmlns:a="http://schemas.openxmlformats.org/drawingml/2006/main">
              <a:ext uri="{FF2B5EF4-FFF2-40B4-BE49-F238E27FC236}">
                <a16:creationId xmlns:a16="http://schemas.microsoft.com/office/drawing/2014/main" id="{6ADCE190-E2D6-43EC-88E4-C5C6943A1AE4}"/>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Splatter: let the experience shape the letters</a:t>
            </a:r>
          </a:p>
        </p:txBody>
      </p:sp>
      <p:sp>
        <p:nvSpPr>
          <p:cNvPr id="3" name="01">
            <a:extLst xmlns:a="http://schemas.openxmlformats.org/drawingml/2006/main">
              <a:ext uri="{FF2B5EF4-FFF2-40B4-BE49-F238E27FC236}">
                <a16:creationId xmlns:a16="http://schemas.microsoft.com/office/drawing/2014/main" id="{4F0C0FF2-B9AF-4C4F-B18D-338DCD26F6D5}"/>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Paint-throwing experience informs bold, ">
            <a:extLst xmlns:a="http://schemas.openxmlformats.org/drawingml/2006/main">
              <a:ext uri="{FF2B5EF4-FFF2-40B4-BE49-F238E27FC236}">
                <a16:creationId xmlns:a16="http://schemas.microsoft.com/office/drawing/2014/main" id="{E8EAE93A-647F-479E-9391-0110E819E918}"/>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Paint-throwing experience informs bold, playful letter behavior.</a:t>
            </a:r>
          </a:p>
        </p:txBody>
      </p:sp>
      <p:sp>
        <p:nvSpPr>
          <p:cNvPr id="5" name="02">
            <a:extLst xmlns:a="http://schemas.openxmlformats.org/drawingml/2006/main">
              <a:ext uri="{FF2B5EF4-FFF2-40B4-BE49-F238E27FC236}">
                <a16:creationId xmlns:a16="http://schemas.microsoft.com/office/drawing/2014/main" id="{66DF46DE-0976-4EE8-AC3F-137935448551}"/>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Custom wordmark uses slanted and stacked">
            <a:extLst xmlns:a="http://schemas.openxmlformats.org/drawingml/2006/main">
              <a:ext uri="{FF2B5EF4-FFF2-40B4-BE49-F238E27FC236}">
                <a16:creationId xmlns:a16="http://schemas.microsoft.com/office/drawing/2014/main" id="{96F19B36-329A-4153-AA87-1FD3A369DCF9}"/>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Custom wordmark uses slanted and stacked forms.</a:t>
            </a:r>
          </a:p>
        </p:txBody>
      </p:sp>
      <p:sp>
        <p:nvSpPr>
          <p:cNvPr id="7" name="03">
            <a:extLst xmlns:a="http://schemas.openxmlformats.org/drawingml/2006/main">
              <a:ext uri="{FF2B5EF4-FFF2-40B4-BE49-F238E27FC236}">
                <a16:creationId xmlns:a16="http://schemas.microsoft.com/office/drawing/2014/main" id="{C687DB51-CA84-4147-AB89-BC49E239293B}"/>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A condensed badge adapts the identity to">
            <a:extLst xmlns:a="http://schemas.openxmlformats.org/drawingml/2006/main">
              <a:ext uri="{FF2B5EF4-FFF2-40B4-BE49-F238E27FC236}">
                <a16:creationId xmlns:a16="http://schemas.microsoft.com/office/drawing/2014/main" id="{4E012A05-508F-4CD7-BF6B-4FB32173E10B}"/>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condensed badge adapts the identity to another space.</a:t>
            </a:r>
          </a:p>
        </p:txBody>
      </p:sp>
      <p:sp>
        <p:nvSpPr>
          <p:cNvPr id="9" name="04">
            <a:extLst xmlns:a="http://schemas.openxmlformats.org/drawingml/2006/main">
              <a:ext uri="{FF2B5EF4-FFF2-40B4-BE49-F238E27FC236}">
                <a16:creationId xmlns:a16="http://schemas.microsoft.com/office/drawing/2014/main" id="{29739DDA-D643-42FD-B66C-A13E8FD7E6BE}"/>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Real painted splashes become original su">
            <a:extLst xmlns:a="http://schemas.openxmlformats.org/drawingml/2006/main">
              <a:ext uri="{FF2B5EF4-FFF2-40B4-BE49-F238E27FC236}">
                <a16:creationId xmlns:a16="http://schemas.microsoft.com/office/drawing/2014/main" id="{FDF6C20B-F301-4641-928F-BCBEDC5ACC04}"/>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Real painted splashes become original supporting graphics.</a:t>
            </a:r>
          </a:p>
        </p:txBody>
      </p:sp>
      <p:sp>
        <p:nvSpPr>
          <p:cNvPr id="11" name="Source: edenbrands.us">
            <a:extLst xmlns:a="http://schemas.openxmlformats.org/drawingml/2006/main">
              <a:ext uri="{FF2B5EF4-FFF2-40B4-BE49-F238E27FC236}">
                <a16:creationId xmlns:a16="http://schemas.microsoft.com/office/drawing/2014/main" id="{9E41CD64-C3E3-4F8C-A8C8-028EF54A9487}"/>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11f0b4611c484834"/>
              </a:rPr>
              <a:t>Source: edenbrands.us</a:t>
            </a:r>
          </a:p>
        </p:txBody>
      </p:sp>
    </p:spTree>
    <p:extLst>
      <p:ext uri="{BB962C8B-B14F-4D97-AF65-F5344CB8AC3E}">
        <p14:creationId xmlns:p14="http://schemas.microsoft.com/office/powerpoint/2010/main" val="2112333540"/>
      </p:ext>
    </p:extLst>
  </p:cSld>
</p:sld>
</file>

<file path=ppt/slides/slide2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27">
            <a:extLst xmlns:a="http://schemas.openxmlformats.org/drawingml/2006/main">
              <a:ext uri="{FF2B5EF4-FFF2-40B4-BE49-F238E27FC236}">
                <a16:creationId xmlns:a16="http://schemas.microsoft.com/office/drawing/2014/main" id="{1E3699CB-EA95-4AA8-B1C7-F12DB926EE7A}"/>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27</a:t>
            </a:r>
          </a:p>
        </p:txBody>
      </p:sp>
      <p:sp>
        <p:nvSpPr>
          <p:cNvPr id="2" name="Marlowe &amp; Sage: repeat a distinctive rel">
            <a:extLst xmlns:a="http://schemas.openxmlformats.org/drawingml/2006/main">
              <a:ext uri="{FF2B5EF4-FFF2-40B4-BE49-F238E27FC236}">
                <a16:creationId xmlns:a16="http://schemas.microsoft.com/office/drawing/2014/main" id="{BD59D33F-1850-4CDF-8A79-9C7E512BBDA7}"/>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Marlowe &amp; Sage: repeat a distinctive relationship</a:t>
            </a:r>
          </a:p>
        </p:txBody>
      </p:sp>
      <p:sp>
        <p:nvSpPr>
          <p:cNvPr id="3" name="01">
            <a:extLst xmlns:a="http://schemas.openxmlformats.org/drawingml/2006/main">
              <a:ext uri="{FF2B5EF4-FFF2-40B4-BE49-F238E27FC236}">
                <a16:creationId xmlns:a16="http://schemas.microsoft.com/office/drawing/2014/main" id="{63D37B68-77D7-428B-87D7-1EC19F90D150}"/>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Rounded serif lettering supports the int">
            <a:extLst xmlns:a="http://schemas.openxmlformats.org/drawingml/2006/main">
              <a:ext uri="{FF2B5EF4-FFF2-40B4-BE49-F238E27FC236}">
                <a16:creationId xmlns:a16="http://schemas.microsoft.com/office/drawing/2014/main" id="{52B93C6E-BD0D-406A-B23F-1C70092B4AB8}"/>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Rounded serif lettering supports the intended warmth.</a:t>
            </a:r>
          </a:p>
        </p:txBody>
      </p:sp>
      <p:sp>
        <p:nvSpPr>
          <p:cNvPr id="5" name="02">
            <a:extLst xmlns:a="http://schemas.openxmlformats.org/drawingml/2006/main">
              <a:ext uri="{FF2B5EF4-FFF2-40B4-BE49-F238E27FC236}">
                <a16:creationId xmlns:a16="http://schemas.microsoft.com/office/drawing/2014/main" id="{D50F053C-B59E-4976-9685-3F229B9B2E7C}"/>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n intertwined ampersand connects the fu">
            <a:extLst xmlns:a="http://schemas.openxmlformats.org/drawingml/2006/main">
              <a:ext uri="{FF2B5EF4-FFF2-40B4-BE49-F238E27FC236}">
                <a16:creationId xmlns:a16="http://schemas.microsoft.com/office/drawing/2014/main" id="{B0C140A6-9EF0-4C96-8265-97624A301981}"/>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An intertwined ampersand connects the full name.</a:t>
            </a:r>
          </a:p>
        </p:txBody>
      </p:sp>
      <p:sp>
        <p:nvSpPr>
          <p:cNvPr id="7" name="03">
            <a:extLst xmlns:a="http://schemas.openxmlformats.org/drawingml/2006/main">
              <a:ext uri="{FF2B5EF4-FFF2-40B4-BE49-F238E27FC236}">
                <a16:creationId xmlns:a16="http://schemas.microsoft.com/office/drawing/2014/main" id="{B8E3B589-A78B-4A9D-863A-D3F608094B8C}"/>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The compact mark reuses initials and tha">
            <a:extLst xmlns:a="http://schemas.openxmlformats.org/drawingml/2006/main">
              <a:ext uri="{FF2B5EF4-FFF2-40B4-BE49-F238E27FC236}">
                <a16:creationId xmlns:a16="http://schemas.microsoft.com/office/drawing/2014/main" id="{7ED856A2-49D2-4617-89B7-65FBEC5C07F9}"/>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The compact mark reuses initials and that connection.</a:t>
            </a:r>
          </a:p>
        </p:txBody>
      </p:sp>
      <p:sp>
        <p:nvSpPr>
          <p:cNvPr id="9" name="04">
            <a:extLst xmlns:a="http://schemas.openxmlformats.org/drawingml/2006/main">
              <a:ext uri="{FF2B5EF4-FFF2-40B4-BE49-F238E27FC236}">
                <a16:creationId xmlns:a16="http://schemas.microsoft.com/office/drawing/2014/main" id="{021A0D4C-7141-492E-BDF7-5C38A4A15986}"/>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A type category alone cannot determine p">
            <a:extLst xmlns:a="http://schemas.openxmlformats.org/drawingml/2006/main">
              <a:ext uri="{FF2B5EF4-FFF2-40B4-BE49-F238E27FC236}">
                <a16:creationId xmlns:a16="http://schemas.microsoft.com/office/drawing/2014/main" id="{EF73FA78-CC7F-49DC-8054-B787DE8ADC5F}"/>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type category alone cannot determine personality.</a:t>
            </a:r>
          </a:p>
        </p:txBody>
      </p:sp>
      <p:sp>
        <p:nvSpPr>
          <p:cNvPr id="11" name="Source: edenbrands.us">
            <a:extLst xmlns:a="http://schemas.openxmlformats.org/drawingml/2006/main">
              <a:ext uri="{FF2B5EF4-FFF2-40B4-BE49-F238E27FC236}">
                <a16:creationId xmlns:a16="http://schemas.microsoft.com/office/drawing/2014/main" id="{B0F502F0-FF56-464B-882A-31E1E4599F8B}"/>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19536d91b2e34f85"/>
              </a:rPr>
              <a:t>Source: edenbrands.us</a:t>
            </a:r>
          </a:p>
        </p:txBody>
      </p:sp>
    </p:spTree>
    <p:extLst>
      <p:ext uri="{BB962C8B-B14F-4D97-AF65-F5344CB8AC3E}">
        <p14:creationId xmlns:p14="http://schemas.microsoft.com/office/powerpoint/2010/main" val="2125547269"/>
      </p:ext>
    </p:extLst>
  </p:cSld>
</p:sld>
</file>

<file path=ppt/slides/slide2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28">
            <a:extLst xmlns:a="http://schemas.openxmlformats.org/drawingml/2006/main">
              <a:ext uri="{FF2B5EF4-FFF2-40B4-BE49-F238E27FC236}">
                <a16:creationId xmlns:a16="http://schemas.microsoft.com/office/drawing/2014/main" id="{4AEF51B6-B39C-4F1F-A752-A4B7A9FAF48D}"/>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28</a:t>
            </a:r>
          </a:p>
        </p:txBody>
      </p:sp>
      <p:sp>
        <p:nvSpPr>
          <p:cNvPr id="2" name="TBWA / DXD: making becomes a system">
            <a:extLst xmlns:a="http://schemas.openxmlformats.org/drawingml/2006/main">
              <a:ext uri="{FF2B5EF4-FFF2-40B4-BE49-F238E27FC236}">
                <a16:creationId xmlns:a16="http://schemas.microsoft.com/office/drawing/2014/main" id="{402E8DF0-C52E-496E-AB22-4E954A087333}"/>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TBWA / DXD: making becomes a system</a:t>
            </a:r>
          </a:p>
        </p:txBody>
      </p:sp>
      <p:sp>
        <p:nvSpPr>
          <p:cNvPr id="3" name="01">
            <a:extLst xmlns:a="http://schemas.openxmlformats.org/drawingml/2006/main">
              <a:ext uri="{FF2B5EF4-FFF2-40B4-BE49-F238E27FC236}">
                <a16:creationId xmlns:a16="http://schemas.microsoft.com/office/drawing/2014/main" id="{BACE84C6-FAA5-400C-8F16-F087344768B1}"/>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TBWA documents drawing, painting, cuttin">
            <a:extLst xmlns:a="http://schemas.openxmlformats.org/drawingml/2006/main">
              <a:ext uri="{FF2B5EF4-FFF2-40B4-BE49-F238E27FC236}">
                <a16:creationId xmlns:a16="http://schemas.microsoft.com/office/drawing/2014/main" id="{23B40D2F-224D-4396-B107-F94855854C2E}"/>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TBWA documents drawing, painting, cutting and experimentation.</a:t>
            </a:r>
          </a:p>
        </p:txBody>
      </p:sp>
      <p:sp>
        <p:nvSpPr>
          <p:cNvPr id="5" name="02">
            <a:extLst xmlns:a="http://schemas.openxmlformats.org/drawingml/2006/main">
              <a:ext uri="{FF2B5EF4-FFF2-40B4-BE49-F238E27FC236}">
                <a16:creationId xmlns:a16="http://schemas.microsoft.com/office/drawing/2014/main" id="{843E7E14-4462-45CB-9AB2-A4A4AD586D1E}"/>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The process supplies varied visual mater">
            <a:extLst xmlns:a="http://schemas.openxmlformats.org/drawingml/2006/main">
              <a:ext uri="{FF2B5EF4-FFF2-40B4-BE49-F238E27FC236}">
                <a16:creationId xmlns:a16="http://schemas.microsoft.com/office/drawing/2014/main" id="{1FF9BF48-E3B4-4FD6-AD41-7EC3237F771F}"/>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The process supplies varied visual material.</a:t>
            </a:r>
          </a:p>
        </p:txBody>
      </p:sp>
      <p:sp>
        <p:nvSpPr>
          <p:cNvPr id="7" name="03">
            <a:extLst xmlns:a="http://schemas.openxmlformats.org/drawingml/2006/main">
              <a:ext uri="{FF2B5EF4-FFF2-40B4-BE49-F238E27FC236}">
                <a16:creationId xmlns:a16="http://schemas.microsoft.com/office/drawing/2014/main" id="{D2ACA37F-37BB-455E-83A8-3EDDFDA09FEB}"/>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A system still needs recognizable forms ">
            <a:extLst xmlns:a="http://schemas.openxmlformats.org/drawingml/2006/main">
              <a:ext uri="{FF2B5EF4-FFF2-40B4-BE49-F238E27FC236}">
                <a16:creationId xmlns:a16="http://schemas.microsoft.com/office/drawing/2014/main" id="{4F7AA2A8-CC54-4706-BA9E-8F5ABDD8375C}"/>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 system still needs recognizable forms and clear hierarchy.</a:t>
            </a:r>
          </a:p>
        </p:txBody>
      </p:sp>
      <p:sp>
        <p:nvSpPr>
          <p:cNvPr id="9" name="04">
            <a:extLst xmlns:a="http://schemas.openxmlformats.org/drawingml/2006/main">
              <a:ext uri="{FF2B5EF4-FFF2-40B4-BE49-F238E27FC236}">
                <a16:creationId xmlns:a16="http://schemas.microsoft.com/office/drawing/2014/main" id="{A69E1C39-B44A-41C6-906F-501BEC039B9C}"/>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Maker process is documented; audience ef">
            <a:extLst xmlns:a="http://schemas.openxmlformats.org/drawingml/2006/main">
              <a:ext uri="{FF2B5EF4-FFF2-40B4-BE49-F238E27FC236}">
                <a16:creationId xmlns:a16="http://schemas.microsoft.com/office/drawing/2014/main" id="{850B233A-E1E0-43BC-8140-8C352D1FF9F5}"/>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Maker process is documented; audience effects are not.</a:t>
            </a:r>
          </a:p>
        </p:txBody>
      </p:sp>
      <p:sp>
        <p:nvSpPr>
          <p:cNvPr id="11" name="Source: linkedin.com">
            <a:extLst xmlns:a="http://schemas.openxmlformats.org/drawingml/2006/main">
              <a:ext uri="{FF2B5EF4-FFF2-40B4-BE49-F238E27FC236}">
                <a16:creationId xmlns:a16="http://schemas.microsoft.com/office/drawing/2014/main" id="{675CA9F1-5C87-43BE-8D43-E6F1B596A261}"/>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3a3a723a7e3c41b2"/>
              </a:rPr>
              <a:t>Source: linkedin.com</a:t>
            </a:r>
          </a:p>
        </p:txBody>
      </p:sp>
      <p:sp>
        <p:nvSpPr>
          <p:cNvPr id="12" name="Related source: tbwa.com">
            <a:extLst xmlns:a="http://schemas.openxmlformats.org/drawingml/2006/main">
              <a:ext uri="{FF2B5EF4-FFF2-40B4-BE49-F238E27FC236}">
                <a16:creationId xmlns:a16="http://schemas.microsoft.com/office/drawing/2014/main" id="{AA1932C2-9FEE-4286-949F-E4D0EF7D6D9B}"/>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a6afe3fbf5234788"/>
              </a:rPr>
              <a:t>Related source: tbwa.com</a:t>
            </a:r>
          </a:p>
        </p:txBody>
      </p:sp>
    </p:spTree>
    <p:extLst>
      <p:ext uri="{BB962C8B-B14F-4D97-AF65-F5344CB8AC3E}">
        <p14:creationId xmlns:p14="http://schemas.microsoft.com/office/powerpoint/2010/main" val="1579366586"/>
      </p:ext>
    </p:extLst>
  </p:cSld>
</p:sld>
</file>

<file path=ppt/slides/slide2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29">
            <a:extLst xmlns:a="http://schemas.openxmlformats.org/drawingml/2006/main">
              <a:ext uri="{FF2B5EF4-FFF2-40B4-BE49-F238E27FC236}">
                <a16:creationId xmlns:a16="http://schemas.microsoft.com/office/drawing/2014/main" id="{D093A2B9-E15D-46D4-B015-B08CD6700712}"/>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29</a:t>
            </a:r>
          </a:p>
        </p:txBody>
      </p:sp>
      <p:sp>
        <p:nvSpPr>
          <p:cNvPr id="2" name="Anthropic: warmth and technical structur">
            <a:extLst xmlns:a="http://schemas.openxmlformats.org/drawingml/2006/main">
              <a:ext uri="{FF2B5EF4-FFF2-40B4-BE49-F238E27FC236}">
                <a16:creationId xmlns:a16="http://schemas.microsoft.com/office/drawing/2014/main" id="{89D9488B-B53E-4E4A-9B23-37B6670674D8}"/>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Anthropic: warmth and technical structure together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116802d37464ecd"/>
          <a:stretch xmlns:a="http://schemas.openxmlformats.org/drawingml/2006/main"/>
        </p:blipFill>
        <p:spPr>
          <a:xfrm xmlns:a="http://schemas.openxmlformats.org/drawingml/2006/main">
            <a:off x="609600" y="1894284"/>
            <a:ext cx="6286500" cy="3536156"/>
          </a:xfrm>
          <a:prstGeom xmlns:a="http://schemas.openxmlformats.org/drawingml/2006/main" prst="rect">
            <a:avLst/>
          </a:prstGeom>
        </p:spPr>
      </p:pic>
      <p:sp>
        <p:nvSpPr>
          <p:cNvPr id="4" name="Geist connects the identity to human val">
            <a:extLst xmlns:a="http://schemas.openxmlformats.org/drawingml/2006/main">
              <a:ext uri="{FF2B5EF4-FFF2-40B4-BE49-F238E27FC236}">
                <a16:creationId xmlns:a16="http://schemas.microsoft.com/office/drawing/2014/main" id="{D61BF3FE-2570-4DAD-9FC9-08CC0C74CB5E}"/>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Geist connects the identity to human values and technical craft.</a:t>
            </a:r>
          </a:p>
        </p:txBody>
      </p:sp>
      <p:sp>
        <p:nvSpPr>
          <p:cNvPr id="5" name="Typographic mark, Styrene/Tiempos and wa">
            <a:extLst xmlns:a="http://schemas.openxmlformats.org/drawingml/2006/main">
              <a:ext uri="{FF2B5EF4-FFF2-40B4-BE49-F238E27FC236}">
                <a16:creationId xmlns:a16="http://schemas.microsoft.com/office/drawing/2014/main" id="{3E904EB5-FD14-4395-A92C-C391D765B0B9}"/>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Typographic mark, Styrene/Tiempos and warm color work together.</a:t>
            </a:r>
          </a:p>
        </p:txBody>
      </p:sp>
      <p:sp>
        <p:nvSpPr>
          <p:cNvPr id="6" name="Illustration extends the language for va">
            <a:extLst xmlns:a="http://schemas.openxmlformats.org/drawingml/2006/main">
              <a:ext uri="{FF2B5EF4-FFF2-40B4-BE49-F238E27FC236}">
                <a16:creationId xmlns:a16="http://schemas.microsoft.com/office/drawing/2014/main" id="{AEEBF6DA-A627-4BE4-99AB-41424E0DCFE9}"/>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Illustration extends the language for varied audiences.</a:t>
            </a:r>
          </a:p>
        </p:txBody>
      </p:sp>
      <p:sp>
        <p:nvSpPr>
          <p:cNvPr id="7" name="A UI component system carries the identi">
            <a:extLst xmlns:a="http://schemas.openxmlformats.org/drawingml/2006/main">
              <a:ext uri="{FF2B5EF4-FFF2-40B4-BE49-F238E27FC236}">
                <a16:creationId xmlns:a16="http://schemas.microsoft.com/office/drawing/2014/main" id="{97BB29B6-CB65-4853-9FCF-8EFB3B460292}"/>
              </a:ext>
            </a:extLst>
          </p:cNvPr>
          <p:cNvSpPr>
            <a:spLocks xmlns:a="http://schemas.openxmlformats.org/drawingml/2006/main" noGrp="1"/>
          </p:cNvSpPr>
          <p:nvPr/>
        </p:nvSpPr>
        <p:spPr>
          <a:xfrm xmlns:a="http://schemas.openxmlformats.org/drawingml/2006/main">
            <a:off x="7467600" y="46386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A UI component system carries the identity into use.</a:t>
            </a:r>
          </a:p>
        </p:txBody>
      </p:sp>
      <p:sp>
        <p:nvSpPr>
          <p:cNvPr id="8" name="Source: geist.co">
            <a:extLst xmlns:a="http://schemas.openxmlformats.org/drawingml/2006/main">
              <a:ext uri="{FF2B5EF4-FFF2-40B4-BE49-F238E27FC236}">
                <a16:creationId xmlns:a16="http://schemas.microsoft.com/office/drawing/2014/main" id="{E47B6E4A-A667-4B3D-931F-27EDF712F7CA}"/>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f28044aada04d01"/>
              </a:rPr>
              <a:t>Source: geist.co</a:t>
            </a:r>
          </a:p>
        </p:txBody>
      </p:sp>
    </p:spTree>
    <p:extLst>
      <p:ext uri="{BB962C8B-B14F-4D97-AF65-F5344CB8AC3E}">
        <p14:creationId xmlns:p14="http://schemas.microsoft.com/office/powerpoint/2010/main" val="1035293753"/>
      </p:ext>
    </p:extLst>
  </p:cSld>
</p:sld>
</file>

<file path=ppt/slides/slide3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30">
            <a:extLst xmlns:a="http://schemas.openxmlformats.org/drawingml/2006/main">
              <a:ext uri="{FF2B5EF4-FFF2-40B4-BE49-F238E27FC236}">
                <a16:creationId xmlns:a16="http://schemas.microsoft.com/office/drawing/2014/main" id="{DAB62F2E-4C77-46E1-A05A-C15BEF25461F}"/>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30</a:t>
            </a:r>
          </a:p>
        </p:txBody>
      </p:sp>
      <p:sp>
        <p:nvSpPr>
          <p:cNvPr id="2" name="Naive design: useful hypothesis, limited">
            <a:extLst xmlns:a="http://schemas.openxmlformats.org/drawingml/2006/main">
              <a:ext uri="{FF2B5EF4-FFF2-40B4-BE49-F238E27FC236}">
                <a16:creationId xmlns:a16="http://schemas.microsoft.com/office/drawing/2014/main" id="{5AD2B63B-BA4D-481A-9D92-4F27FC1B7346}"/>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Naive design: useful hypothesis, limited proof</a:t>
            </a:r>
          </a:p>
        </p:txBody>
      </p:sp>
      <p:sp>
        <p:nvSpPr>
          <p:cNvPr id="3" name="01">
            <a:extLst xmlns:a="http://schemas.openxmlformats.org/drawingml/2006/main">
              <a:ext uri="{FF2B5EF4-FFF2-40B4-BE49-F238E27FC236}">
                <a16:creationId xmlns:a16="http://schemas.microsoft.com/office/drawing/2014/main" id="{6B9179B1-04C6-4DA4-90BD-9D0D6D5898E6}"/>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Signals proposes hand-drawn character as">
            <a:extLst xmlns:a="http://schemas.openxmlformats.org/drawingml/2006/main">
              <a:ext uri="{FF2B5EF4-FFF2-40B4-BE49-F238E27FC236}">
                <a16:creationId xmlns:a16="http://schemas.microsoft.com/office/drawing/2014/main" id="{21F8DA7C-3B46-4AE9-A6AB-6538733FA947}"/>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Signals proposes hand-drawn character as a response to polished sameness.</a:t>
            </a:r>
          </a:p>
        </p:txBody>
      </p:sp>
      <p:sp>
        <p:nvSpPr>
          <p:cNvPr id="5" name="02">
            <a:extLst xmlns:a="http://schemas.openxmlformats.org/drawingml/2006/main">
              <a:ext uri="{FF2B5EF4-FFF2-40B4-BE49-F238E27FC236}">
                <a16:creationId xmlns:a16="http://schemas.microsoft.com/office/drawing/2014/main" id="{80D7EB5B-6C8B-4FA4-B61C-02784D4EAADB}"/>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Irregular appearance cannot prove human ">
            <a:extLst xmlns:a="http://schemas.openxmlformats.org/drawingml/2006/main">
              <a:ext uri="{FF2B5EF4-FFF2-40B4-BE49-F238E27FC236}">
                <a16:creationId xmlns:a16="http://schemas.microsoft.com/office/drawing/2014/main" id="{5CD26BEB-0A9C-43DD-8C90-2F5D76D2D2BB}"/>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Irregular appearance cannot prove human authorship.</a:t>
            </a:r>
          </a:p>
        </p:txBody>
      </p:sp>
      <p:sp>
        <p:nvSpPr>
          <p:cNvPr id="7" name="03">
            <a:extLst xmlns:a="http://schemas.openxmlformats.org/drawingml/2006/main">
              <a:ext uri="{FF2B5EF4-FFF2-40B4-BE49-F238E27FC236}">
                <a16:creationId xmlns:a16="http://schemas.microsoft.com/office/drawing/2014/main" id="{E647B7C5-FF03-4694-B894-E9BEF10A6C7E}"/>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McLuhan references and 'exponential trus">
            <a:extLst xmlns:a="http://schemas.openxmlformats.org/drawingml/2006/main">
              <a:ext uri="{FF2B5EF4-FFF2-40B4-BE49-F238E27FC236}">
                <a16:creationId xmlns:a16="http://schemas.microsoft.com/office/drawing/2014/main" id="{5FF756F2-6FBA-4908-B55F-B89C3C0658CE}"/>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McLuhan references and 'exponential trust' are not measurements.</a:t>
            </a:r>
          </a:p>
        </p:txBody>
      </p:sp>
      <p:sp>
        <p:nvSpPr>
          <p:cNvPr id="9" name="04">
            <a:extLst xmlns:a="http://schemas.openxmlformats.org/drawingml/2006/main">
              <a:ext uri="{FF2B5EF4-FFF2-40B4-BE49-F238E27FC236}">
                <a16:creationId xmlns:a16="http://schemas.microsoft.com/office/drawing/2014/main" id="{57E081BE-BE2C-42D3-82E9-B0687D4B1C2B}"/>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Keep expressive material; test clarity a">
            <a:extLst xmlns:a="http://schemas.openxmlformats.org/drawingml/2006/main">
              <a:ext uri="{FF2B5EF4-FFF2-40B4-BE49-F238E27FC236}">
                <a16:creationId xmlns:a16="http://schemas.microsoft.com/office/drawing/2014/main" id="{B0FB619F-3EFF-485F-A405-6D8451966161}"/>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Keep expressive material; test clarity and real applications.</a:t>
            </a:r>
          </a:p>
        </p:txBody>
      </p:sp>
      <p:sp>
        <p:nvSpPr>
          <p:cNvPr id="11" name="Source: zachheffner.com">
            <a:extLst xmlns:a="http://schemas.openxmlformats.org/drawingml/2006/main">
              <a:ext uri="{FF2B5EF4-FFF2-40B4-BE49-F238E27FC236}">
                <a16:creationId xmlns:a16="http://schemas.microsoft.com/office/drawing/2014/main" id="{EF97E56D-F12D-4ECB-A4DF-AD9D9DF10C90}"/>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4af151627c5a42c8"/>
              </a:rPr>
              <a:t>Source: zachheffner.com</a:t>
            </a:r>
          </a:p>
        </p:txBody>
      </p:sp>
      <p:sp>
        <p:nvSpPr>
          <p:cNvPr id="12" name="Related source: linkedin.com">
            <a:extLst xmlns:a="http://schemas.openxmlformats.org/drawingml/2006/main">
              <a:ext uri="{FF2B5EF4-FFF2-40B4-BE49-F238E27FC236}">
                <a16:creationId xmlns:a16="http://schemas.microsoft.com/office/drawing/2014/main" id="{0E8C2D1D-FA18-4937-8087-50F78F331142}"/>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48f4da34a064295"/>
              </a:rPr>
              <a:t>Related source: linkedin.com</a:t>
            </a:r>
          </a:p>
        </p:txBody>
      </p:sp>
    </p:spTree>
    <p:extLst>
      <p:ext uri="{BB962C8B-B14F-4D97-AF65-F5344CB8AC3E}">
        <p14:creationId xmlns:p14="http://schemas.microsoft.com/office/powerpoint/2010/main" val="71976399"/>
      </p:ext>
    </p:extLst>
  </p:cSld>
</p:sld>
</file>

<file path=ppt/slides/slide3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31">
            <a:extLst xmlns:a="http://schemas.openxmlformats.org/drawingml/2006/main">
              <a:ext uri="{FF2B5EF4-FFF2-40B4-BE49-F238E27FC236}">
                <a16:creationId xmlns:a16="http://schemas.microsoft.com/office/drawing/2014/main" id="{F887B9C9-1EAC-44B2-98BA-1983A18E8DE9}"/>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31</a:t>
            </a:r>
          </a:p>
        </p:txBody>
      </p:sp>
      <p:sp>
        <p:nvSpPr>
          <p:cNvPr id="2" name="Anthropic’s foundations">
            <a:extLst xmlns:a="http://schemas.openxmlformats.org/drawingml/2006/main">
              <a:ext uri="{FF2B5EF4-FFF2-40B4-BE49-F238E27FC236}">
                <a16:creationId xmlns:a16="http://schemas.microsoft.com/office/drawing/2014/main" id="{426DF9B6-CCE0-4C1F-A92E-FF6BAF21FE4E}"/>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Anthropic’s foundations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a760b4035d64919"/>
          <a:stretch xmlns:a="http://schemas.openxmlformats.org/drawingml/2006/main"/>
        </p:blipFill>
        <p:spPr>
          <a:xfrm xmlns:a="http://schemas.openxmlformats.org/drawingml/2006/main">
            <a:off x="609600" y="1894422"/>
            <a:ext cx="6286500" cy="3535880"/>
          </a:xfrm>
          <a:prstGeom xmlns:a="http://schemas.openxmlformats.org/drawingml/2006/main" prst="rect">
            <a:avLst/>
          </a:prstGeom>
        </p:spPr>
      </p:pic>
      <p:sp>
        <p:nvSpPr>
          <p:cNvPr id="4" name="Warm color supports both communication a">
            <a:extLst xmlns:a="http://schemas.openxmlformats.org/drawingml/2006/main">
              <a:ext uri="{FF2B5EF4-FFF2-40B4-BE49-F238E27FC236}">
                <a16:creationId xmlns:a16="http://schemas.microsoft.com/office/drawing/2014/main" id="{3FCC43AD-BD48-4B4B-A6FD-D649570CE5D6}"/>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Warm color supports both communication and interface use.</a:t>
            </a:r>
          </a:p>
        </p:txBody>
      </p:sp>
      <p:sp>
        <p:nvSpPr>
          <p:cNvPr id="5" name="Styrene and Tiempos bring different typo">
            <a:extLst xmlns:a="http://schemas.openxmlformats.org/drawingml/2006/main">
              <a:ext uri="{FF2B5EF4-FFF2-40B4-BE49-F238E27FC236}">
                <a16:creationId xmlns:a16="http://schemas.microsoft.com/office/drawing/2014/main" id="{0AF90954-B374-45D3-B56D-A5D7AD3214BF}"/>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Styrene and Tiempos bring different typographic voices.</a:t>
            </a:r>
          </a:p>
        </p:txBody>
      </p:sp>
      <p:sp>
        <p:nvSpPr>
          <p:cNvPr id="6" name="The full system includes more than the l">
            <a:extLst xmlns:a="http://schemas.openxmlformats.org/drawingml/2006/main">
              <a:ext uri="{FF2B5EF4-FFF2-40B4-BE49-F238E27FC236}">
                <a16:creationId xmlns:a16="http://schemas.microsoft.com/office/drawing/2014/main" id="{C40322F5-87E3-4D55-82E7-F9B35AC7AB8B}"/>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The full system includes more than the logo.</a:t>
            </a:r>
          </a:p>
        </p:txBody>
      </p:sp>
      <p:sp>
        <p:nvSpPr>
          <p:cNvPr id="7" name="Source: geist.co">
            <a:extLst xmlns:a="http://schemas.openxmlformats.org/drawingml/2006/main">
              <a:ext uri="{FF2B5EF4-FFF2-40B4-BE49-F238E27FC236}">
                <a16:creationId xmlns:a16="http://schemas.microsoft.com/office/drawing/2014/main" id="{E84CF10B-372B-4BA2-93D3-EFA8826FD0A1}"/>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e530123a6a124115"/>
              </a:rPr>
              <a:t>Source: geist.co</a:t>
            </a:r>
          </a:p>
        </p:txBody>
      </p:sp>
    </p:spTree>
    <p:extLst>
      <p:ext uri="{BB962C8B-B14F-4D97-AF65-F5344CB8AC3E}">
        <p14:creationId xmlns:p14="http://schemas.microsoft.com/office/powerpoint/2010/main" val="628384824"/>
      </p:ext>
    </p:extLst>
  </p:cSld>
</p:sld>
</file>

<file path=ppt/slides/slide3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32">
            <a:extLst xmlns:a="http://schemas.openxmlformats.org/drawingml/2006/main">
              <a:ext uri="{FF2B5EF4-FFF2-40B4-BE49-F238E27FC236}">
                <a16:creationId xmlns:a16="http://schemas.microsoft.com/office/drawing/2014/main" id="{9D4A1D04-CF67-49AB-AAA3-B6B0039DC9C1}"/>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32</a:t>
            </a:r>
          </a:p>
        </p:txBody>
      </p:sp>
      <p:sp>
        <p:nvSpPr>
          <p:cNvPr id="2" name="Typography as a brand voice">
            <a:extLst xmlns:a="http://schemas.openxmlformats.org/drawingml/2006/main">
              <a:ext uri="{FF2B5EF4-FFF2-40B4-BE49-F238E27FC236}">
                <a16:creationId xmlns:a16="http://schemas.microsoft.com/office/drawing/2014/main" id="{C4BE028B-6674-4CA2-97A6-65069DDA0763}"/>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Typography as a brand voice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e4f749d34264b51"/>
          <a:stretch xmlns:a="http://schemas.openxmlformats.org/drawingml/2006/main"/>
        </p:blipFill>
        <p:spPr>
          <a:xfrm xmlns:a="http://schemas.openxmlformats.org/drawingml/2006/main">
            <a:off x="609600" y="1894422"/>
            <a:ext cx="6286500" cy="3535880"/>
          </a:xfrm>
          <a:prstGeom xmlns:a="http://schemas.openxmlformats.org/drawingml/2006/main" prst="rect">
            <a:avLst/>
          </a:prstGeom>
        </p:spPr>
      </p:pic>
      <p:sp>
        <p:nvSpPr>
          <p:cNvPr id="4" name="Letterforms contribute tone even without">
            <a:extLst xmlns:a="http://schemas.openxmlformats.org/drawingml/2006/main">
              <a:ext uri="{FF2B5EF4-FFF2-40B4-BE49-F238E27FC236}">
                <a16:creationId xmlns:a16="http://schemas.microsoft.com/office/drawing/2014/main" id="{B2A5214A-B162-4AE8-ABE0-F2DB395F2C53}"/>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Letterforms contribute tone even without decorative imagery.</a:t>
            </a:r>
          </a:p>
        </p:txBody>
      </p:sp>
      <p:sp>
        <p:nvSpPr>
          <p:cNvPr id="5" name="A pairing needs clear roles for headings">
            <a:extLst xmlns:a="http://schemas.openxmlformats.org/drawingml/2006/main">
              <a:ext uri="{FF2B5EF4-FFF2-40B4-BE49-F238E27FC236}">
                <a16:creationId xmlns:a16="http://schemas.microsoft.com/office/drawing/2014/main" id="{1AAC17E9-39EA-4063-AA3C-5ECB7D546A12}"/>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A pairing needs clear roles for headings and reading text.</a:t>
            </a:r>
          </a:p>
        </p:txBody>
      </p:sp>
      <p:sp>
        <p:nvSpPr>
          <p:cNvPr id="6" name="Actual size, spacing and context determi">
            <a:extLst xmlns:a="http://schemas.openxmlformats.org/drawingml/2006/main">
              <a:ext uri="{FF2B5EF4-FFF2-40B4-BE49-F238E27FC236}">
                <a16:creationId xmlns:a16="http://schemas.microsoft.com/office/drawing/2014/main" id="{54DC979A-275E-4A9D-9A92-1D8DC939258C}"/>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Actual size, spacing and context determine the result.</a:t>
            </a:r>
          </a:p>
        </p:txBody>
      </p:sp>
      <p:sp>
        <p:nvSpPr>
          <p:cNvPr id="7" name="Source: geist.co">
            <a:extLst xmlns:a="http://schemas.openxmlformats.org/drawingml/2006/main">
              <a:ext uri="{FF2B5EF4-FFF2-40B4-BE49-F238E27FC236}">
                <a16:creationId xmlns:a16="http://schemas.microsoft.com/office/drawing/2014/main" id="{18AE2D1F-EE19-45AE-ADD6-C89B3CE4E986}"/>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98a7aca287fe4780"/>
              </a:rPr>
              <a:t>Source: geist.co</a:t>
            </a:r>
          </a:p>
        </p:txBody>
      </p:sp>
    </p:spTree>
    <p:extLst>
      <p:ext uri="{BB962C8B-B14F-4D97-AF65-F5344CB8AC3E}">
        <p14:creationId xmlns:p14="http://schemas.microsoft.com/office/powerpoint/2010/main" val="321320036"/>
      </p:ext>
    </p:extLst>
  </p:cSld>
</p:sld>
</file>

<file path=ppt/slides/slide3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33">
            <a:extLst xmlns:a="http://schemas.openxmlformats.org/drawingml/2006/main">
              <a:ext uri="{FF2B5EF4-FFF2-40B4-BE49-F238E27FC236}">
                <a16:creationId xmlns:a16="http://schemas.microsoft.com/office/drawing/2014/main" id="{993A17E7-CDE0-4126-8472-67388BD297DF}"/>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33</a:t>
            </a:r>
          </a:p>
        </p:txBody>
      </p:sp>
      <p:sp>
        <p:nvSpPr>
          <p:cNvPr id="2" name="A system across repeated content">
            <a:extLst xmlns:a="http://schemas.openxmlformats.org/drawingml/2006/main">
              <a:ext uri="{FF2B5EF4-FFF2-40B4-BE49-F238E27FC236}">
                <a16:creationId xmlns:a16="http://schemas.microsoft.com/office/drawing/2014/main" id="{1EA1D76A-C18E-4044-8C59-585DE1EDB489}"/>
              </a:ext>
            </a:extLst>
          </p:cNvPr>
          <p:cNvSpPr>
            <a:spLocks xmlns:a="http://schemas.openxmlformats.org/drawingml/2006/main" noGrp="1"/>
          </p:cNvSpPr>
          <p:nvPr/>
        </p:nvSpPr>
        <p:spPr>
          <a:xfrm xmlns:a="http://schemas.openxmlformats.org/drawingml/2006/main">
            <a:off x="609600" y="4000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A system across repeated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a006d61754d47c8"/>
          <a:stretch xmlns:a="http://schemas.openxmlformats.org/drawingml/2006/main"/>
        </p:blipFill>
        <p:spPr>
          <a:xfrm xmlns:a="http://schemas.openxmlformats.org/drawingml/2006/main">
            <a:off x="609600" y="1894284"/>
            <a:ext cx="6286500" cy="3536156"/>
          </a:xfrm>
          <a:prstGeom xmlns:a="http://schemas.openxmlformats.org/drawingml/2006/main" prst="rect">
            <a:avLst/>
          </a:prstGeom>
        </p:spPr>
      </p:pic>
      <p:sp>
        <p:nvSpPr>
          <p:cNvPr id="4" name="Repeated content needs a stable informat">
            <a:extLst xmlns:a="http://schemas.openxmlformats.org/drawingml/2006/main">
              <a:ext uri="{FF2B5EF4-FFF2-40B4-BE49-F238E27FC236}">
                <a16:creationId xmlns:a16="http://schemas.microsoft.com/office/drawing/2014/main" id="{C8EDF822-E325-4C4F-9B85-251CB9B732F7}"/>
              </a:ext>
            </a:extLst>
          </p:cNvPr>
          <p:cNvSpPr>
            <a:spLocks xmlns:a="http://schemas.openxmlformats.org/drawingml/2006/main" noGrp="1"/>
          </p:cNvSpPr>
          <p:nvPr/>
        </p:nvSpPr>
        <p:spPr>
          <a:xfrm xmlns:a="http://schemas.openxmlformats.org/drawingml/2006/main">
            <a:off x="7467600" y="1724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82B32"/>
                </a:solidFill>
                <a:latin typeface="Arial"/>
                <a:ea typeface="Arial"/>
                <a:cs typeface="Arial"/>
              </a:defRPr>
            </a:pPr>
            <a:r>
              <a:rPr sz="1950" b="1">
                <a:solidFill>
                  <a:srgbClr val="182B32"/>
                </a:solidFill>
                <a:latin typeface="Arial"/>
                <a:ea typeface="Arial"/>
                <a:cs typeface="Arial"/>
              </a:rPr>
              <a:t>Repeated content needs a stable information hierarchy.</a:t>
            </a:r>
          </a:p>
        </p:txBody>
      </p:sp>
      <p:sp>
        <p:nvSpPr>
          <p:cNvPr id="5" name="Illustration can vary within that stable">
            <a:extLst xmlns:a="http://schemas.openxmlformats.org/drawingml/2006/main">
              <a:ext uri="{FF2B5EF4-FFF2-40B4-BE49-F238E27FC236}">
                <a16:creationId xmlns:a16="http://schemas.microsoft.com/office/drawing/2014/main" id="{84651E23-ED5E-4E80-9F4C-4C9D309E2F87}"/>
              </a:ext>
            </a:extLst>
          </p:cNvPr>
          <p:cNvSpPr>
            <a:spLocks xmlns:a="http://schemas.openxmlformats.org/drawingml/2006/main" noGrp="1"/>
          </p:cNvSpPr>
          <p:nvPr/>
        </p:nvSpPr>
        <p:spPr>
          <a:xfrm xmlns:a="http://schemas.openxmlformats.org/drawingml/2006/main">
            <a:off x="7467600" y="26955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Illustration can vary within that stable structure.</a:t>
            </a:r>
          </a:p>
        </p:txBody>
      </p:sp>
      <p:sp>
        <p:nvSpPr>
          <p:cNvPr id="6" name="Guidelines make future choices easier to">
            <a:extLst xmlns:a="http://schemas.openxmlformats.org/drawingml/2006/main">
              <a:ext uri="{FF2B5EF4-FFF2-40B4-BE49-F238E27FC236}">
                <a16:creationId xmlns:a16="http://schemas.microsoft.com/office/drawing/2014/main" id="{3B3D1D1C-503C-4177-A630-86AF7225C08F}"/>
              </a:ext>
            </a:extLst>
          </p:cNvPr>
          <p:cNvSpPr>
            <a:spLocks xmlns:a="http://schemas.openxmlformats.org/drawingml/2006/main" noGrp="1"/>
          </p:cNvSpPr>
          <p:nvPr/>
        </p:nvSpPr>
        <p:spPr>
          <a:xfrm xmlns:a="http://schemas.openxmlformats.org/drawingml/2006/main">
            <a:off x="7467600" y="36671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82B32"/>
                </a:solidFill>
                <a:latin typeface="Arial"/>
                <a:ea typeface="Arial"/>
                <a:cs typeface="Arial"/>
              </a:defRPr>
            </a:pPr>
            <a:r>
              <a:rPr sz="1950" b="0">
                <a:solidFill>
                  <a:srgbClr val="182B32"/>
                </a:solidFill>
                <a:latin typeface="Arial"/>
                <a:ea typeface="Arial"/>
                <a:cs typeface="Arial"/>
              </a:rPr>
              <a:t>Guidelines make future choices easier to coordinate.</a:t>
            </a:r>
          </a:p>
        </p:txBody>
      </p:sp>
      <p:sp>
        <p:nvSpPr>
          <p:cNvPr id="7" name="Source: geist.co">
            <a:extLst xmlns:a="http://schemas.openxmlformats.org/drawingml/2006/main">
              <a:ext uri="{FF2B5EF4-FFF2-40B4-BE49-F238E27FC236}">
                <a16:creationId xmlns:a16="http://schemas.microsoft.com/office/drawing/2014/main" id="{53C726CB-3176-4AEE-9D38-0137C7A866DE}"/>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3f28134351434cff"/>
              </a:rPr>
              <a:t>Source: geist.co</a:t>
            </a:r>
          </a:p>
        </p:txBody>
      </p:sp>
    </p:spTree>
    <p:extLst>
      <p:ext uri="{BB962C8B-B14F-4D97-AF65-F5344CB8AC3E}">
        <p14:creationId xmlns:p14="http://schemas.microsoft.com/office/powerpoint/2010/main" val="1182311903"/>
      </p:ext>
    </p:extLst>
  </p:cSld>
</p:sld>
</file>

<file path=ppt/slides/slide34.xml><?xml version="1.0" encoding="utf-8"?>
<p:sld xmlns:p="http://schemas.openxmlformats.org/presentationml/2006/main">
  <p:cSld>
    <p:bg>
      <p:bgPr>
        <a:solidFill xmlns:a="http://schemas.openxmlformats.org/drawingml/2006/main">
          <a:srgbClr val="16333A"/>
        </a:solidFill>
      </p:bgPr>
    </p:bg>
    <p:spTree>
      <p:nvGrpSpPr>
        <p:cNvPr id="1" name=""/>
        <p:cNvGrpSpPr/>
        <p:nvPr/>
      </p:nvGrpSpPr>
      <p:grpSpPr>
        <a:xfrm xmlns:a="http://schemas.openxmlformats.org/drawingml/2006/main"/>
      </p:grpSpPr>
      <p:sp>
        <p:nvSpPr>
          <p:cNvPr id="4" name="34">
            <a:extLst xmlns:a="http://schemas.openxmlformats.org/drawingml/2006/main">
              <a:ext uri="{FF2B5EF4-FFF2-40B4-BE49-F238E27FC236}">
                <a16:creationId xmlns:a16="http://schemas.microsoft.com/office/drawing/2014/main" id="{E5C1D32D-08E5-4577-ACFA-E0606AC0CBFD}"/>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4CDC9"/>
                </a:solidFill>
                <a:latin typeface="Arial"/>
                <a:ea typeface="Arial"/>
                <a:cs typeface="Arial"/>
              </a:defRPr>
            </a:pPr>
            <a:r>
              <a:rPr sz="1275" b="0">
                <a:solidFill>
                  <a:srgbClr val="B4CDC9"/>
                </a:solidFill>
                <a:latin typeface="Arial"/>
                <a:ea typeface="Arial"/>
                <a:cs typeface="Arial"/>
              </a:rPr>
              <a:t>34</a:t>
            </a:r>
          </a:p>
        </p:txBody>
      </p:sp>
      <p:sp>
        <p:nvSpPr>
          <p:cNvPr id="2" name="Design in use">
            <a:extLst xmlns:a="http://schemas.openxmlformats.org/drawingml/2006/main">
              <a:ext uri="{FF2B5EF4-FFF2-40B4-BE49-F238E27FC236}">
                <a16:creationId xmlns:a16="http://schemas.microsoft.com/office/drawing/2014/main" id="{CC38E995-7FE3-4EEE-AF6F-B6ADF7905AB8}"/>
              </a:ext>
            </a:extLst>
          </p:cNvPr>
          <p:cNvSpPr>
            <a:spLocks xmlns:a="http://schemas.openxmlformats.org/drawingml/2006/main" noGrp="1"/>
          </p:cNvSpPr>
          <p:nvPr/>
        </p:nvSpPr>
        <p:spPr>
          <a:xfrm xmlns:a="http://schemas.openxmlformats.org/drawingml/2006/main">
            <a:off x="685800" y="1524000"/>
            <a:ext cx="9906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F5F2EA"/>
                </a:solidFill>
                <a:latin typeface="Arial"/>
                <a:ea typeface="Arial"/>
                <a:cs typeface="Arial"/>
              </a:defRPr>
            </a:pPr>
            <a:r>
              <a:rPr sz="5400" b="1">
                <a:solidFill>
                  <a:srgbClr val="F5F2EA"/>
                </a:solidFill>
                <a:latin typeface="Arial"/>
                <a:ea typeface="Arial"/>
                <a:cs typeface="Arial"/>
              </a:rPr>
              <a:t>Design in use</a:t>
            </a:r>
          </a:p>
        </p:txBody>
      </p:sp>
      <p:sp>
        <p:nvSpPr>
          <p:cNvPr id="3" name="Reading, motion and smaller screens chan">
            <a:extLst xmlns:a="http://schemas.openxmlformats.org/drawingml/2006/main">
              <a:ext uri="{FF2B5EF4-FFF2-40B4-BE49-F238E27FC236}">
                <a16:creationId xmlns:a16="http://schemas.microsoft.com/office/drawing/2014/main" id="{03E8C8B7-BB74-4A16-932A-6D59133265F2}"/>
              </a:ext>
            </a:extLst>
          </p:cNvPr>
          <p:cNvSpPr>
            <a:spLocks xmlns:a="http://schemas.openxmlformats.org/drawingml/2006/main" noGrp="1"/>
          </p:cNvSpPr>
          <p:nvPr/>
        </p:nvSpPr>
        <p:spPr>
          <a:xfrm xmlns:a="http://schemas.openxmlformats.org/drawingml/2006/main">
            <a:off x="723900" y="4333875"/>
            <a:ext cx="971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4CDC9"/>
                </a:solidFill>
                <a:latin typeface="Arial"/>
                <a:ea typeface="Arial"/>
                <a:cs typeface="Arial"/>
              </a:defRPr>
            </a:pPr>
            <a:r>
              <a:rPr sz="2400" b="0">
                <a:solidFill>
                  <a:srgbClr val="B4CDC9"/>
                </a:solidFill>
                <a:latin typeface="Arial"/>
                <a:ea typeface="Arial"/>
                <a:cs typeface="Arial"/>
              </a:rPr>
              <a:t>Reading, motion and smaller screens change the brief.</a:t>
            </a:r>
          </a:p>
        </p:txBody>
      </p:sp>
    </p:spTree>
    <p:extLst>
      <p:ext uri="{BB962C8B-B14F-4D97-AF65-F5344CB8AC3E}">
        <p14:creationId xmlns:p14="http://schemas.microsoft.com/office/powerpoint/2010/main" val="82217635"/>
      </p:ext>
    </p:extLst>
  </p:cSld>
</p:sld>
</file>

<file path=ppt/slides/slide3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35">
            <a:extLst xmlns:a="http://schemas.openxmlformats.org/drawingml/2006/main">
              <a:ext uri="{FF2B5EF4-FFF2-40B4-BE49-F238E27FC236}">
                <a16:creationId xmlns:a16="http://schemas.microsoft.com/office/drawing/2014/main" id="{A838840A-44FF-4832-9FF6-1E51A657AF8C}"/>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35</a:t>
            </a:r>
          </a:p>
        </p:txBody>
      </p:sp>
      <p:sp>
        <p:nvSpPr>
          <p:cNvPr id="2" name="Space tells us what belongs together">
            <a:extLst xmlns:a="http://schemas.openxmlformats.org/drawingml/2006/main">
              <a:ext uri="{FF2B5EF4-FFF2-40B4-BE49-F238E27FC236}">
                <a16:creationId xmlns:a16="http://schemas.microsoft.com/office/drawing/2014/main" id="{2130A95F-CB95-4BF1-BF16-E5C11997D5A0}"/>
              </a:ext>
            </a:extLst>
          </p:cNvPr>
          <p:cNvSpPr>
            <a:spLocks xmlns:a="http://schemas.openxmlformats.org/drawingml/2006/main" noGrp="1"/>
          </p:cNvSpPr>
          <p:nvPr/>
        </p:nvSpPr>
        <p:spPr>
          <a:xfrm xmlns:a="http://schemas.openxmlformats.org/drawingml/2006/main">
            <a:off x="609600" y="457200"/>
            <a:ext cx="1076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Space tells us what belongs together</a:t>
            </a:r>
          </a:p>
        </p:txBody>
      </p:sp>
      <p:sp>
        <p:nvSpPr>
          <p:cNvPr id="3" name="Even spacing">
            <a:extLst xmlns:a="http://schemas.openxmlformats.org/drawingml/2006/main">
              <a:ext uri="{FF2B5EF4-FFF2-40B4-BE49-F238E27FC236}">
                <a16:creationId xmlns:a16="http://schemas.microsoft.com/office/drawing/2014/main" id="{DCBB6C59-0AFF-42F3-B21D-A48FD862F44A}"/>
              </a:ext>
            </a:extLst>
          </p:cNvPr>
          <p:cNvSpPr>
            <a:spLocks xmlns:a="http://schemas.openxmlformats.org/drawingml/2006/main" noGrp="1"/>
          </p:cNvSpPr>
          <p:nvPr/>
        </p:nvSpPr>
        <p:spPr>
          <a:xfrm xmlns:a="http://schemas.openxmlformats.org/drawingml/2006/main">
            <a:off x="609600" y="1743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B24837"/>
                </a:solidFill>
                <a:latin typeface="Arial"/>
                <a:ea typeface="Arial"/>
                <a:cs typeface="Arial"/>
              </a:defRPr>
            </a:pPr>
            <a:r>
              <a:rPr sz="1800" b="1">
                <a:solidFill>
                  <a:srgbClr val="B24837"/>
                </a:solidFill>
                <a:latin typeface="Arial"/>
                <a:ea typeface="Arial"/>
                <a:cs typeface="Arial"/>
              </a:rPr>
              <a:t>Even spacing</a:t>
            </a:r>
          </a:p>
        </p:txBody>
      </p:sp>
      <p:sp>
        <p:nvSpPr>
          <p:cNvPr id="4" name="Material study">
            <a:extLst xmlns:a="http://schemas.openxmlformats.org/drawingml/2006/main">
              <a:ext uri="{FF2B5EF4-FFF2-40B4-BE49-F238E27FC236}">
                <a16:creationId xmlns:a16="http://schemas.microsoft.com/office/drawing/2014/main" id="{1549A854-7C6C-47AB-846E-648AF829F65D}"/>
              </a:ext>
            </a:extLst>
          </p:cNvPr>
          <p:cNvSpPr>
            <a:spLocks xmlns:a="http://schemas.openxmlformats.org/drawingml/2006/main" noGrp="1"/>
          </p:cNvSpPr>
          <p:nvPr/>
        </p:nvSpPr>
        <p:spPr>
          <a:xfrm xmlns:a="http://schemas.openxmlformats.org/drawingml/2006/main">
            <a:off x="609600" y="2476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82B32"/>
                </a:solidFill>
                <a:latin typeface="Arial"/>
                <a:ea typeface="Arial"/>
                <a:cs typeface="Arial"/>
              </a:defRPr>
            </a:pPr>
            <a:r>
              <a:rPr sz="2550" b="1">
                <a:solidFill>
                  <a:srgbClr val="182B32"/>
                </a:solidFill>
                <a:latin typeface="Arial"/>
                <a:ea typeface="Arial"/>
                <a:cs typeface="Arial"/>
              </a:rPr>
              <a:t>Material study</a:t>
            </a:r>
          </a:p>
        </p:txBody>
      </p:sp>
      <p:sp>
        <p:nvSpPr>
          <p:cNvPr id="5" name="Light and texture">
            <a:extLst xmlns:a="http://schemas.openxmlformats.org/drawingml/2006/main">
              <a:ext uri="{FF2B5EF4-FFF2-40B4-BE49-F238E27FC236}">
                <a16:creationId xmlns:a16="http://schemas.microsoft.com/office/drawing/2014/main" id="{8CF18B02-A38C-4664-ABCC-0EC65B8FD7BC}"/>
              </a:ext>
            </a:extLst>
          </p:cNvPr>
          <p:cNvSpPr>
            <a:spLocks xmlns:a="http://schemas.openxmlformats.org/drawingml/2006/main" noGrp="1"/>
          </p:cNvSpPr>
          <p:nvPr/>
        </p:nvSpPr>
        <p:spPr>
          <a:xfrm xmlns:a="http://schemas.openxmlformats.org/drawingml/2006/main">
            <a:off x="609600" y="3238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B32"/>
                </a:solidFill>
                <a:latin typeface="Arial"/>
                <a:ea typeface="Arial"/>
                <a:cs typeface="Arial"/>
              </a:defRPr>
            </a:pPr>
            <a:r>
              <a:rPr sz="2025" b="0">
                <a:solidFill>
                  <a:srgbClr val="182B32"/>
                </a:solidFill>
                <a:latin typeface="Arial"/>
                <a:ea typeface="Arial"/>
                <a:cs typeface="Arial"/>
              </a:rPr>
              <a:t>Light and texture</a:t>
            </a:r>
          </a:p>
        </p:txBody>
      </p:sp>
      <p:sp>
        <p:nvSpPr>
          <p:cNvPr id="6" name="Color study">
            <a:extLst xmlns:a="http://schemas.openxmlformats.org/drawingml/2006/main">
              <a:ext uri="{FF2B5EF4-FFF2-40B4-BE49-F238E27FC236}">
                <a16:creationId xmlns:a16="http://schemas.microsoft.com/office/drawing/2014/main" id="{1094197C-D9E5-4595-B83A-387B82DEE93D}"/>
              </a:ext>
            </a:extLst>
          </p:cNvPr>
          <p:cNvSpPr>
            <a:spLocks xmlns:a="http://schemas.openxmlformats.org/drawingml/2006/main" noGrp="1"/>
          </p:cNvSpPr>
          <p:nvPr/>
        </p:nvSpPr>
        <p:spPr>
          <a:xfrm xmlns:a="http://schemas.openxmlformats.org/drawingml/2006/main">
            <a:off x="609600" y="4000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82B32"/>
                </a:solidFill>
                <a:latin typeface="Arial"/>
                <a:ea typeface="Arial"/>
                <a:cs typeface="Arial"/>
              </a:defRPr>
            </a:pPr>
            <a:r>
              <a:rPr sz="2550" b="1">
                <a:solidFill>
                  <a:srgbClr val="182B32"/>
                </a:solidFill>
                <a:latin typeface="Arial"/>
                <a:ea typeface="Arial"/>
                <a:cs typeface="Arial"/>
              </a:rPr>
              <a:t>Color study</a:t>
            </a:r>
          </a:p>
        </p:txBody>
      </p:sp>
      <p:sp>
        <p:nvSpPr>
          <p:cNvPr id="7" name="Hue and contrast">
            <a:extLst xmlns:a="http://schemas.openxmlformats.org/drawingml/2006/main">
              <a:ext uri="{FF2B5EF4-FFF2-40B4-BE49-F238E27FC236}">
                <a16:creationId xmlns:a16="http://schemas.microsoft.com/office/drawing/2014/main" id="{AC4FC637-1917-4BA3-88B0-C8B746D7E978}"/>
              </a:ext>
            </a:extLst>
          </p:cNvPr>
          <p:cNvSpPr>
            <a:spLocks xmlns:a="http://schemas.openxmlformats.org/drawingml/2006/main" noGrp="1"/>
          </p:cNvSpPr>
          <p:nvPr/>
        </p:nvSpPr>
        <p:spPr>
          <a:xfrm xmlns:a="http://schemas.openxmlformats.org/drawingml/2006/main">
            <a:off x="609600" y="4762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B32"/>
                </a:solidFill>
                <a:latin typeface="Arial"/>
                <a:ea typeface="Arial"/>
                <a:cs typeface="Arial"/>
              </a:defRPr>
            </a:pPr>
            <a:r>
              <a:rPr sz="2025" b="0">
                <a:solidFill>
                  <a:srgbClr val="182B32"/>
                </a:solidFill>
                <a:latin typeface="Arial"/>
                <a:ea typeface="Arial"/>
                <a:cs typeface="Arial"/>
              </a:rPr>
              <a:t>Hue and contrast</a:t>
            </a:r>
          </a:p>
        </p:txBody>
      </p:sp>
      <p:sp>
        <p:nvSpPr>
          <p:cNvPr id="8" name="Related items closer">
            <a:extLst xmlns:a="http://schemas.openxmlformats.org/drawingml/2006/main">
              <a:ext uri="{FF2B5EF4-FFF2-40B4-BE49-F238E27FC236}">
                <a16:creationId xmlns:a16="http://schemas.microsoft.com/office/drawing/2014/main" id="{1C837B3D-F249-4944-9BCA-A54937F0C0E9}"/>
              </a:ext>
            </a:extLst>
          </p:cNvPr>
          <p:cNvSpPr>
            <a:spLocks xmlns:a="http://schemas.openxmlformats.org/drawingml/2006/main" noGrp="1"/>
          </p:cNvSpPr>
          <p:nvPr/>
        </p:nvSpPr>
        <p:spPr>
          <a:xfrm xmlns:a="http://schemas.openxmlformats.org/drawingml/2006/main">
            <a:off x="6419850" y="1743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B24837"/>
                </a:solidFill>
                <a:latin typeface="Arial"/>
                <a:ea typeface="Arial"/>
                <a:cs typeface="Arial"/>
              </a:defRPr>
            </a:pPr>
            <a:r>
              <a:rPr sz="1800" b="1">
                <a:solidFill>
                  <a:srgbClr val="B24837"/>
                </a:solidFill>
                <a:latin typeface="Arial"/>
                <a:ea typeface="Arial"/>
                <a:cs typeface="Arial"/>
              </a:rPr>
              <a:t>Related items closer</a:t>
            </a:r>
          </a:p>
        </p:txBody>
      </p:sp>
      <p:sp>
        <p:nvSpPr>
          <p:cNvPr id="9" name="Material study">
            <a:extLst xmlns:a="http://schemas.openxmlformats.org/drawingml/2006/main">
              <a:ext uri="{FF2B5EF4-FFF2-40B4-BE49-F238E27FC236}">
                <a16:creationId xmlns:a16="http://schemas.microsoft.com/office/drawing/2014/main" id="{2404DE75-F9E0-45EC-9906-1556C9F2D4CC}"/>
              </a:ext>
            </a:extLst>
          </p:cNvPr>
          <p:cNvSpPr>
            <a:spLocks xmlns:a="http://schemas.openxmlformats.org/drawingml/2006/main" noGrp="1"/>
          </p:cNvSpPr>
          <p:nvPr/>
        </p:nvSpPr>
        <p:spPr>
          <a:xfrm xmlns:a="http://schemas.openxmlformats.org/drawingml/2006/main">
            <a:off x="6419850" y="2476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82B32"/>
                </a:solidFill>
                <a:latin typeface="Arial"/>
                <a:ea typeface="Arial"/>
                <a:cs typeface="Arial"/>
              </a:defRPr>
            </a:pPr>
            <a:r>
              <a:rPr sz="2550" b="1">
                <a:solidFill>
                  <a:srgbClr val="182B32"/>
                </a:solidFill>
                <a:latin typeface="Arial"/>
                <a:ea typeface="Arial"/>
                <a:cs typeface="Arial"/>
              </a:rPr>
              <a:t>Material study</a:t>
            </a:r>
          </a:p>
        </p:txBody>
      </p:sp>
      <p:sp>
        <p:nvSpPr>
          <p:cNvPr id="10" name="Light and texture">
            <a:extLst xmlns:a="http://schemas.openxmlformats.org/drawingml/2006/main">
              <a:ext uri="{FF2B5EF4-FFF2-40B4-BE49-F238E27FC236}">
                <a16:creationId xmlns:a16="http://schemas.microsoft.com/office/drawing/2014/main" id="{D96E9416-88AF-4D99-862B-7565A2FC3DD5}"/>
              </a:ext>
            </a:extLst>
          </p:cNvPr>
          <p:cNvSpPr>
            <a:spLocks xmlns:a="http://schemas.openxmlformats.org/drawingml/2006/main" noGrp="1"/>
          </p:cNvSpPr>
          <p:nvPr/>
        </p:nvSpPr>
        <p:spPr>
          <a:xfrm xmlns:a="http://schemas.openxmlformats.org/drawingml/2006/main">
            <a:off x="6419850" y="29241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B32"/>
                </a:solidFill>
                <a:latin typeface="Arial"/>
                <a:ea typeface="Arial"/>
                <a:cs typeface="Arial"/>
              </a:defRPr>
            </a:pPr>
            <a:r>
              <a:rPr sz="2025" b="0">
                <a:solidFill>
                  <a:srgbClr val="182B32"/>
                </a:solidFill>
                <a:latin typeface="Arial"/>
                <a:ea typeface="Arial"/>
                <a:cs typeface="Arial"/>
              </a:rPr>
              <a:t>Light and texture</a:t>
            </a:r>
          </a:p>
        </p:txBody>
      </p:sp>
      <p:sp>
        <p:nvSpPr>
          <p:cNvPr id="11" name="Color study">
            <a:extLst xmlns:a="http://schemas.openxmlformats.org/drawingml/2006/main">
              <a:ext uri="{FF2B5EF4-FFF2-40B4-BE49-F238E27FC236}">
                <a16:creationId xmlns:a16="http://schemas.microsoft.com/office/drawing/2014/main" id="{C0C3349F-2963-45BC-8252-BAF80DA8B680}"/>
              </a:ext>
            </a:extLst>
          </p:cNvPr>
          <p:cNvSpPr>
            <a:spLocks xmlns:a="http://schemas.openxmlformats.org/drawingml/2006/main" noGrp="1"/>
          </p:cNvSpPr>
          <p:nvPr/>
        </p:nvSpPr>
        <p:spPr>
          <a:xfrm xmlns:a="http://schemas.openxmlformats.org/drawingml/2006/main">
            <a:off x="6419850" y="4000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82B32"/>
                </a:solidFill>
                <a:latin typeface="Arial"/>
                <a:ea typeface="Arial"/>
                <a:cs typeface="Arial"/>
              </a:defRPr>
            </a:pPr>
            <a:r>
              <a:rPr sz="2550" b="1">
                <a:solidFill>
                  <a:srgbClr val="182B32"/>
                </a:solidFill>
                <a:latin typeface="Arial"/>
                <a:ea typeface="Arial"/>
                <a:cs typeface="Arial"/>
              </a:rPr>
              <a:t>Color study</a:t>
            </a:r>
          </a:p>
        </p:txBody>
      </p:sp>
      <p:sp>
        <p:nvSpPr>
          <p:cNvPr id="12" name="Hue and contrast">
            <a:extLst xmlns:a="http://schemas.openxmlformats.org/drawingml/2006/main">
              <a:ext uri="{FF2B5EF4-FFF2-40B4-BE49-F238E27FC236}">
                <a16:creationId xmlns:a16="http://schemas.microsoft.com/office/drawing/2014/main" id="{E35599CE-1DC2-45A5-A19D-2363BB5618E1}"/>
              </a:ext>
            </a:extLst>
          </p:cNvPr>
          <p:cNvSpPr>
            <a:spLocks xmlns:a="http://schemas.openxmlformats.org/drawingml/2006/main" noGrp="1"/>
          </p:cNvSpPr>
          <p:nvPr/>
        </p:nvSpPr>
        <p:spPr>
          <a:xfrm xmlns:a="http://schemas.openxmlformats.org/drawingml/2006/main">
            <a:off x="6419850" y="44481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B32"/>
                </a:solidFill>
                <a:latin typeface="Arial"/>
                <a:ea typeface="Arial"/>
                <a:cs typeface="Arial"/>
              </a:defRPr>
            </a:pPr>
            <a:r>
              <a:rPr sz="2025" b="0">
                <a:solidFill>
                  <a:srgbClr val="182B32"/>
                </a:solidFill>
                <a:latin typeface="Arial"/>
                <a:ea typeface="Arial"/>
                <a:cs typeface="Arial"/>
              </a:rPr>
              <a:t>Hue and contrast</a:t>
            </a:r>
          </a:p>
        </p:txBody>
      </p:sp>
      <p:sp>
        <p:nvSpPr>
          <p:cNvPr id="13" name="Same words, type and width. Only the des">
            <a:extLst xmlns:a="http://schemas.openxmlformats.org/drawingml/2006/main">
              <a:ext uri="{FF2B5EF4-FFF2-40B4-BE49-F238E27FC236}">
                <a16:creationId xmlns:a16="http://schemas.microsoft.com/office/drawing/2014/main" id="{D3D4D223-A485-4C07-8ACD-88AE50ADA233}"/>
              </a:ext>
            </a:extLst>
          </p:cNvPr>
          <p:cNvSpPr>
            <a:spLocks xmlns:a="http://schemas.openxmlformats.org/drawingml/2006/main" noGrp="1"/>
          </p:cNvSpPr>
          <p:nvPr/>
        </p:nvSpPr>
        <p:spPr>
          <a:xfrm xmlns:a="http://schemas.openxmlformats.org/drawingml/2006/main">
            <a:off x="609600" y="54768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76B"/>
                </a:solidFill>
                <a:latin typeface="Arial"/>
                <a:ea typeface="Arial"/>
                <a:cs typeface="Arial"/>
              </a:defRPr>
            </a:pPr>
            <a:r>
              <a:rPr sz="1800" b="0">
                <a:solidFill>
                  <a:srgbClr val="52676B"/>
                </a:solidFill>
                <a:latin typeface="Arial"/>
                <a:ea typeface="Arial"/>
                <a:cs typeface="Arial"/>
              </a:rPr>
              <a:t>Same words, type and width. Only the description’s vertical position changes.</a:t>
            </a:r>
          </a:p>
        </p:txBody>
      </p:sp>
      <p:sp>
        <p:nvSpPr>
          <p:cNvPr id="14" name="Source: palmerlab.berkeley.edu">
            <a:extLst xmlns:a="http://schemas.openxmlformats.org/drawingml/2006/main">
              <a:ext uri="{FF2B5EF4-FFF2-40B4-BE49-F238E27FC236}">
                <a16:creationId xmlns:a16="http://schemas.microsoft.com/office/drawing/2014/main" id="{5D149E0E-9ABC-4909-A733-7B2787162E8B}"/>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045aa488de884c46"/>
              </a:rPr>
              <a:t>Source: palmerlab.berkeley.edu</a:t>
            </a:r>
          </a:p>
        </p:txBody>
      </p:sp>
      <p:sp>
        <p:nvSpPr>
          <p:cNvPr id="15" name="Related source: cooperhewitt.org">
            <a:extLst xmlns:a="http://schemas.openxmlformats.org/drawingml/2006/main">
              <a:ext uri="{FF2B5EF4-FFF2-40B4-BE49-F238E27FC236}">
                <a16:creationId xmlns:a16="http://schemas.microsoft.com/office/drawing/2014/main" id="{12CD34FB-E106-47C2-84C3-007F68C2CFDA}"/>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349e976b9a4e442d"/>
              </a:rPr>
              <a:t>Related source: cooperhewitt.org</a:t>
            </a:r>
          </a:p>
        </p:txBody>
      </p:sp>
    </p:spTree>
    <p:extLst>
      <p:ext uri="{BB962C8B-B14F-4D97-AF65-F5344CB8AC3E}">
        <p14:creationId xmlns:p14="http://schemas.microsoft.com/office/powerpoint/2010/main" val="1239646998"/>
      </p:ext>
    </p:extLst>
  </p:cSld>
</p:sld>
</file>

<file path=ppt/slides/slide3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36">
            <a:extLst xmlns:a="http://schemas.openxmlformats.org/drawingml/2006/main">
              <a:ext uri="{FF2B5EF4-FFF2-40B4-BE49-F238E27FC236}">
                <a16:creationId xmlns:a16="http://schemas.microsoft.com/office/drawing/2014/main" id="{02049739-970A-4397-BD4C-4D25377D31DA}"/>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36</a:t>
            </a:r>
          </a:p>
        </p:txBody>
      </p:sp>
      <p:sp>
        <p:nvSpPr>
          <p:cNvPr id="2" name="Protect the reading surface">
            <a:extLst xmlns:a="http://schemas.openxmlformats.org/drawingml/2006/main">
              <a:ext uri="{FF2B5EF4-FFF2-40B4-BE49-F238E27FC236}">
                <a16:creationId xmlns:a16="http://schemas.microsoft.com/office/drawing/2014/main" id="{92293802-BA20-483F-9EC9-859452FD372C}"/>
              </a:ext>
            </a:extLst>
          </p:cNvPr>
          <p:cNvSpPr>
            <a:spLocks xmlns:a="http://schemas.openxmlformats.org/drawingml/2006/main" noGrp="1"/>
          </p:cNvSpPr>
          <p:nvPr/>
        </p:nvSpPr>
        <p:spPr>
          <a:xfrm xmlns:a="http://schemas.openxmlformats.org/drawingml/2006/main">
            <a:off x="609600" y="457200"/>
            <a:ext cx="1076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Protect the reading surface</a:t>
            </a:r>
          </a:p>
        </p:txBody>
      </p:sp>
      <p:sp>
        <p:nvSpPr>
          <p:cNvPr id="3" name="Variable reading surface">
            <a:extLst xmlns:a="http://schemas.openxmlformats.org/drawingml/2006/main">
              <a:ext uri="{FF2B5EF4-FFF2-40B4-BE49-F238E27FC236}">
                <a16:creationId xmlns:a16="http://schemas.microsoft.com/office/drawing/2014/main" id="{2082ACE5-9235-4855-A633-5A536C604246}"/>
              </a:ext>
            </a:extLst>
          </p:cNvPr>
          <p:cNvSpPr>
            <a:spLocks xmlns:a="http://schemas.openxmlformats.org/drawingml/2006/main" noGrp="1"/>
          </p:cNvSpPr>
          <p:nvPr/>
        </p:nvSpPr>
        <p:spPr>
          <a:xfrm xmlns:a="http://schemas.openxmlformats.org/drawingml/2006/main">
            <a:off x="609600" y="17049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B24837"/>
                </a:solidFill>
                <a:latin typeface="Arial"/>
                <a:ea typeface="Arial"/>
                <a:cs typeface="Arial"/>
              </a:defRPr>
            </a:pPr>
            <a:r>
              <a:rPr sz="1800" b="1">
                <a:solidFill>
                  <a:srgbClr val="B24837"/>
                </a:solidFill>
                <a:latin typeface="Arial"/>
                <a:ea typeface="Arial"/>
                <a:cs typeface="Arial"/>
              </a:rPr>
              <a:t>Variable reading surface</a:t>
            </a:r>
          </a:p>
        </p:txBody>
      </p:sp>
      <p:sp>
        <p:nvSpPr>
          <p:cNvPr id="4" name="Solid reading surface">
            <a:extLst xmlns:a="http://schemas.openxmlformats.org/drawingml/2006/main">
              <a:ext uri="{FF2B5EF4-FFF2-40B4-BE49-F238E27FC236}">
                <a16:creationId xmlns:a16="http://schemas.microsoft.com/office/drawing/2014/main" id="{B4C44872-0303-4B42-B965-EA84ED6E5B95}"/>
              </a:ext>
            </a:extLst>
          </p:cNvPr>
          <p:cNvSpPr>
            <a:spLocks xmlns:a="http://schemas.openxmlformats.org/drawingml/2006/main" noGrp="1"/>
          </p:cNvSpPr>
          <p:nvPr/>
        </p:nvSpPr>
        <p:spPr>
          <a:xfrm xmlns:a="http://schemas.openxmlformats.org/drawingml/2006/main">
            <a:off x="6419850" y="17049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B24837"/>
                </a:solidFill>
                <a:latin typeface="Arial"/>
                <a:ea typeface="Arial"/>
                <a:cs typeface="Arial"/>
              </a:defRPr>
            </a:pPr>
            <a:r>
              <a:rPr sz="1800" b="1">
                <a:solidFill>
                  <a:srgbClr val="B24837"/>
                </a:solidFill>
                <a:latin typeface="Arial"/>
                <a:ea typeface="Arial"/>
                <a:cs typeface="Arial"/>
              </a:rPr>
              <a:t>Solid reading surface</a:t>
            </a:r>
          </a:p>
        </p:txBody>
      </p:sp>
      <p:sp>
        <p:nvSpPr>
          <p:cNvPr id="5" name="">
            <a:extLst xmlns:a="http://schemas.openxmlformats.org/drawingml/2006/main">
              <a:ext uri="{FF2B5EF4-FFF2-40B4-BE49-F238E27FC236}">
                <a16:creationId xmlns:a16="http://schemas.microsoft.com/office/drawing/2014/main" id="{8F5236DD-F773-4A65-BB1C-710B5802A32B}"/>
              </a:ext>
            </a:extLst>
          </p:cNvPr>
          <p:cNvSpPr>
            <a:spLocks xmlns:a="http://schemas.openxmlformats.org/drawingml/2006/main" noGrp="1"/>
          </p:cNvSpPr>
          <p:nvPr/>
        </p:nvSpPr>
        <p:spPr>
          <a:xfrm xmlns:a="http://schemas.openxmlformats.org/drawingml/2006/main">
            <a:off x="609600" y="2286000"/>
            <a:ext cx="5143500" cy="2286000"/>
          </a:xfrm>
          <a:prstGeom xmlns:a="http://schemas.openxmlformats.org/drawingml/2006/main" prst="rect">
            <a:avLst/>
          </a:prstGeom>
          <a:solidFill xmlns:a="http://schemas.openxmlformats.org/drawingml/2006/main">
            <a:srgbClr val="B4CDC9"/>
          </a:solidFill>
          <a:ln xmlns:a="http://schemas.openxmlformats.org/drawingml/2006/main" w="9525">
            <a:noFill/>
          </a:ln>
        </p:spPr>
      </p:sp>
      <p:sp>
        <p:nvSpPr>
          <p:cNvPr id="6" name="">
            <a:extLst xmlns:a="http://schemas.openxmlformats.org/drawingml/2006/main">
              <a:ext uri="{FF2B5EF4-FFF2-40B4-BE49-F238E27FC236}">
                <a16:creationId xmlns:a16="http://schemas.microsoft.com/office/drawing/2014/main" id="{7EC1DF45-729D-46F4-8CCC-CC862EAB11C8}"/>
              </a:ext>
            </a:extLst>
          </p:cNvPr>
          <p:cNvSpPr>
            <a:spLocks xmlns:a="http://schemas.openxmlformats.org/drawingml/2006/main" noGrp="1"/>
          </p:cNvSpPr>
          <p:nvPr/>
        </p:nvSpPr>
        <p:spPr>
          <a:xfrm xmlns:a="http://schemas.openxmlformats.org/drawingml/2006/main">
            <a:off x="3086100" y="2286000"/>
            <a:ext cx="1524000" cy="2286000"/>
          </a:xfrm>
          <a:prstGeom xmlns:a="http://schemas.openxmlformats.org/drawingml/2006/main" prst="rect">
            <a:avLst/>
          </a:prstGeom>
          <a:solidFill xmlns:a="http://schemas.openxmlformats.org/drawingml/2006/main">
            <a:srgbClr val="182B32"/>
          </a:solidFill>
          <a:ln xmlns:a="http://schemas.openxmlformats.org/drawingml/2006/main" w="9525">
            <a:noFill/>
          </a:ln>
        </p:spPr>
      </p:sp>
      <p:sp>
        <p:nvSpPr>
          <p:cNvPr id="7" name="Make the message&#10;easy to read.">
            <a:extLst xmlns:a="http://schemas.openxmlformats.org/drawingml/2006/main">
              <a:ext uri="{FF2B5EF4-FFF2-40B4-BE49-F238E27FC236}">
                <a16:creationId xmlns:a16="http://schemas.microsoft.com/office/drawing/2014/main" id="{63B81981-20EB-4BC8-BCC1-E2039494B84E}"/>
              </a:ext>
            </a:extLst>
          </p:cNvPr>
          <p:cNvSpPr>
            <a:spLocks xmlns:a="http://schemas.openxmlformats.org/drawingml/2006/main" noGrp="1"/>
          </p:cNvSpPr>
          <p:nvPr/>
        </p:nvSpPr>
        <p:spPr>
          <a:xfrm xmlns:a="http://schemas.openxmlformats.org/drawingml/2006/main">
            <a:off x="971550" y="2905125"/>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82B32"/>
                </a:solidFill>
                <a:latin typeface="Arial"/>
                <a:ea typeface="Arial"/>
                <a:cs typeface="Arial"/>
              </a:defRPr>
            </a:pPr>
            <a:r>
              <a:rPr sz="3150" b="1">
                <a:solidFill>
                  <a:srgbClr val="182B32"/>
                </a:solidFill>
                <a:latin typeface="Arial"/>
                <a:ea typeface="Arial"/>
                <a:cs typeface="Arial"/>
              </a:rPr>
              <a:t>Make the message</a:t>
            </a:r>
          </a:p>
          <a:p xmlns:a="http://schemas.openxmlformats.org/drawingml/2006/main">
            <a:pPr>
              <a:defRPr sz="3150" b="1">
                <a:solidFill>
                  <a:srgbClr val="182B32"/>
                </a:solidFill>
                <a:latin typeface="Arial"/>
                <a:ea typeface="Arial"/>
                <a:cs typeface="Arial"/>
              </a:defRPr>
            </a:pPr>
            <a:r>
              <a:rPr sz="3150" b="1">
                <a:solidFill>
                  <a:srgbClr val="182B32"/>
                </a:solidFill>
                <a:latin typeface="Arial"/>
                <a:ea typeface="Arial"/>
                <a:cs typeface="Arial"/>
              </a:rPr>
              <a:t>easy to read.</a:t>
            </a:r>
          </a:p>
        </p:txBody>
      </p:sp>
      <p:sp>
        <p:nvSpPr>
          <p:cNvPr id="8" name="">
            <a:extLst xmlns:a="http://schemas.openxmlformats.org/drawingml/2006/main">
              <a:ext uri="{FF2B5EF4-FFF2-40B4-BE49-F238E27FC236}">
                <a16:creationId xmlns:a16="http://schemas.microsoft.com/office/drawing/2014/main" id="{8B0CC0E1-4E83-4894-BDD1-B362413BFC04}"/>
              </a:ext>
            </a:extLst>
          </p:cNvPr>
          <p:cNvSpPr>
            <a:spLocks xmlns:a="http://schemas.openxmlformats.org/drawingml/2006/main" noGrp="1"/>
          </p:cNvSpPr>
          <p:nvPr/>
        </p:nvSpPr>
        <p:spPr>
          <a:xfrm xmlns:a="http://schemas.openxmlformats.org/drawingml/2006/main">
            <a:off x="6419850" y="2286000"/>
            <a:ext cx="5143500" cy="2286000"/>
          </a:xfrm>
          <a:prstGeom xmlns:a="http://schemas.openxmlformats.org/drawingml/2006/main" prst="rect">
            <a:avLst/>
          </a:prstGeom>
          <a:solidFill xmlns:a="http://schemas.openxmlformats.org/drawingml/2006/main">
            <a:srgbClr val="B4CDC9"/>
          </a:solidFill>
          <a:ln xmlns:a="http://schemas.openxmlformats.org/drawingml/2006/main" w="9525">
            <a:noFill/>
          </a:ln>
        </p:spPr>
      </p:sp>
      <p:sp>
        <p:nvSpPr>
          <p:cNvPr id="9" name="Make the message&#10;easy to read.">
            <a:extLst xmlns:a="http://schemas.openxmlformats.org/drawingml/2006/main">
              <a:ext uri="{FF2B5EF4-FFF2-40B4-BE49-F238E27FC236}">
                <a16:creationId xmlns:a16="http://schemas.microsoft.com/office/drawing/2014/main" id="{B22A6472-7333-4D1B-8789-110A66696A6C}"/>
              </a:ext>
            </a:extLst>
          </p:cNvPr>
          <p:cNvSpPr>
            <a:spLocks xmlns:a="http://schemas.openxmlformats.org/drawingml/2006/main" noGrp="1"/>
          </p:cNvSpPr>
          <p:nvPr/>
        </p:nvSpPr>
        <p:spPr>
          <a:xfrm xmlns:a="http://schemas.openxmlformats.org/drawingml/2006/main">
            <a:off x="6781800" y="2905125"/>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82B32"/>
                </a:solidFill>
                <a:latin typeface="Arial"/>
                <a:ea typeface="Arial"/>
                <a:cs typeface="Arial"/>
              </a:defRPr>
            </a:pPr>
            <a:r>
              <a:rPr sz="3150" b="1">
                <a:solidFill>
                  <a:srgbClr val="182B32"/>
                </a:solidFill>
                <a:latin typeface="Arial"/>
                <a:ea typeface="Arial"/>
                <a:cs typeface="Arial"/>
              </a:rPr>
              <a:t>Make the message</a:t>
            </a:r>
          </a:p>
          <a:p xmlns:a="http://schemas.openxmlformats.org/drawingml/2006/main">
            <a:pPr>
              <a:defRPr sz="3150" b="1">
                <a:solidFill>
                  <a:srgbClr val="182B32"/>
                </a:solidFill>
                <a:latin typeface="Arial"/>
                <a:ea typeface="Arial"/>
                <a:cs typeface="Arial"/>
              </a:defRPr>
            </a:pPr>
            <a:r>
              <a:rPr sz="3150" b="1">
                <a:solidFill>
                  <a:srgbClr val="182B32"/>
                </a:solidFill>
                <a:latin typeface="Arial"/>
                <a:ea typeface="Arial"/>
                <a:cs typeface="Arial"/>
              </a:rPr>
              <a:t>easy to read.</a:t>
            </a:r>
          </a:p>
        </p:txBody>
      </p:sp>
      <p:sp>
        <p:nvSpPr>
          <p:cNvPr id="10" name="Check the background beneath each letter">
            <a:extLst xmlns:a="http://schemas.openxmlformats.org/drawingml/2006/main">
              <a:ext uri="{FF2B5EF4-FFF2-40B4-BE49-F238E27FC236}">
                <a16:creationId xmlns:a16="http://schemas.microsoft.com/office/drawing/2014/main" id="{CB19B9C9-D77E-4CCA-B06C-F2F5478F148A}"/>
              </a:ext>
            </a:extLst>
          </p:cNvPr>
          <p:cNvSpPr>
            <a:spLocks xmlns:a="http://schemas.openxmlformats.org/drawingml/2006/main" noGrp="1"/>
          </p:cNvSpPr>
          <p:nvPr/>
        </p:nvSpPr>
        <p:spPr>
          <a:xfrm xmlns:a="http://schemas.openxmlformats.org/drawingml/2006/main">
            <a:off x="609600" y="4953000"/>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B32"/>
                </a:solidFill>
                <a:latin typeface="Arial"/>
                <a:ea typeface="Arial"/>
                <a:cs typeface="Arial"/>
              </a:defRPr>
            </a:pPr>
            <a:r>
              <a:rPr sz="2250" b="0">
                <a:solidFill>
                  <a:srgbClr val="182B32"/>
                </a:solidFill>
                <a:latin typeface="Arial"/>
                <a:ea typeface="Arial"/>
                <a:cs typeface="Arial"/>
              </a:rPr>
              <a:t>Check the background beneath each letter. A palette alone is insufficient.</a:t>
            </a:r>
          </a:p>
        </p:txBody>
      </p:sp>
      <p:sp>
        <p:nvSpPr>
          <p:cNvPr id="11" name="AA minimums: 4.5:1 ordinary text; 3:1 qu">
            <a:extLst xmlns:a="http://schemas.openxmlformats.org/drawingml/2006/main">
              <a:ext uri="{FF2B5EF4-FFF2-40B4-BE49-F238E27FC236}">
                <a16:creationId xmlns:a16="http://schemas.microsoft.com/office/drawing/2014/main" id="{08AF165E-EA2F-40A9-A717-6B643FEEF8B9}"/>
              </a:ext>
            </a:extLst>
          </p:cNvPr>
          <p:cNvSpPr>
            <a:spLocks xmlns:a="http://schemas.openxmlformats.org/drawingml/2006/main" noGrp="1"/>
          </p:cNvSpPr>
          <p:nvPr/>
        </p:nvSpPr>
        <p:spPr>
          <a:xfrm xmlns:a="http://schemas.openxmlformats.org/drawingml/2006/main">
            <a:off x="609600" y="56102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76B"/>
                </a:solidFill>
                <a:latin typeface="Arial"/>
                <a:ea typeface="Arial"/>
                <a:cs typeface="Arial"/>
              </a:defRPr>
            </a:pPr>
            <a:r>
              <a:rPr sz="1650" b="0">
                <a:solidFill>
                  <a:srgbClr val="52676B"/>
                </a:solidFill>
                <a:latin typeface="Arial"/>
                <a:ea typeface="Arial"/>
                <a:cs typeface="Arial"/>
              </a:rPr>
              <a:t>AA minimums: 4.5:1 ordinary text; 3:1 qualifying large text. Exceptions apply.</a:t>
            </a:r>
          </a:p>
        </p:txBody>
      </p:sp>
      <p:sp>
        <p:nvSpPr>
          <p:cNvPr id="12" name="Source: w3.org">
            <a:extLst xmlns:a="http://schemas.openxmlformats.org/drawingml/2006/main">
              <a:ext uri="{FF2B5EF4-FFF2-40B4-BE49-F238E27FC236}">
                <a16:creationId xmlns:a16="http://schemas.microsoft.com/office/drawing/2014/main" id="{A1C1F756-35A9-4FB6-AD48-621F50EBEC11}"/>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44c5c193d9f44756"/>
              </a:rPr>
              <a:t>Source: w3.org</a:t>
            </a:r>
          </a:p>
        </p:txBody>
      </p:sp>
    </p:spTree>
    <p:extLst>
      <p:ext uri="{BB962C8B-B14F-4D97-AF65-F5344CB8AC3E}">
        <p14:creationId xmlns:p14="http://schemas.microsoft.com/office/powerpoint/2010/main" val="54717084"/>
      </p:ext>
    </p:extLst>
  </p:cSld>
</p:sld>
</file>

<file path=ppt/slides/slide3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0" name="37">
            <a:extLst xmlns:a="http://schemas.openxmlformats.org/drawingml/2006/main">
              <a:ext uri="{FF2B5EF4-FFF2-40B4-BE49-F238E27FC236}">
                <a16:creationId xmlns:a16="http://schemas.microsoft.com/office/drawing/2014/main" id="{4451A1BD-ECA8-46F9-8FF8-1EF046DDBB48}"/>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37</a:t>
            </a:r>
          </a:p>
        </p:txBody>
      </p:sp>
      <p:sp>
        <p:nvSpPr>
          <p:cNvPr id="2" name="Motion and its still alternative">
            <a:extLst xmlns:a="http://schemas.openxmlformats.org/drawingml/2006/main">
              <a:ext uri="{FF2B5EF4-FFF2-40B4-BE49-F238E27FC236}">
                <a16:creationId xmlns:a16="http://schemas.microsoft.com/office/drawing/2014/main" id="{AD6EF00C-84F0-4ACF-BC9A-7E038464B41D}"/>
              </a:ext>
            </a:extLst>
          </p:cNvPr>
          <p:cNvSpPr>
            <a:spLocks xmlns:a="http://schemas.openxmlformats.org/drawingml/2006/main" noGrp="1"/>
          </p:cNvSpPr>
          <p:nvPr/>
        </p:nvSpPr>
        <p:spPr>
          <a:xfrm xmlns:a="http://schemas.openxmlformats.org/drawingml/2006/main">
            <a:off x="609600" y="457200"/>
            <a:ext cx="1076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Motion and its still alternative</a:t>
            </a:r>
          </a:p>
        </p:txBody>
      </p:sp>
      <p:sp>
        <p:nvSpPr>
          <p:cNvPr id="3" name="Proposed motion sequence">
            <a:extLst xmlns:a="http://schemas.openxmlformats.org/drawingml/2006/main">
              <a:ext uri="{FF2B5EF4-FFF2-40B4-BE49-F238E27FC236}">
                <a16:creationId xmlns:a16="http://schemas.microsoft.com/office/drawing/2014/main" id="{3401294E-AC28-480F-8284-B240E72C0B9E}"/>
              </a:ext>
            </a:extLst>
          </p:cNvPr>
          <p:cNvSpPr>
            <a:spLocks xmlns:a="http://schemas.openxmlformats.org/drawingml/2006/main" noGrp="1"/>
          </p:cNvSpPr>
          <p:nvPr/>
        </p:nvSpPr>
        <p:spPr>
          <a:xfrm xmlns:a="http://schemas.openxmlformats.org/drawingml/2006/main">
            <a:off x="609600" y="17335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B24837"/>
                </a:solidFill>
                <a:latin typeface="Arial"/>
                <a:ea typeface="Arial"/>
                <a:cs typeface="Arial"/>
              </a:defRPr>
            </a:pPr>
            <a:r>
              <a:rPr sz="1875" b="1">
                <a:solidFill>
                  <a:srgbClr val="B24837"/>
                </a:solidFill>
                <a:latin typeface="Arial"/>
                <a:ea typeface="Arial"/>
                <a:cs typeface="Arial"/>
              </a:rPr>
              <a:t>Proposed motion sequence</a:t>
            </a:r>
          </a:p>
        </p:txBody>
      </p:sp>
      <p:sp>
        <p:nvSpPr>
          <p:cNvPr id="4" name="">
            <a:extLst xmlns:a="http://schemas.openxmlformats.org/drawingml/2006/main">
              <a:ext uri="{FF2B5EF4-FFF2-40B4-BE49-F238E27FC236}">
                <a16:creationId xmlns:a16="http://schemas.microsoft.com/office/drawing/2014/main" id="{35696422-8112-4586-AEFB-1F9E79EA34EA}"/>
              </a:ext>
            </a:extLst>
          </p:cNvPr>
          <p:cNvSpPr>
            <a:spLocks xmlns:a="http://schemas.openxmlformats.org/drawingml/2006/main" noGrp="1"/>
          </p:cNvSpPr>
          <p:nvPr/>
        </p:nvSpPr>
        <p:spPr>
          <a:xfrm xmlns:a="http://schemas.openxmlformats.org/drawingml/2006/main">
            <a:off x="609600" y="2381250"/>
            <a:ext cx="1905000" cy="1905000"/>
          </a:xfrm>
          <a:prstGeom xmlns:a="http://schemas.openxmlformats.org/drawingml/2006/main" prst="rect">
            <a:avLst/>
          </a:prstGeom>
          <a:noFill xmlns:a="http://schemas.openxmlformats.org/drawingml/2006/main"/>
          <a:ln xmlns:a="http://schemas.openxmlformats.org/drawingml/2006/main" w="9525">
            <a:solidFill>
              <a:srgbClr val="B4CDC9"/>
            </a:solidFill>
          </a:ln>
        </p:spPr>
      </p:sp>
      <p:sp>
        <p:nvSpPr>
          <p:cNvPr id="5" name="">
            <a:extLst xmlns:a="http://schemas.openxmlformats.org/drawingml/2006/main">
              <a:ext uri="{FF2B5EF4-FFF2-40B4-BE49-F238E27FC236}">
                <a16:creationId xmlns:a16="http://schemas.microsoft.com/office/drawing/2014/main" id="{B2F5C9D3-C3FE-4253-B32D-D33BD0908181}"/>
              </a:ext>
            </a:extLst>
          </p:cNvPr>
          <p:cNvSpPr>
            <a:spLocks xmlns:a="http://schemas.openxmlformats.org/drawingml/2006/main" noGrp="1"/>
          </p:cNvSpPr>
          <p:nvPr/>
        </p:nvSpPr>
        <p:spPr>
          <a:xfrm xmlns:a="http://schemas.openxmlformats.org/drawingml/2006/main">
            <a:off x="819150" y="3048000"/>
            <a:ext cx="428625" cy="428625"/>
          </a:xfrm>
          <a:prstGeom xmlns:a="http://schemas.openxmlformats.org/drawingml/2006/main" prst="rect">
            <a:avLst/>
          </a:prstGeom>
          <a:solidFill xmlns:a="http://schemas.openxmlformats.org/drawingml/2006/main">
            <a:srgbClr val="B24837"/>
          </a:solidFill>
          <a:ln xmlns:a="http://schemas.openxmlformats.org/drawingml/2006/main" w="9525">
            <a:noFill/>
          </a:ln>
        </p:spPr>
      </p:sp>
      <p:sp>
        <p:nvSpPr>
          <p:cNvPr id="6" name="Frame 1">
            <a:extLst xmlns:a="http://schemas.openxmlformats.org/drawingml/2006/main">
              <a:ext uri="{FF2B5EF4-FFF2-40B4-BE49-F238E27FC236}">
                <a16:creationId xmlns:a16="http://schemas.microsoft.com/office/drawing/2014/main" id="{9F9933FE-D429-4809-9706-18913A0FB043}"/>
              </a:ext>
            </a:extLst>
          </p:cNvPr>
          <p:cNvSpPr>
            <a:spLocks xmlns:a="http://schemas.openxmlformats.org/drawingml/2006/main" noGrp="1"/>
          </p:cNvSpPr>
          <p:nvPr/>
        </p:nvSpPr>
        <p:spPr>
          <a:xfrm xmlns:a="http://schemas.openxmlformats.org/drawingml/2006/main">
            <a:off x="609600" y="446722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76B"/>
                </a:solidFill>
                <a:latin typeface="Arial"/>
                <a:ea typeface="Arial"/>
                <a:cs typeface="Arial"/>
              </a:defRPr>
            </a:pPr>
            <a:r>
              <a:rPr sz="1650" b="0">
                <a:solidFill>
                  <a:srgbClr val="52676B"/>
                </a:solidFill>
                <a:latin typeface="Arial"/>
                <a:ea typeface="Arial"/>
                <a:cs typeface="Arial"/>
              </a:rPr>
              <a:t>Frame 1</a:t>
            </a:r>
          </a:p>
        </p:txBody>
      </p:sp>
      <p:sp>
        <p:nvSpPr>
          <p:cNvPr id="7" name="">
            <a:extLst xmlns:a="http://schemas.openxmlformats.org/drawingml/2006/main">
              <a:ext uri="{FF2B5EF4-FFF2-40B4-BE49-F238E27FC236}">
                <a16:creationId xmlns:a16="http://schemas.microsoft.com/office/drawing/2014/main" id="{64EA0888-20B1-4BF6-9EEA-D20A1BEFC701}"/>
              </a:ext>
            </a:extLst>
          </p:cNvPr>
          <p:cNvSpPr>
            <a:spLocks xmlns:a="http://schemas.openxmlformats.org/drawingml/2006/main" noGrp="1"/>
          </p:cNvSpPr>
          <p:nvPr/>
        </p:nvSpPr>
        <p:spPr>
          <a:xfrm xmlns:a="http://schemas.openxmlformats.org/drawingml/2006/main">
            <a:off x="2800350" y="2381250"/>
            <a:ext cx="1905000" cy="1905000"/>
          </a:xfrm>
          <a:prstGeom xmlns:a="http://schemas.openxmlformats.org/drawingml/2006/main" prst="rect">
            <a:avLst/>
          </a:prstGeom>
          <a:noFill xmlns:a="http://schemas.openxmlformats.org/drawingml/2006/main"/>
          <a:ln xmlns:a="http://schemas.openxmlformats.org/drawingml/2006/main" w="9525">
            <a:solidFill>
              <a:srgbClr val="B4CDC9"/>
            </a:solidFill>
          </a:ln>
        </p:spPr>
      </p:sp>
      <p:sp>
        <p:nvSpPr>
          <p:cNvPr id="8" name="">
            <a:extLst xmlns:a="http://schemas.openxmlformats.org/drawingml/2006/main">
              <a:ext uri="{FF2B5EF4-FFF2-40B4-BE49-F238E27FC236}">
                <a16:creationId xmlns:a16="http://schemas.microsoft.com/office/drawing/2014/main" id="{ED79FC43-4115-4F51-951E-09651B218067}"/>
              </a:ext>
            </a:extLst>
          </p:cNvPr>
          <p:cNvSpPr>
            <a:spLocks xmlns:a="http://schemas.openxmlformats.org/drawingml/2006/main" noGrp="1"/>
          </p:cNvSpPr>
          <p:nvPr/>
        </p:nvSpPr>
        <p:spPr>
          <a:xfrm xmlns:a="http://schemas.openxmlformats.org/drawingml/2006/main">
            <a:off x="3467100" y="3048000"/>
            <a:ext cx="428625" cy="428625"/>
          </a:xfrm>
          <a:prstGeom xmlns:a="http://schemas.openxmlformats.org/drawingml/2006/main" prst="rect">
            <a:avLst/>
          </a:prstGeom>
          <a:solidFill xmlns:a="http://schemas.openxmlformats.org/drawingml/2006/main">
            <a:srgbClr val="B24837"/>
          </a:solidFill>
          <a:ln xmlns:a="http://schemas.openxmlformats.org/drawingml/2006/main" w="9525">
            <a:noFill/>
          </a:ln>
        </p:spPr>
      </p:sp>
      <p:sp>
        <p:nvSpPr>
          <p:cNvPr id="9" name="Frame 2">
            <a:extLst xmlns:a="http://schemas.openxmlformats.org/drawingml/2006/main">
              <a:ext uri="{FF2B5EF4-FFF2-40B4-BE49-F238E27FC236}">
                <a16:creationId xmlns:a16="http://schemas.microsoft.com/office/drawing/2014/main" id="{1967C3A2-9A0D-4387-A806-4F104480B3B9}"/>
              </a:ext>
            </a:extLst>
          </p:cNvPr>
          <p:cNvSpPr>
            <a:spLocks xmlns:a="http://schemas.openxmlformats.org/drawingml/2006/main" noGrp="1"/>
          </p:cNvSpPr>
          <p:nvPr/>
        </p:nvSpPr>
        <p:spPr>
          <a:xfrm xmlns:a="http://schemas.openxmlformats.org/drawingml/2006/main">
            <a:off x="2800350" y="446722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76B"/>
                </a:solidFill>
                <a:latin typeface="Arial"/>
                <a:ea typeface="Arial"/>
                <a:cs typeface="Arial"/>
              </a:defRPr>
            </a:pPr>
            <a:r>
              <a:rPr sz="1650" b="0">
                <a:solidFill>
                  <a:srgbClr val="52676B"/>
                </a:solidFill>
                <a:latin typeface="Arial"/>
                <a:ea typeface="Arial"/>
                <a:cs typeface="Arial"/>
              </a:rPr>
              <a:t>Frame 2</a:t>
            </a:r>
          </a:p>
        </p:txBody>
      </p:sp>
      <p:sp>
        <p:nvSpPr>
          <p:cNvPr id="10" name="">
            <a:extLst xmlns:a="http://schemas.openxmlformats.org/drawingml/2006/main">
              <a:ext uri="{FF2B5EF4-FFF2-40B4-BE49-F238E27FC236}">
                <a16:creationId xmlns:a16="http://schemas.microsoft.com/office/drawing/2014/main" id="{FAE3739C-BFFB-4CAE-8DFC-44165199D360}"/>
              </a:ext>
            </a:extLst>
          </p:cNvPr>
          <p:cNvSpPr>
            <a:spLocks xmlns:a="http://schemas.openxmlformats.org/drawingml/2006/main" noGrp="1"/>
          </p:cNvSpPr>
          <p:nvPr/>
        </p:nvSpPr>
        <p:spPr>
          <a:xfrm xmlns:a="http://schemas.openxmlformats.org/drawingml/2006/main">
            <a:off x="4991100" y="2381250"/>
            <a:ext cx="1905000" cy="1905000"/>
          </a:xfrm>
          <a:prstGeom xmlns:a="http://schemas.openxmlformats.org/drawingml/2006/main" prst="rect">
            <a:avLst/>
          </a:prstGeom>
          <a:noFill xmlns:a="http://schemas.openxmlformats.org/drawingml/2006/main"/>
          <a:ln xmlns:a="http://schemas.openxmlformats.org/drawingml/2006/main" w="9525">
            <a:solidFill>
              <a:srgbClr val="B4CDC9"/>
            </a:solidFill>
          </a:ln>
        </p:spPr>
      </p:sp>
      <p:sp>
        <p:nvSpPr>
          <p:cNvPr id="11" name="">
            <a:extLst xmlns:a="http://schemas.openxmlformats.org/drawingml/2006/main">
              <a:ext uri="{FF2B5EF4-FFF2-40B4-BE49-F238E27FC236}">
                <a16:creationId xmlns:a16="http://schemas.microsoft.com/office/drawing/2014/main" id="{67D7DA0F-D1AE-4103-A77C-B7E5370499C3}"/>
              </a:ext>
            </a:extLst>
          </p:cNvPr>
          <p:cNvSpPr>
            <a:spLocks xmlns:a="http://schemas.openxmlformats.org/drawingml/2006/main" noGrp="1"/>
          </p:cNvSpPr>
          <p:nvPr/>
        </p:nvSpPr>
        <p:spPr>
          <a:xfrm xmlns:a="http://schemas.openxmlformats.org/drawingml/2006/main">
            <a:off x="6115050" y="3048000"/>
            <a:ext cx="428625" cy="428625"/>
          </a:xfrm>
          <a:prstGeom xmlns:a="http://schemas.openxmlformats.org/drawingml/2006/main" prst="rect">
            <a:avLst/>
          </a:prstGeom>
          <a:solidFill xmlns:a="http://schemas.openxmlformats.org/drawingml/2006/main">
            <a:srgbClr val="B24837"/>
          </a:solidFill>
          <a:ln xmlns:a="http://schemas.openxmlformats.org/drawingml/2006/main" w="9525">
            <a:noFill/>
          </a:ln>
        </p:spPr>
      </p:sp>
      <p:sp>
        <p:nvSpPr>
          <p:cNvPr id="12" name="Frame 3">
            <a:extLst xmlns:a="http://schemas.openxmlformats.org/drawingml/2006/main">
              <a:ext uri="{FF2B5EF4-FFF2-40B4-BE49-F238E27FC236}">
                <a16:creationId xmlns:a16="http://schemas.microsoft.com/office/drawing/2014/main" id="{28B101FD-2EBD-4A87-8677-F3BD0D607909}"/>
              </a:ext>
            </a:extLst>
          </p:cNvPr>
          <p:cNvSpPr>
            <a:spLocks xmlns:a="http://schemas.openxmlformats.org/drawingml/2006/main" noGrp="1"/>
          </p:cNvSpPr>
          <p:nvPr/>
        </p:nvSpPr>
        <p:spPr>
          <a:xfrm xmlns:a="http://schemas.openxmlformats.org/drawingml/2006/main">
            <a:off x="4991100" y="446722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2676B"/>
                </a:solidFill>
                <a:latin typeface="Arial"/>
                <a:ea typeface="Arial"/>
                <a:cs typeface="Arial"/>
              </a:defRPr>
            </a:pPr>
            <a:r>
              <a:rPr sz="1650" b="0">
                <a:solidFill>
                  <a:srgbClr val="52676B"/>
                </a:solidFill>
                <a:latin typeface="Arial"/>
                <a:ea typeface="Arial"/>
                <a:cs typeface="Arial"/>
              </a:rPr>
              <a:t>Frame 3</a:t>
            </a:r>
          </a:p>
        </p:txBody>
      </p:sp>
      <p:sp>
        <p:nvSpPr>
          <p:cNvPr id="13" name="Still alternative">
            <a:extLst xmlns:a="http://schemas.openxmlformats.org/drawingml/2006/main">
              <a:ext uri="{FF2B5EF4-FFF2-40B4-BE49-F238E27FC236}">
                <a16:creationId xmlns:a16="http://schemas.microsoft.com/office/drawing/2014/main" id="{EE479C9D-4B7F-4F61-9914-7CE3F59D6B75}"/>
              </a:ext>
            </a:extLst>
          </p:cNvPr>
          <p:cNvSpPr>
            <a:spLocks xmlns:a="http://schemas.openxmlformats.org/drawingml/2006/main" noGrp="1"/>
          </p:cNvSpPr>
          <p:nvPr/>
        </p:nvSpPr>
        <p:spPr>
          <a:xfrm xmlns:a="http://schemas.openxmlformats.org/drawingml/2006/main">
            <a:off x="7848600" y="17335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B24837"/>
                </a:solidFill>
                <a:latin typeface="Arial"/>
                <a:ea typeface="Arial"/>
                <a:cs typeface="Arial"/>
              </a:defRPr>
            </a:pPr>
            <a:r>
              <a:rPr sz="1875" b="1">
                <a:solidFill>
                  <a:srgbClr val="B24837"/>
                </a:solidFill>
                <a:latin typeface="Arial"/>
                <a:ea typeface="Arial"/>
                <a:cs typeface="Arial"/>
              </a:rPr>
              <a:t>Still alternative</a:t>
            </a:r>
          </a:p>
        </p:txBody>
      </p:sp>
      <p:sp>
        <p:nvSpPr>
          <p:cNvPr id="14" name="">
            <a:extLst xmlns:a="http://schemas.openxmlformats.org/drawingml/2006/main">
              <a:ext uri="{FF2B5EF4-FFF2-40B4-BE49-F238E27FC236}">
                <a16:creationId xmlns:a16="http://schemas.microsoft.com/office/drawing/2014/main" id="{F584FDD6-7D67-4A44-826E-4791A6E8C27A}"/>
              </a:ext>
            </a:extLst>
          </p:cNvPr>
          <p:cNvSpPr>
            <a:spLocks xmlns:a="http://schemas.openxmlformats.org/drawingml/2006/main" noGrp="1"/>
          </p:cNvSpPr>
          <p:nvPr/>
        </p:nvSpPr>
        <p:spPr>
          <a:xfrm xmlns:a="http://schemas.openxmlformats.org/drawingml/2006/main">
            <a:off x="7848600" y="2381250"/>
            <a:ext cx="3333750" cy="1905000"/>
          </a:xfrm>
          <a:prstGeom xmlns:a="http://schemas.openxmlformats.org/drawingml/2006/main" prst="rect">
            <a:avLst/>
          </a:prstGeom>
          <a:noFill xmlns:a="http://schemas.openxmlformats.org/drawingml/2006/main"/>
          <a:ln xmlns:a="http://schemas.openxmlformats.org/drawingml/2006/main" w="9525">
            <a:solidFill>
              <a:srgbClr val="B4CDC9"/>
            </a:solidFill>
          </a:ln>
        </p:spPr>
      </p:sp>
      <p:sp>
        <p:nvSpPr>
          <p:cNvPr id="15" name="">
            <a:extLst xmlns:a="http://schemas.openxmlformats.org/drawingml/2006/main">
              <a:ext uri="{FF2B5EF4-FFF2-40B4-BE49-F238E27FC236}">
                <a16:creationId xmlns:a16="http://schemas.microsoft.com/office/drawing/2014/main" id="{1183F7DB-16C8-4785-AF12-E82C04F4EC78}"/>
              </a:ext>
            </a:extLst>
          </p:cNvPr>
          <p:cNvSpPr>
            <a:spLocks xmlns:a="http://schemas.openxmlformats.org/drawingml/2006/main" noGrp="1"/>
          </p:cNvSpPr>
          <p:nvPr/>
        </p:nvSpPr>
        <p:spPr>
          <a:xfrm xmlns:a="http://schemas.openxmlformats.org/drawingml/2006/main">
            <a:off x="9296400" y="3048000"/>
            <a:ext cx="428625" cy="428625"/>
          </a:xfrm>
          <a:prstGeom xmlns:a="http://schemas.openxmlformats.org/drawingml/2006/main" prst="rect">
            <a:avLst/>
          </a:prstGeom>
          <a:solidFill xmlns:a="http://schemas.openxmlformats.org/drawingml/2006/main">
            <a:srgbClr val="B24837"/>
          </a:solidFill>
          <a:ln xmlns:a="http://schemas.openxmlformats.org/drawingml/2006/main" w="9525">
            <a:noFill/>
          </a:ln>
        </p:spPr>
      </p:sp>
      <p:sp>
        <p:nvSpPr>
          <p:cNvPr id="16" name="Meaning remains available">
            <a:extLst xmlns:a="http://schemas.openxmlformats.org/drawingml/2006/main">
              <a:ext uri="{FF2B5EF4-FFF2-40B4-BE49-F238E27FC236}">
                <a16:creationId xmlns:a16="http://schemas.microsoft.com/office/drawing/2014/main" id="{86EBB986-0F38-410B-B989-8FDD79F7B643}"/>
              </a:ext>
            </a:extLst>
          </p:cNvPr>
          <p:cNvSpPr>
            <a:spLocks xmlns:a="http://schemas.openxmlformats.org/drawingml/2006/main" noGrp="1"/>
          </p:cNvSpPr>
          <p:nvPr/>
        </p:nvSpPr>
        <p:spPr>
          <a:xfrm xmlns:a="http://schemas.openxmlformats.org/drawingml/2006/main">
            <a:off x="7848600" y="44672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2676B"/>
                </a:solidFill>
                <a:latin typeface="Arial"/>
                <a:ea typeface="Arial"/>
                <a:cs typeface="Arial"/>
              </a:defRPr>
            </a:pPr>
            <a:r>
              <a:rPr sz="1800" b="0">
                <a:solidFill>
                  <a:srgbClr val="52676B"/>
                </a:solidFill>
                <a:latin typeface="Arial"/>
                <a:ea typeface="Arial"/>
                <a:cs typeface="Arial"/>
              </a:rPr>
              <a:t>Meaning remains available</a:t>
            </a:r>
          </a:p>
        </p:txBody>
      </p:sp>
      <p:sp>
        <p:nvSpPr>
          <p:cNvPr id="17" name="Keep meaning in the still state. Provide">
            <a:extLst xmlns:a="http://schemas.openxmlformats.org/drawingml/2006/main">
              <a:ext uri="{FF2B5EF4-FFF2-40B4-BE49-F238E27FC236}">
                <a16:creationId xmlns:a16="http://schemas.microsoft.com/office/drawing/2014/main" id="{4F784A8F-1E8E-4C3D-842D-2EDCD6C518F8}"/>
              </a:ext>
            </a:extLst>
          </p:cNvPr>
          <p:cNvSpPr>
            <a:spLocks xmlns:a="http://schemas.openxmlformats.org/drawingml/2006/main" noGrp="1"/>
          </p:cNvSpPr>
          <p:nvPr/>
        </p:nvSpPr>
        <p:spPr>
          <a:xfrm xmlns:a="http://schemas.openxmlformats.org/drawingml/2006/main">
            <a:off x="609600" y="52959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B32"/>
                </a:solidFill>
                <a:latin typeface="Arial"/>
                <a:ea typeface="Arial"/>
                <a:cs typeface="Arial"/>
              </a:defRPr>
            </a:pPr>
            <a:r>
              <a:rPr sz="2175" b="0">
                <a:solidFill>
                  <a:srgbClr val="182B32"/>
                </a:solidFill>
                <a:latin typeface="Arial"/>
                <a:ea typeface="Arial"/>
                <a:cs typeface="Arial"/>
              </a:rPr>
              <a:t>Keep meaning in the still state. Provide controls and reduced-motion support.</a:t>
            </a:r>
          </a:p>
        </p:txBody>
      </p:sp>
      <p:sp>
        <p:nvSpPr>
          <p:cNvPr id="18" name="Source: w3.org">
            <a:extLst xmlns:a="http://schemas.openxmlformats.org/drawingml/2006/main">
              <a:ext uri="{FF2B5EF4-FFF2-40B4-BE49-F238E27FC236}">
                <a16:creationId xmlns:a16="http://schemas.microsoft.com/office/drawing/2014/main" id="{20BF1E71-6732-47FF-A26C-B4757145BDF8}"/>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18c6b86205804fb5"/>
              </a:rPr>
              <a:t>Source: w3.org</a:t>
            </a:r>
          </a:p>
        </p:txBody>
      </p:sp>
      <p:sp>
        <p:nvSpPr>
          <p:cNvPr id="19" name="Related source: w3.org">
            <a:extLst xmlns:a="http://schemas.openxmlformats.org/drawingml/2006/main">
              <a:ext uri="{FF2B5EF4-FFF2-40B4-BE49-F238E27FC236}">
                <a16:creationId xmlns:a16="http://schemas.microsoft.com/office/drawing/2014/main" id="{0A423076-F7D1-47C3-95E9-8B719D48A5E4}"/>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e7433c099a2c453b"/>
              </a:rPr>
              <a:t>Related source: w3.org</a:t>
            </a:r>
          </a:p>
        </p:txBody>
      </p:sp>
    </p:spTree>
    <p:extLst>
      <p:ext uri="{BB962C8B-B14F-4D97-AF65-F5344CB8AC3E}">
        <p14:creationId xmlns:p14="http://schemas.microsoft.com/office/powerpoint/2010/main" val="522538922"/>
      </p:ext>
    </p:extLst>
  </p:cSld>
</p:sld>
</file>

<file path=ppt/slides/slide3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38">
            <a:extLst xmlns:a="http://schemas.openxmlformats.org/drawingml/2006/main">
              <a:ext uri="{FF2B5EF4-FFF2-40B4-BE49-F238E27FC236}">
                <a16:creationId xmlns:a16="http://schemas.microsoft.com/office/drawing/2014/main" id="{B81A6851-4A3F-4201-B4C8-8042832E8F7C}"/>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38</a:t>
            </a:r>
          </a:p>
        </p:txBody>
      </p:sp>
      <p:sp>
        <p:nvSpPr>
          <p:cNvPr id="2" name="Translate the composition to a smaller s">
            <a:extLst xmlns:a="http://schemas.openxmlformats.org/drawingml/2006/main">
              <a:ext uri="{FF2B5EF4-FFF2-40B4-BE49-F238E27FC236}">
                <a16:creationId xmlns:a16="http://schemas.microsoft.com/office/drawing/2014/main" id="{336210EB-E225-45C3-BB55-238EE35B9E19}"/>
              </a:ext>
            </a:extLst>
          </p:cNvPr>
          <p:cNvSpPr>
            <a:spLocks xmlns:a="http://schemas.openxmlformats.org/drawingml/2006/main" noGrp="1"/>
          </p:cNvSpPr>
          <p:nvPr/>
        </p:nvSpPr>
        <p:spPr>
          <a:xfrm xmlns:a="http://schemas.openxmlformats.org/drawingml/2006/main">
            <a:off x="609600" y="457200"/>
            <a:ext cx="1076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Translate the composition to a smaller surface</a:t>
            </a:r>
          </a:p>
        </p:txBody>
      </p:sp>
      <p:sp>
        <p:nvSpPr>
          <p:cNvPr id="3" name="Wide composition">
            <a:extLst xmlns:a="http://schemas.openxmlformats.org/drawingml/2006/main">
              <a:ext uri="{FF2B5EF4-FFF2-40B4-BE49-F238E27FC236}">
                <a16:creationId xmlns:a16="http://schemas.microsoft.com/office/drawing/2014/main" id="{C87E8E21-EC18-47E6-9BF6-3ED1CA7C7D99}"/>
              </a:ext>
            </a:extLst>
          </p:cNvPr>
          <p:cNvSpPr>
            <a:spLocks xmlns:a="http://schemas.openxmlformats.org/drawingml/2006/main" noGrp="1"/>
          </p:cNvSpPr>
          <p:nvPr/>
        </p:nvSpPr>
        <p:spPr>
          <a:xfrm xmlns:a="http://schemas.openxmlformats.org/drawingml/2006/main">
            <a:off x="609600" y="16478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B24837"/>
                </a:solidFill>
                <a:latin typeface="Arial"/>
                <a:ea typeface="Arial"/>
                <a:cs typeface="Arial"/>
              </a:defRPr>
            </a:pPr>
            <a:r>
              <a:rPr sz="1800" b="1">
                <a:solidFill>
                  <a:srgbClr val="B24837"/>
                </a:solidFill>
                <a:latin typeface="Arial"/>
                <a:ea typeface="Arial"/>
                <a:cs typeface="Arial"/>
              </a:rPr>
              <a:t>Wide composition</a:t>
            </a:r>
          </a:p>
        </p:txBody>
      </p:sp>
      <p:sp>
        <p:nvSpPr>
          <p:cNvPr id="4" name="Narrow composition">
            <a:extLst xmlns:a="http://schemas.openxmlformats.org/drawingml/2006/main">
              <a:ext uri="{FF2B5EF4-FFF2-40B4-BE49-F238E27FC236}">
                <a16:creationId xmlns:a16="http://schemas.microsoft.com/office/drawing/2014/main" id="{A6A9BA44-B198-482B-B568-392A38D1DB0A}"/>
              </a:ext>
            </a:extLst>
          </p:cNvPr>
          <p:cNvSpPr>
            <a:spLocks xmlns:a="http://schemas.openxmlformats.org/drawingml/2006/main" noGrp="1"/>
          </p:cNvSpPr>
          <p:nvPr/>
        </p:nvSpPr>
        <p:spPr>
          <a:xfrm xmlns:a="http://schemas.openxmlformats.org/drawingml/2006/main">
            <a:off x="8039100" y="164782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B24837"/>
                </a:solidFill>
                <a:latin typeface="Arial"/>
                <a:ea typeface="Arial"/>
                <a:cs typeface="Arial"/>
              </a:defRPr>
            </a:pPr>
            <a:r>
              <a:rPr sz="1800" b="1">
                <a:solidFill>
                  <a:srgbClr val="B24837"/>
                </a:solidFill>
                <a:latin typeface="Arial"/>
                <a:ea typeface="Arial"/>
                <a:cs typeface="Arial"/>
              </a:rPr>
              <a:t>Narrow composition</a:t>
            </a:r>
          </a:p>
        </p:txBody>
      </p:sp>
      <p:sp>
        <p:nvSpPr>
          <p:cNvPr id="5" name="">
            <a:extLst xmlns:a="http://schemas.openxmlformats.org/drawingml/2006/main">
              <a:ext uri="{FF2B5EF4-FFF2-40B4-BE49-F238E27FC236}">
                <a16:creationId xmlns:a16="http://schemas.microsoft.com/office/drawing/2014/main" id="{70E82963-7CF1-45BC-8FA0-44D37454E87A}"/>
              </a:ext>
            </a:extLst>
          </p:cNvPr>
          <p:cNvSpPr>
            <a:spLocks xmlns:a="http://schemas.openxmlformats.org/drawingml/2006/main" noGrp="1"/>
          </p:cNvSpPr>
          <p:nvPr/>
        </p:nvSpPr>
        <p:spPr>
          <a:xfrm xmlns:a="http://schemas.openxmlformats.org/drawingml/2006/main">
            <a:off x="609600" y="2143125"/>
            <a:ext cx="6477000" cy="2847975"/>
          </a:xfrm>
          <a:prstGeom xmlns:a="http://schemas.openxmlformats.org/drawingml/2006/main" prst="rect">
            <a:avLst/>
          </a:prstGeom>
          <a:noFill xmlns:a="http://schemas.openxmlformats.org/drawingml/2006/main"/>
          <a:ln xmlns:a="http://schemas.openxmlformats.org/drawingml/2006/main" w="9525">
            <a:solidFill>
              <a:srgbClr val="B4CDC9"/>
            </a:solidFill>
          </a:ln>
        </p:spPr>
      </p:sp>
      <p:sp>
        <p:nvSpPr>
          <p:cNvPr id="6" name="">
            <a:extLst xmlns:a="http://schemas.openxmlformats.org/drawingml/2006/main">
              <a:ext uri="{FF2B5EF4-FFF2-40B4-BE49-F238E27FC236}">
                <a16:creationId xmlns:a16="http://schemas.microsoft.com/office/drawing/2014/main" id="{5E347EED-0963-4C8C-B5F7-333C376FE43F}"/>
              </a:ext>
            </a:extLst>
          </p:cNvPr>
          <p:cNvSpPr>
            <a:spLocks xmlns:a="http://schemas.openxmlformats.org/drawingml/2006/main" noGrp="1"/>
          </p:cNvSpPr>
          <p:nvPr/>
        </p:nvSpPr>
        <p:spPr>
          <a:xfrm xmlns:a="http://schemas.openxmlformats.org/drawingml/2006/main">
            <a:off x="4648200" y="2486025"/>
            <a:ext cx="2057400" cy="2076450"/>
          </a:xfrm>
          <a:prstGeom xmlns:a="http://schemas.openxmlformats.org/drawingml/2006/main" prst="rect">
            <a:avLst/>
          </a:prstGeom>
          <a:solidFill xmlns:a="http://schemas.openxmlformats.org/drawingml/2006/main">
            <a:srgbClr val="B4CDC9"/>
          </a:solidFill>
          <a:ln xmlns:a="http://schemas.openxmlformats.org/drawingml/2006/main" w="9525">
            <a:noFill/>
          </a:ln>
        </p:spPr>
      </p:sp>
      <p:sp>
        <p:nvSpPr>
          <p:cNvPr id="7" name="A material&#10;point of view">
            <a:extLst xmlns:a="http://schemas.openxmlformats.org/drawingml/2006/main">
              <a:ext uri="{FF2B5EF4-FFF2-40B4-BE49-F238E27FC236}">
                <a16:creationId xmlns:a16="http://schemas.microsoft.com/office/drawing/2014/main" id="{594B8733-D763-4036-994C-4741108C2557}"/>
              </a:ext>
            </a:extLst>
          </p:cNvPr>
          <p:cNvSpPr>
            <a:spLocks xmlns:a="http://schemas.openxmlformats.org/drawingml/2006/main" noGrp="1"/>
          </p:cNvSpPr>
          <p:nvPr/>
        </p:nvSpPr>
        <p:spPr>
          <a:xfrm xmlns:a="http://schemas.openxmlformats.org/drawingml/2006/main">
            <a:off x="904875" y="2571750"/>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82B32"/>
                </a:solidFill>
                <a:latin typeface="Arial"/>
                <a:ea typeface="Arial"/>
                <a:cs typeface="Arial"/>
              </a:defRPr>
            </a:pPr>
            <a:r>
              <a:rPr sz="2850" b="1">
                <a:solidFill>
                  <a:srgbClr val="182B32"/>
                </a:solidFill>
                <a:latin typeface="Arial"/>
                <a:ea typeface="Arial"/>
                <a:cs typeface="Arial"/>
              </a:rPr>
              <a:t>A material</a:t>
            </a:r>
          </a:p>
          <a:p xmlns:a="http://schemas.openxmlformats.org/drawingml/2006/main">
            <a:pPr>
              <a:defRPr sz="2850" b="1">
                <a:solidFill>
                  <a:srgbClr val="182B32"/>
                </a:solidFill>
                <a:latin typeface="Arial"/>
                <a:ea typeface="Arial"/>
                <a:cs typeface="Arial"/>
              </a:defRPr>
            </a:pPr>
            <a:r>
              <a:rPr sz="2850" b="1">
                <a:solidFill>
                  <a:srgbClr val="182B32"/>
                </a:solidFill>
                <a:latin typeface="Arial"/>
                <a:ea typeface="Arial"/>
                <a:cs typeface="Arial"/>
              </a:rPr>
              <a:t>point of view</a:t>
            </a:r>
          </a:p>
        </p:txBody>
      </p:sp>
      <p:sp>
        <p:nvSpPr>
          <p:cNvPr id="8" name="Light, texture and color.">
            <a:extLst xmlns:a="http://schemas.openxmlformats.org/drawingml/2006/main">
              <a:ext uri="{FF2B5EF4-FFF2-40B4-BE49-F238E27FC236}">
                <a16:creationId xmlns:a16="http://schemas.microsoft.com/office/drawing/2014/main" id="{DDCF81DA-6ADB-4013-8D02-901EBCB0167D}"/>
              </a:ext>
            </a:extLst>
          </p:cNvPr>
          <p:cNvSpPr>
            <a:spLocks xmlns:a="http://schemas.openxmlformats.org/drawingml/2006/main" noGrp="1"/>
          </p:cNvSpPr>
          <p:nvPr/>
        </p:nvSpPr>
        <p:spPr>
          <a:xfrm xmlns:a="http://schemas.openxmlformats.org/drawingml/2006/main">
            <a:off x="904875" y="36671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82B32"/>
                </a:solidFill>
                <a:latin typeface="Arial"/>
                <a:ea typeface="Arial"/>
                <a:cs typeface="Arial"/>
              </a:defRPr>
            </a:pPr>
            <a:r>
              <a:rPr sz="1800" b="0">
                <a:solidFill>
                  <a:srgbClr val="182B32"/>
                </a:solidFill>
                <a:latin typeface="Arial"/>
                <a:ea typeface="Arial"/>
                <a:cs typeface="Arial"/>
              </a:rPr>
              <a:t>Light, texture and color.</a:t>
            </a:r>
          </a:p>
        </p:txBody>
      </p:sp>
      <p:sp>
        <p:nvSpPr>
          <p:cNvPr id="9" name="">
            <a:extLst xmlns:a="http://schemas.openxmlformats.org/drawingml/2006/main">
              <a:ext uri="{FF2B5EF4-FFF2-40B4-BE49-F238E27FC236}">
                <a16:creationId xmlns:a16="http://schemas.microsoft.com/office/drawing/2014/main" id="{2272F665-75DE-4FB5-89F4-0CCF8B76032C}"/>
              </a:ext>
            </a:extLst>
          </p:cNvPr>
          <p:cNvSpPr>
            <a:spLocks xmlns:a="http://schemas.openxmlformats.org/drawingml/2006/main" noGrp="1"/>
          </p:cNvSpPr>
          <p:nvPr/>
        </p:nvSpPr>
        <p:spPr>
          <a:xfrm xmlns:a="http://schemas.openxmlformats.org/drawingml/2006/main">
            <a:off x="904875" y="4257675"/>
            <a:ext cx="1666875" cy="409575"/>
          </a:xfrm>
          <a:prstGeom xmlns:a="http://schemas.openxmlformats.org/drawingml/2006/main" prst="rect">
            <a:avLst/>
          </a:prstGeom>
          <a:solidFill xmlns:a="http://schemas.openxmlformats.org/drawingml/2006/main">
            <a:srgbClr val="182B32"/>
          </a:solidFill>
          <a:ln xmlns:a="http://schemas.openxmlformats.org/drawingml/2006/main" w="9525">
            <a:noFill/>
          </a:ln>
        </p:spPr>
      </p:sp>
      <p:sp>
        <p:nvSpPr>
          <p:cNvPr id="10" name="Explore">
            <a:extLst xmlns:a="http://schemas.openxmlformats.org/drawingml/2006/main">
              <a:ext uri="{FF2B5EF4-FFF2-40B4-BE49-F238E27FC236}">
                <a16:creationId xmlns:a16="http://schemas.microsoft.com/office/drawing/2014/main" id="{521C5BE6-5595-4AE9-936F-DC48D49811DA}"/>
              </a:ext>
            </a:extLst>
          </p:cNvPr>
          <p:cNvSpPr>
            <a:spLocks xmlns:a="http://schemas.openxmlformats.org/drawingml/2006/main" noGrp="1"/>
          </p:cNvSpPr>
          <p:nvPr/>
        </p:nvSpPr>
        <p:spPr>
          <a:xfrm xmlns:a="http://schemas.openxmlformats.org/drawingml/2006/main">
            <a:off x="1095375" y="4333875"/>
            <a:ext cx="128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F5F2EA"/>
                </a:solidFill>
                <a:latin typeface="Arial"/>
                <a:ea typeface="Arial"/>
                <a:cs typeface="Arial"/>
              </a:defRPr>
            </a:pPr>
            <a:r>
              <a:rPr sz="1650" b="1">
                <a:solidFill>
                  <a:srgbClr val="F5F2EA"/>
                </a:solidFill>
                <a:latin typeface="Arial"/>
                <a:ea typeface="Arial"/>
                <a:cs typeface="Arial"/>
              </a:rPr>
              <a:t>Explore</a:t>
            </a:r>
          </a:p>
        </p:txBody>
      </p:sp>
      <p:sp>
        <p:nvSpPr>
          <p:cNvPr id="11" name="">
            <a:extLst xmlns:a="http://schemas.openxmlformats.org/drawingml/2006/main">
              <a:ext uri="{FF2B5EF4-FFF2-40B4-BE49-F238E27FC236}">
                <a16:creationId xmlns:a16="http://schemas.microsoft.com/office/drawing/2014/main" id="{07386ACE-20ED-4082-A1AD-0C7A6BD4DAE8}"/>
              </a:ext>
            </a:extLst>
          </p:cNvPr>
          <p:cNvSpPr>
            <a:spLocks xmlns:a="http://schemas.openxmlformats.org/drawingml/2006/main" noGrp="1"/>
          </p:cNvSpPr>
          <p:nvPr/>
        </p:nvSpPr>
        <p:spPr>
          <a:xfrm xmlns:a="http://schemas.openxmlformats.org/drawingml/2006/main">
            <a:off x="8039100" y="2143125"/>
            <a:ext cx="3429000" cy="3105150"/>
          </a:xfrm>
          <a:prstGeom xmlns:a="http://schemas.openxmlformats.org/drawingml/2006/main" prst="rect">
            <a:avLst/>
          </a:prstGeom>
          <a:noFill xmlns:a="http://schemas.openxmlformats.org/drawingml/2006/main"/>
          <a:ln xmlns:a="http://schemas.openxmlformats.org/drawingml/2006/main" w="9525">
            <a:solidFill>
              <a:srgbClr val="B4CDC9"/>
            </a:solidFill>
          </a:ln>
        </p:spPr>
      </p:sp>
      <p:sp>
        <p:nvSpPr>
          <p:cNvPr id="12" name="A material&#10;point of view">
            <a:extLst xmlns:a="http://schemas.openxmlformats.org/drawingml/2006/main">
              <a:ext uri="{FF2B5EF4-FFF2-40B4-BE49-F238E27FC236}">
                <a16:creationId xmlns:a16="http://schemas.microsoft.com/office/drawing/2014/main" id="{B45E037B-48CD-435E-A7F8-301E2EB8B4B9}"/>
              </a:ext>
            </a:extLst>
          </p:cNvPr>
          <p:cNvSpPr>
            <a:spLocks xmlns:a="http://schemas.openxmlformats.org/drawingml/2006/main" noGrp="1"/>
          </p:cNvSpPr>
          <p:nvPr/>
        </p:nvSpPr>
        <p:spPr>
          <a:xfrm xmlns:a="http://schemas.openxmlformats.org/drawingml/2006/main">
            <a:off x="8239125" y="2333625"/>
            <a:ext cx="300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82B32"/>
                </a:solidFill>
                <a:latin typeface="Arial"/>
                <a:ea typeface="Arial"/>
                <a:cs typeface="Arial"/>
              </a:defRPr>
            </a:pPr>
            <a:r>
              <a:rPr sz="2475" b="1">
                <a:solidFill>
                  <a:srgbClr val="182B32"/>
                </a:solidFill>
                <a:latin typeface="Arial"/>
                <a:ea typeface="Arial"/>
                <a:cs typeface="Arial"/>
              </a:rPr>
              <a:t>A material</a:t>
            </a:r>
          </a:p>
          <a:p xmlns:a="http://schemas.openxmlformats.org/drawingml/2006/main">
            <a:pPr>
              <a:defRPr sz="2475" b="1">
                <a:solidFill>
                  <a:srgbClr val="182B32"/>
                </a:solidFill>
                <a:latin typeface="Arial"/>
                <a:ea typeface="Arial"/>
                <a:cs typeface="Arial"/>
              </a:defRPr>
            </a:pPr>
            <a:r>
              <a:rPr sz="2475" b="1">
                <a:solidFill>
                  <a:srgbClr val="182B32"/>
                </a:solidFill>
                <a:latin typeface="Arial"/>
                <a:ea typeface="Arial"/>
                <a:cs typeface="Arial"/>
              </a:rPr>
              <a:t>point of view</a:t>
            </a:r>
          </a:p>
        </p:txBody>
      </p:sp>
      <p:sp>
        <p:nvSpPr>
          <p:cNvPr id="13" name="Light, texture and color.">
            <a:extLst xmlns:a="http://schemas.openxmlformats.org/drawingml/2006/main">
              <a:ext uri="{FF2B5EF4-FFF2-40B4-BE49-F238E27FC236}">
                <a16:creationId xmlns:a16="http://schemas.microsoft.com/office/drawing/2014/main" id="{584D4E7C-4964-40AB-9133-21D33A533147}"/>
              </a:ext>
            </a:extLst>
          </p:cNvPr>
          <p:cNvSpPr>
            <a:spLocks xmlns:a="http://schemas.openxmlformats.org/drawingml/2006/main" noGrp="1"/>
          </p:cNvSpPr>
          <p:nvPr/>
        </p:nvSpPr>
        <p:spPr>
          <a:xfrm xmlns:a="http://schemas.openxmlformats.org/drawingml/2006/main">
            <a:off x="8239125" y="3190875"/>
            <a:ext cx="3000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82B32"/>
                </a:solidFill>
                <a:latin typeface="Arial"/>
                <a:ea typeface="Arial"/>
                <a:cs typeface="Arial"/>
              </a:defRPr>
            </a:pPr>
            <a:r>
              <a:rPr sz="1650" b="0">
                <a:solidFill>
                  <a:srgbClr val="182B32"/>
                </a:solidFill>
                <a:latin typeface="Arial"/>
                <a:ea typeface="Arial"/>
                <a:cs typeface="Arial"/>
              </a:rPr>
              <a:t>Light, texture and color.</a:t>
            </a:r>
          </a:p>
        </p:txBody>
      </p:sp>
      <p:sp>
        <p:nvSpPr>
          <p:cNvPr id="14" name="">
            <a:extLst xmlns:a="http://schemas.openxmlformats.org/drawingml/2006/main">
              <a:ext uri="{FF2B5EF4-FFF2-40B4-BE49-F238E27FC236}">
                <a16:creationId xmlns:a16="http://schemas.microsoft.com/office/drawing/2014/main" id="{6DE401CC-6C15-4304-A20A-FEADE1FA95F7}"/>
              </a:ext>
            </a:extLst>
          </p:cNvPr>
          <p:cNvSpPr>
            <a:spLocks xmlns:a="http://schemas.openxmlformats.org/drawingml/2006/main" noGrp="1"/>
          </p:cNvSpPr>
          <p:nvPr/>
        </p:nvSpPr>
        <p:spPr>
          <a:xfrm xmlns:a="http://schemas.openxmlformats.org/drawingml/2006/main">
            <a:off x="8239125" y="3724275"/>
            <a:ext cx="3000375" cy="733425"/>
          </a:xfrm>
          <a:prstGeom xmlns:a="http://schemas.openxmlformats.org/drawingml/2006/main" prst="rect">
            <a:avLst/>
          </a:prstGeom>
          <a:solidFill xmlns:a="http://schemas.openxmlformats.org/drawingml/2006/main">
            <a:srgbClr val="B4CDC9"/>
          </a:solidFill>
          <a:ln xmlns:a="http://schemas.openxmlformats.org/drawingml/2006/main" w="9525">
            <a:noFill/>
          </a:ln>
        </p:spPr>
      </p:sp>
      <p:sp>
        <p:nvSpPr>
          <p:cNvPr id="15" name="">
            <a:extLst xmlns:a="http://schemas.openxmlformats.org/drawingml/2006/main">
              <a:ext uri="{FF2B5EF4-FFF2-40B4-BE49-F238E27FC236}">
                <a16:creationId xmlns:a16="http://schemas.microsoft.com/office/drawing/2014/main" id="{68E1760F-6FF8-430A-A1D8-BA0A6DB1023A}"/>
              </a:ext>
            </a:extLst>
          </p:cNvPr>
          <p:cNvSpPr>
            <a:spLocks xmlns:a="http://schemas.openxmlformats.org/drawingml/2006/main" noGrp="1"/>
          </p:cNvSpPr>
          <p:nvPr/>
        </p:nvSpPr>
        <p:spPr>
          <a:xfrm xmlns:a="http://schemas.openxmlformats.org/drawingml/2006/main">
            <a:off x="8239125" y="4638675"/>
            <a:ext cx="1666875" cy="409575"/>
          </a:xfrm>
          <a:prstGeom xmlns:a="http://schemas.openxmlformats.org/drawingml/2006/main" prst="rect">
            <a:avLst/>
          </a:prstGeom>
          <a:solidFill xmlns:a="http://schemas.openxmlformats.org/drawingml/2006/main">
            <a:srgbClr val="182B32"/>
          </a:solidFill>
          <a:ln xmlns:a="http://schemas.openxmlformats.org/drawingml/2006/main" w="9525">
            <a:noFill/>
          </a:ln>
        </p:spPr>
      </p:sp>
      <p:sp>
        <p:nvSpPr>
          <p:cNvPr id="16" name="Explore">
            <a:extLst xmlns:a="http://schemas.openxmlformats.org/drawingml/2006/main">
              <a:ext uri="{FF2B5EF4-FFF2-40B4-BE49-F238E27FC236}">
                <a16:creationId xmlns:a16="http://schemas.microsoft.com/office/drawing/2014/main" id="{0B885185-D102-42B4-AD01-C3F6874A9988}"/>
              </a:ext>
            </a:extLst>
          </p:cNvPr>
          <p:cNvSpPr>
            <a:spLocks xmlns:a="http://schemas.openxmlformats.org/drawingml/2006/main" noGrp="1"/>
          </p:cNvSpPr>
          <p:nvPr/>
        </p:nvSpPr>
        <p:spPr>
          <a:xfrm xmlns:a="http://schemas.openxmlformats.org/drawingml/2006/main">
            <a:off x="8429625" y="4714875"/>
            <a:ext cx="128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F5F2EA"/>
                </a:solidFill>
                <a:latin typeface="Arial"/>
                <a:ea typeface="Arial"/>
                <a:cs typeface="Arial"/>
              </a:defRPr>
            </a:pPr>
            <a:r>
              <a:rPr sz="1650" b="1">
                <a:solidFill>
                  <a:srgbClr val="F5F2EA"/>
                </a:solidFill>
                <a:latin typeface="Arial"/>
                <a:ea typeface="Arial"/>
                <a:cs typeface="Arial"/>
              </a:rPr>
              <a:t>Explore</a:t>
            </a:r>
          </a:p>
        </p:txBody>
      </p:sp>
      <p:sp>
        <p:nvSpPr>
          <p:cNvPr id="17" name="Preserve hierarchy. Recompose the same t">
            <a:extLst xmlns:a="http://schemas.openxmlformats.org/drawingml/2006/main">
              <a:ext uri="{FF2B5EF4-FFF2-40B4-BE49-F238E27FC236}">
                <a16:creationId xmlns:a16="http://schemas.microsoft.com/office/drawing/2014/main" id="{3851D7DF-0A72-42E6-87FC-63A420D33BB0}"/>
              </a:ext>
            </a:extLst>
          </p:cNvPr>
          <p:cNvSpPr>
            <a:spLocks xmlns:a="http://schemas.openxmlformats.org/drawingml/2006/main" noGrp="1"/>
          </p:cNvSpPr>
          <p:nvPr/>
        </p:nvSpPr>
        <p:spPr>
          <a:xfrm xmlns:a="http://schemas.openxmlformats.org/drawingml/2006/main">
            <a:off x="609600"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B32"/>
                </a:solidFill>
                <a:latin typeface="Arial"/>
                <a:ea typeface="Arial"/>
                <a:cs typeface="Arial"/>
              </a:defRPr>
            </a:pPr>
            <a:r>
              <a:rPr sz="2175" b="0">
                <a:solidFill>
                  <a:srgbClr val="182B32"/>
                </a:solidFill>
                <a:latin typeface="Arial"/>
                <a:ea typeface="Arial"/>
                <a:cs typeface="Arial"/>
              </a:rPr>
              <a:t>Preserve hierarchy. Recompose the same text, image and action.</a:t>
            </a:r>
          </a:p>
        </p:txBody>
      </p:sp>
      <p:sp>
        <p:nvSpPr>
          <p:cNvPr id="18" name="Source: w3.org">
            <a:extLst xmlns:a="http://schemas.openxmlformats.org/drawingml/2006/main">
              <a:ext uri="{FF2B5EF4-FFF2-40B4-BE49-F238E27FC236}">
                <a16:creationId xmlns:a16="http://schemas.microsoft.com/office/drawing/2014/main" id="{DE017FC2-6987-4486-90F6-325CCC691029}"/>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3a3d77e5fa141de"/>
              </a:rPr>
              <a:t>Source: w3.org</a:t>
            </a:r>
          </a:p>
        </p:txBody>
      </p:sp>
    </p:spTree>
    <p:extLst>
      <p:ext uri="{BB962C8B-B14F-4D97-AF65-F5344CB8AC3E}">
        <p14:creationId xmlns:p14="http://schemas.microsoft.com/office/powerpoint/2010/main" val="1879131351"/>
      </p:ext>
    </p:extLst>
  </p:cSld>
</p:sld>
</file>

<file path=ppt/slides/slide3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39">
            <a:extLst xmlns:a="http://schemas.openxmlformats.org/drawingml/2006/main">
              <a:ext uri="{FF2B5EF4-FFF2-40B4-BE49-F238E27FC236}">
                <a16:creationId xmlns:a16="http://schemas.microsoft.com/office/drawing/2014/main" id="{B7C50C25-CA48-4ACF-B0C0-3EAA8FAA568B}"/>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39</a:t>
            </a:r>
          </a:p>
        </p:txBody>
      </p:sp>
      <p:sp>
        <p:nvSpPr>
          <p:cNvPr id="2" name="Choose the material effect and its cost ">
            <a:extLst xmlns:a="http://schemas.openxmlformats.org/drawingml/2006/main">
              <a:ext uri="{FF2B5EF4-FFF2-40B4-BE49-F238E27FC236}">
                <a16:creationId xmlns:a16="http://schemas.microsoft.com/office/drawing/2014/main" id="{68DF666A-04AF-4111-9B4B-8B5CCE072087}"/>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Choose the material effect and its cost together</a:t>
            </a:r>
          </a:p>
        </p:txBody>
      </p:sp>
      <p:sp>
        <p:nvSpPr>
          <p:cNvPr id="3" name="01">
            <a:extLst xmlns:a="http://schemas.openxmlformats.org/drawingml/2006/main">
              <a:ext uri="{FF2B5EF4-FFF2-40B4-BE49-F238E27FC236}">
                <a16:creationId xmlns:a16="http://schemas.microsoft.com/office/drawing/2014/main" id="{F77E6983-46B5-4CEA-BF07-7FC92DF2B042}"/>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Light, shape and texture jointly create ">
            <a:extLst xmlns:a="http://schemas.openxmlformats.org/drawingml/2006/main">
              <a:ext uri="{FF2B5EF4-FFF2-40B4-BE49-F238E27FC236}">
                <a16:creationId xmlns:a16="http://schemas.microsoft.com/office/drawing/2014/main" id="{85F475F2-8581-495D-8A00-3041D74F2DC0}"/>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Light, shape and texture jointly create material cues.</a:t>
            </a:r>
          </a:p>
        </p:txBody>
      </p:sp>
      <p:sp>
        <p:nvSpPr>
          <p:cNvPr id="5" name="02">
            <a:extLst xmlns:a="http://schemas.openxmlformats.org/drawingml/2006/main">
              <a:ext uri="{FF2B5EF4-FFF2-40B4-BE49-F238E27FC236}">
                <a16:creationId xmlns:a16="http://schemas.microsoft.com/office/drawing/2014/main" id="{9B590CCF-C3E5-450C-8E1D-23A0D1DF154C}"/>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Compare a static authored asset with a l">
            <a:extLst xmlns:a="http://schemas.openxmlformats.org/drawingml/2006/main">
              <a:ext uri="{FF2B5EF4-FFF2-40B4-BE49-F238E27FC236}">
                <a16:creationId xmlns:a16="http://schemas.microsoft.com/office/drawing/2014/main" id="{16399B4E-0312-4401-8F54-3CEE3EC39CEC}"/>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Compare a static authored asset with a live effect before adding complexity.</a:t>
            </a:r>
          </a:p>
        </p:txBody>
      </p:sp>
      <p:sp>
        <p:nvSpPr>
          <p:cNvPr id="7" name="03">
            <a:extLst xmlns:a="http://schemas.openxmlformats.org/drawingml/2006/main">
              <a:ext uri="{FF2B5EF4-FFF2-40B4-BE49-F238E27FC236}">
                <a16:creationId xmlns:a16="http://schemas.microsoft.com/office/drawing/2014/main" id="{F1485734-BB88-4AC0-A770-F835C747B967}"/>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Measure bytes and rendering behavior; ap">
            <a:extLst xmlns:a="http://schemas.openxmlformats.org/drawingml/2006/main">
              <a:ext uri="{FF2B5EF4-FFF2-40B4-BE49-F238E27FC236}">
                <a16:creationId xmlns:a16="http://schemas.microsoft.com/office/drawing/2014/main" id="{AA529976-C897-48BB-BA46-FB55E32EDE82}"/>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Measure bytes and rendering behavior; appearance cannot prove speed.</a:t>
            </a:r>
          </a:p>
        </p:txBody>
      </p:sp>
      <p:sp>
        <p:nvSpPr>
          <p:cNvPr id="9" name="Source: nature.com">
            <a:extLst xmlns:a="http://schemas.openxmlformats.org/drawingml/2006/main">
              <a:ext uri="{FF2B5EF4-FFF2-40B4-BE49-F238E27FC236}">
                <a16:creationId xmlns:a16="http://schemas.microsoft.com/office/drawing/2014/main" id="{57EA10D5-D144-4B50-9FE1-1F30847F40D5}"/>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cb7a19ee82d145c8"/>
              </a:rPr>
              <a:t>Source: nature.com</a:t>
            </a:r>
          </a:p>
        </p:txBody>
      </p:sp>
      <p:sp>
        <p:nvSpPr>
          <p:cNvPr id="10" name="Related source: web.dev">
            <a:extLst xmlns:a="http://schemas.openxmlformats.org/drawingml/2006/main">
              <a:ext uri="{FF2B5EF4-FFF2-40B4-BE49-F238E27FC236}">
                <a16:creationId xmlns:a16="http://schemas.microsoft.com/office/drawing/2014/main" id="{BD4DD992-11AC-47C3-BDB1-7CCF3468AEB9}"/>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e13c9f75abc94946"/>
              </a:rPr>
              <a:t>Related source: web.dev</a:t>
            </a:r>
          </a:p>
        </p:txBody>
      </p:sp>
    </p:spTree>
    <p:extLst>
      <p:ext uri="{BB962C8B-B14F-4D97-AF65-F5344CB8AC3E}">
        <p14:creationId xmlns:p14="http://schemas.microsoft.com/office/powerpoint/2010/main" val="840279993"/>
      </p:ext>
    </p:extLst>
  </p:cSld>
</p:sld>
</file>

<file path=ppt/slides/slide4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40">
            <a:extLst xmlns:a="http://schemas.openxmlformats.org/drawingml/2006/main">
              <a:ext uri="{FF2B5EF4-FFF2-40B4-BE49-F238E27FC236}">
                <a16:creationId xmlns:a16="http://schemas.microsoft.com/office/drawing/2014/main" id="{F4B9E4BE-55F4-4B73-AA17-5A00AE8B8930}"/>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40</a:t>
            </a:r>
          </a:p>
        </p:txBody>
      </p:sp>
      <p:sp>
        <p:nvSpPr>
          <p:cNvPr id="2" name="Turn a reaction into a useful design tes">
            <a:extLst xmlns:a="http://schemas.openxmlformats.org/drawingml/2006/main">
              <a:ext uri="{FF2B5EF4-FFF2-40B4-BE49-F238E27FC236}">
                <a16:creationId xmlns:a16="http://schemas.microsoft.com/office/drawing/2014/main" id="{DC9AF7B0-B611-4982-9F29-81D159717C87}"/>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Turn a reaction into a useful design test</a:t>
            </a:r>
          </a:p>
        </p:txBody>
      </p:sp>
      <p:sp>
        <p:nvSpPr>
          <p:cNvPr id="3" name="01">
            <a:extLst xmlns:a="http://schemas.openxmlformats.org/drawingml/2006/main">
              <a:ext uri="{FF2B5EF4-FFF2-40B4-BE49-F238E27FC236}">
                <a16:creationId xmlns:a16="http://schemas.microsoft.com/office/drawing/2014/main" id="{6E7539BD-7862-40B9-B50C-823FBF871F96}"/>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Describe the visible cause before assign">
            <a:extLst xmlns:a="http://schemas.openxmlformats.org/drawingml/2006/main">
              <a:ext uri="{FF2B5EF4-FFF2-40B4-BE49-F238E27FC236}">
                <a16:creationId xmlns:a16="http://schemas.microsoft.com/office/drawing/2014/main" id="{2106E6EC-4EDA-4B10-ADF7-930A7E6457B4}"/>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Describe the visible cause before assigning a style adjective.</a:t>
            </a:r>
          </a:p>
        </p:txBody>
      </p:sp>
      <p:sp>
        <p:nvSpPr>
          <p:cNvPr id="5" name="02">
            <a:extLst xmlns:a="http://schemas.openxmlformats.org/drawingml/2006/main">
              <a:ext uri="{FF2B5EF4-FFF2-40B4-BE49-F238E27FC236}">
                <a16:creationId xmlns:a16="http://schemas.microsoft.com/office/drawing/2014/main" id="{577EA763-BC00-40D3-8BFC-928282BF8490}"/>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Change one variable; keep the content an">
            <a:extLst xmlns:a="http://schemas.openxmlformats.org/drawingml/2006/main">
              <a:ext uri="{FF2B5EF4-FFF2-40B4-BE49-F238E27FC236}">
                <a16:creationId xmlns:a16="http://schemas.microsoft.com/office/drawing/2014/main" id="{4CFFCBEF-B49A-45F1-8200-390CB3B27A7C}"/>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Change one variable; keep the content and comparison conditions fixed.</a:t>
            </a:r>
          </a:p>
        </p:txBody>
      </p:sp>
      <p:sp>
        <p:nvSpPr>
          <p:cNvPr id="7" name="03">
            <a:extLst xmlns:a="http://schemas.openxmlformats.org/drawingml/2006/main">
              <a:ext uri="{FF2B5EF4-FFF2-40B4-BE49-F238E27FC236}">
                <a16:creationId xmlns:a16="http://schemas.microsoft.com/office/drawing/2014/main" id="{313CEB73-7E83-4C27-90AA-6A220C6AFA91}"/>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Separate preference, documented requirem">
            <a:extLst xmlns:a="http://schemas.openxmlformats.org/drawingml/2006/main">
              <a:ext uri="{FF2B5EF4-FFF2-40B4-BE49-F238E27FC236}">
                <a16:creationId xmlns:a16="http://schemas.microsoft.com/office/drawing/2014/main" id="{EAF5F089-D2EC-473B-B03A-311E0D364554}"/>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Separate preference, documented requirements and measured results.</a:t>
            </a:r>
          </a:p>
        </p:txBody>
      </p:sp>
      <p:sp>
        <p:nvSpPr>
          <p:cNvPr id="9" name="04">
            <a:extLst xmlns:a="http://schemas.openxmlformats.org/drawingml/2006/main">
              <a:ext uri="{FF2B5EF4-FFF2-40B4-BE49-F238E27FC236}">
                <a16:creationId xmlns:a16="http://schemas.microsoft.com/office/drawing/2014/main" id="{EC956BE9-C312-432E-8AC1-B7AE06C9EE25}"/>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Record the next revision and what remain">
            <a:extLst xmlns:a="http://schemas.openxmlformats.org/drawingml/2006/main">
              <a:ext uri="{FF2B5EF4-FFF2-40B4-BE49-F238E27FC236}">
                <a16:creationId xmlns:a16="http://schemas.microsoft.com/office/drawing/2014/main" id="{58B55DA7-95A2-4CA5-BBDE-86755A7724CD}"/>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Record the next revision and what remains unknown.</a:t>
            </a:r>
          </a:p>
        </p:txBody>
      </p:sp>
      <p:sp>
        <p:nvSpPr>
          <p:cNvPr id="11" name="Source: cooperhewitt.org">
            <a:extLst xmlns:a="http://schemas.openxmlformats.org/drawingml/2006/main">
              <a:ext uri="{FF2B5EF4-FFF2-40B4-BE49-F238E27FC236}">
                <a16:creationId xmlns:a16="http://schemas.microsoft.com/office/drawing/2014/main" id="{DB7088EC-E400-4A37-B319-672FDB5463C1}"/>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26da58d129da40b4"/>
              </a:rPr>
              <a:t>Source: cooperhewitt.org</a:t>
            </a:r>
          </a:p>
        </p:txBody>
      </p:sp>
      <p:sp>
        <p:nvSpPr>
          <p:cNvPr id="12" name="Related source: palmerlab.berkeley.edu">
            <a:extLst xmlns:a="http://schemas.openxmlformats.org/drawingml/2006/main">
              <a:ext uri="{FF2B5EF4-FFF2-40B4-BE49-F238E27FC236}">
                <a16:creationId xmlns:a16="http://schemas.microsoft.com/office/drawing/2014/main" id="{3A89CBA7-4C31-43BD-B7C2-C944E2848E74}"/>
              </a:ext>
            </a:extLst>
          </p:cNvPr>
          <p:cNvSpPr>
            <a:spLocks xmlns:a="http://schemas.openxmlformats.org/drawingml/2006/main" noGrp="1"/>
          </p:cNvSpPr>
          <p:nvPr/>
        </p:nvSpPr>
        <p:spPr>
          <a:xfrm xmlns:a="http://schemas.openxmlformats.org/drawingml/2006/main">
            <a:off x="609600" y="6353175"/>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b739b7c9921144be"/>
              </a:rPr>
              <a:t>Related source: palmerlab.berkeley.edu</a:t>
            </a:r>
          </a:p>
        </p:txBody>
      </p:sp>
    </p:spTree>
    <p:extLst>
      <p:ext uri="{BB962C8B-B14F-4D97-AF65-F5344CB8AC3E}">
        <p14:creationId xmlns:p14="http://schemas.microsoft.com/office/powerpoint/2010/main" val="1287052060"/>
      </p:ext>
    </p:extLst>
  </p:cSld>
</p:sld>
</file>

<file path=ppt/slides/slide4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41">
            <a:extLst xmlns:a="http://schemas.openxmlformats.org/drawingml/2006/main">
              <a:ext uri="{FF2B5EF4-FFF2-40B4-BE49-F238E27FC236}">
                <a16:creationId xmlns:a16="http://schemas.microsoft.com/office/drawing/2014/main" id="{C7E59F75-883A-43BD-8753-2CD3635834A9}"/>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41</a:t>
            </a:r>
          </a:p>
        </p:txBody>
      </p:sp>
      <p:sp>
        <p:nvSpPr>
          <p:cNvPr id="2" name="Implementation choices in Squarespace">
            <a:extLst xmlns:a="http://schemas.openxmlformats.org/drawingml/2006/main">
              <a:ext uri="{FF2B5EF4-FFF2-40B4-BE49-F238E27FC236}">
                <a16:creationId xmlns:a16="http://schemas.microsoft.com/office/drawing/2014/main" id="{D09B38B3-B374-4C03-ABC1-BAE80490B709}"/>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Implementation choices in Squarespace</a:t>
            </a:r>
          </a:p>
        </p:txBody>
      </p:sp>
      <p:sp>
        <p:nvSpPr>
          <p:cNvPr id="3" name="01">
            <a:extLst xmlns:a="http://schemas.openxmlformats.org/drawingml/2006/main">
              <a:ext uri="{FF2B5EF4-FFF2-40B4-BE49-F238E27FC236}">
                <a16:creationId xmlns:a16="http://schemas.microsoft.com/office/drawing/2014/main" id="{0217CB1D-E6DA-49FE-ADCF-0043DC19A2E1}"/>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Native settings: verify the current docu">
            <a:extLst xmlns:a="http://schemas.openxmlformats.org/drawingml/2006/main">
              <a:ext uri="{FF2B5EF4-FFF2-40B4-BE49-F238E27FC236}">
                <a16:creationId xmlns:a16="http://schemas.microsoft.com/office/drawing/2014/main" id="{09BDBD57-9C97-4AB0-86B2-5158EF45EF41}"/>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Native settings: verify the current documented editor path.</a:t>
            </a:r>
          </a:p>
        </p:txBody>
      </p:sp>
      <p:sp>
        <p:nvSpPr>
          <p:cNvPr id="5" name="02">
            <a:extLst xmlns:a="http://schemas.openxmlformats.org/drawingml/2006/main">
              <a:ext uri="{FF2B5EF4-FFF2-40B4-BE49-F238E27FC236}">
                <a16:creationId xmlns:a16="http://schemas.microsoft.com/office/drawing/2014/main" id="{AEE8CB8D-345E-4F97-B606-BEBD7F43D371}"/>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uthored assets: retain originals and in">
            <a:extLst xmlns:a="http://schemas.openxmlformats.org/drawingml/2006/main">
              <a:ext uri="{FF2B5EF4-FFF2-40B4-BE49-F238E27FC236}">
                <a16:creationId xmlns:a16="http://schemas.microsoft.com/office/drawing/2014/main" id="{C5C09EA4-AFFE-404C-A649-7D1C6BCFD251}"/>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Authored assets: retain originals and inspect exported crops.</a:t>
            </a:r>
          </a:p>
        </p:txBody>
      </p:sp>
      <p:sp>
        <p:nvSpPr>
          <p:cNvPr id="7" name="03">
            <a:extLst xmlns:a="http://schemas.openxmlformats.org/drawingml/2006/main">
              <a:ext uri="{FF2B5EF4-FFF2-40B4-BE49-F238E27FC236}">
                <a16:creationId xmlns:a16="http://schemas.microsoft.com/office/drawing/2014/main" id="{C2795F91-0F7C-4AF1-AF70-B08A8167F279}"/>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Custom code or external services: record">
            <a:extLst xmlns:a="http://schemas.openxmlformats.org/drawingml/2006/main">
              <a:ext uri="{FF2B5EF4-FFF2-40B4-BE49-F238E27FC236}">
                <a16:creationId xmlns:a16="http://schemas.microsoft.com/office/drawing/2014/main" id="{96E59B78-3D40-4C5F-B1D1-D9263B4BD98F}"/>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Custom code or external services: record dependencies and rollback.</a:t>
            </a:r>
          </a:p>
        </p:txBody>
      </p:sp>
      <p:sp>
        <p:nvSpPr>
          <p:cNvPr id="9" name="04">
            <a:extLst xmlns:a="http://schemas.openxmlformats.org/drawingml/2006/main">
              <a:ext uri="{FF2B5EF4-FFF2-40B4-BE49-F238E27FC236}">
                <a16:creationId xmlns:a16="http://schemas.microsoft.com/office/drawing/2014/main" id="{846EC6B0-50C9-4686-89F2-BD8AD7F4FD8E}"/>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Test the result on the actual private si">
            <a:extLst xmlns:a="http://schemas.openxmlformats.org/drawingml/2006/main">
              <a:ext uri="{FF2B5EF4-FFF2-40B4-BE49-F238E27FC236}">
                <a16:creationId xmlns:a16="http://schemas.microsoft.com/office/drawing/2014/main" id="{AFF41B35-D44A-42DF-8AC9-269E1093EE93}"/>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Test the result on the actual private site.</a:t>
            </a:r>
          </a:p>
        </p:txBody>
      </p:sp>
    </p:spTree>
    <p:extLst>
      <p:ext uri="{BB962C8B-B14F-4D97-AF65-F5344CB8AC3E}">
        <p14:creationId xmlns:p14="http://schemas.microsoft.com/office/powerpoint/2010/main" val="395412434"/>
      </p:ext>
    </p:extLst>
  </p:cSld>
</p:sld>
</file>

<file path=ppt/slides/slide42.xml><?xml version="1.0" encoding="utf-8"?>
<p:sld xmlns:p="http://schemas.openxmlformats.org/presentationml/2006/main">
  <p:cSld>
    <p:bg>
      <p:bgPr>
        <a:solidFill xmlns:a="http://schemas.openxmlformats.org/drawingml/2006/main">
          <a:srgbClr val="16333A"/>
        </a:solidFill>
      </p:bgPr>
    </p:bg>
    <p:spTree>
      <p:nvGrpSpPr>
        <p:cNvPr id="1" name=""/>
        <p:cNvGrpSpPr/>
        <p:nvPr/>
      </p:nvGrpSpPr>
      <p:grpSpPr>
        <a:xfrm xmlns:a="http://schemas.openxmlformats.org/drawingml/2006/main"/>
      </p:grpSpPr>
      <p:sp>
        <p:nvSpPr>
          <p:cNvPr id="4" name="42">
            <a:extLst xmlns:a="http://schemas.openxmlformats.org/drawingml/2006/main">
              <a:ext uri="{FF2B5EF4-FFF2-40B4-BE49-F238E27FC236}">
                <a16:creationId xmlns:a16="http://schemas.microsoft.com/office/drawing/2014/main" id="{B02077EB-2FA0-486E-9C81-EE2CE154510E}"/>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4CDC9"/>
                </a:solidFill>
                <a:latin typeface="Arial"/>
                <a:ea typeface="Arial"/>
                <a:cs typeface="Arial"/>
              </a:defRPr>
            </a:pPr>
            <a:r>
              <a:rPr sz="1275" b="0">
                <a:solidFill>
                  <a:srgbClr val="B4CDC9"/>
                </a:solidFill>
                <a:latin typeface="Arial"/>
                <a:ea typeface="Arial"/>
                <a:cs typeface="Arial"/>
              </a:rPr>
              <a:t>42</a:t>
            </a:r>
          </a:p>
        </p:txBody>
      </p:sp>
      <p:sp>
        <p:nvSpPr>
          <p:cNvPr id="2" name="A repeatable design workshop">
            <a:extLst xmlns:a="http://schemas.openxmlformats.org/drawingml/2006/main">
              <a:ext uri="{FF2B5EF4-FFF2-40B4-BE49-F238E27FC236}">
                <a16:creationId xmlns:a16="http://schemas.microsoft.com/office/drawing/2014/main" id="{BDFA4D3F-79DF-49B1-8AE3-1BC69A2F7C76}"/>
              </a:ext>
            </a:extLst>
          </p:cNvPr>
          <p:cNvSpPr>
            <a:spLocks xmlns:a="http://schemas.openxmlformats.org/drawingml/2006/main" noGrp="1"/>
          </p:cNvSpPr>
          <p:nvPr/>
        </p:nvSpPr>
        <p:spPr>
          <a:xfrm xmlns:a="http://schemas.openxmlformats.org/drawingml/2006/main">
            <a:off x="685800" y="1524000"/>
            <a:ext cx="9906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F5F2EA"/>
                </a:solidFill>
                <a:latin typeface="Arial"/>
                <a:ea typeface="Arial"/>
                <a:cs typeface="Arial"/>
              </a:defRPr>
            </a:pPr>
            <a:r>
              <a:rPr sz="5400" b="1">
                <a:solidFill>
                  <a:srgbClr val="F5F2EA"/>
                </a:solidFill>
                <a:latin typeface="Arial"/>
                <a:ea typeface="Arial"/>
                <a:cs typeface="Arial"/>
              </a:rPr>
              <a:t>A repeatable design workshop</a:t>
            </a:r>
          </a:p>
        </p:txBody>
      </p:sp>
      <p:sp>
        <p:nvSpPr>
          <p:cNvPr id="3" name="Shared language makes the next decision ">
            <a:extLst xmlns:a="http://schemas.openxmlformats.org/drawingml/2006/main">
              <a:ext uri="{FF2B5EF4-FFF2-40B4-BE49-F238E27FC236}">
                <a16:creationId xmlns:a16="http://schemas.microsoft.com/office/drawing/2014/main" id="{3F6B0254-787F-43F4-AA67-35DC3218351E}"/>
              </a:ext>
            </a:extLst>
          </p:cNvPr>
          <p:cNvSpPr>
            <a:spLocks xmlns:a="http://schemas.openxmlformats.org/drawingml/2006/main" noGrp="1"/>
          </p:cNvSpPr>
          <p:nvPr/>
        </p:nvSpPr>
        <p:spPr>
          <a:xfrm xmlns:a="http://schemas.openxmlformats.org/drawingml/2006/main">
            <a:off x="723900" y="4333875"/>
            <a:ext cx="971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B4CDC9"/>
                </a:solidFill>
                <a:latin typeface="Arial"/>
                <a:ea typeface="Arial"/>
                <a:cs typeface="Arial"/>
              </a:defRPr>
            </a:pPr>
            <a:r>
              <a:rPr sz="2400" b="0">
                <a:solidFill>
                  <a:srgbClr val="B4CDC9"/>
                </a:solidFill>
                <a:latin typeface="Arial"/>
                <a:ea typeface="Arial"/>
                <a:cs typeface="Arial"/>
              </a:rPr>
              <a:t>Shared language makes the next decision easier.</a:t>
            </a:r>
          </a:p>
        </p:txBody>
      </p:sp>
    </p:spTree>
    <p:extLst>
      <p:ext uri="{BB962C8B-B14F-4D97-AF65-F5344CB8AC3E}">
        <p14:creationId xmlns:p14="http://schemas.microsoft.com/office/powerpoint/2010/main" val="1110534705"/>
      </p:ext>
    </p:extLst>
  </p:cSld>
</p:sld>
</file>

<file path=ppt/slides/slide4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43">
            <a:extLst xmlns:a="http://schemas.openxmlformats.org/drawingml/2006/main">
              <a:ext uri="{FF2B5EF4-FFF2-40B4-BE49-F238E27FC236}">
                <a16:creationId xmlns:a16="http://schemas.microsoft.com/office/drawing/2014/main" id="{1B1C70B9-1019-4446-8A22-0BC210FE37C4}"/>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43</a:t>
            </a:r>
          </a:p>
        </p:txBody>
      </p:sp>
      <p:sp>
        <p:nvSpPr>
          <p:cNvPr id="2" name="Exercise: material, spacing and grain">
            <a:extLst xmlns:a="http://schemas.openxmlformats.org/drawingml/2006/main">
              <a:ext uri="{FF2B5EF4-FFF2-40B4-BE49-F238E27FC236}">
                <a16:creationId xmlns:a16="http://schemas.microsoft.com/office/drawing/2014/main" id="{CA88872E-228E-4C56-AFB6-4E8F57F78D12}"/>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Exercise: material, spacing and grain</a:t>
            </a:r>
          </a:p>
        </p:txBody>
      </p:sp>
      <p:sp>
        <p:nvSpPr>
          <p:cNvPr id="3" name="01">
            <a:extLst xmlns:a="http://schemas.openxmlformats.org/drawingml/2006/main">
              <a:ext uri="{FF2B5EF4-FFF2-40B4-BE49-F238E27FC236}">
                <a16:creationId xmlns:a16="http://schemas.microsoft.com/office/drawing/2014/main" id="{C05D812C-3652-469D-9A4C-5063F8B121E5}"/>
              </a:ext>
            </a:extLst>
          </p:cNvPr>
          <p:cNvSpPr>
            <a:spLocks xmlns:a="http://schemas.openxmlformats.org/drawingml/2006/main" noGrp="1"/>
          </p:cNvSpPr>
          <p:nvPr/>
        </p:nvSpPr>
        <p:spPr>
          <a:xfrm xmlns:a="http://schemas.openxmlformats.org/drawingml/2006/main">
            <a:off x="628650" y="203835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Compare bundled material treatments whil">
            <a:extLst xmlns:a="http://schemas.openxmlformats.org/drawingml/2006/main">
              <a:ext uri="{FF2B5EF4-FFF2-40B4-BE49-F238E27FC236}">
                <a16:creationId xmlns:a16="http://schemas.microsoft.com/office/drawing/2014/main" id="{E31AE3B1-BDBF-494A-B6B6-CCCFAD040549}"/>
              </a:ext>
            </a:extLst>
          </p:cNvPr>
          <p:cNvSpPr>
            <a:spLocks xmlns:a="http://schemas.openxmlformats.org/drawingml/2006/main" noGrp="1"/>
          </p:cNvSpPr>
          <p:nvPr/>
        </p:nvSpPr>
        <p:spPr>
          <a:xfrm xmlns:a="http://schemas.openxmlformats.org/drawingml/2006/main">
            <a:off x="1438275" y="200977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Compare bundled material treatments while holding shapes still.</a:t>
            </a:r>
          </a:p>
        </p:txBody>
      </p:sp>
      <p:sp>
        <p:nvSpPr>
          <p:cNvPr id="5" name="02">
            <a:extLst xmlns:a="http://schemas.openxmlformats.org/drawingml/2006/main">
              <a:ext uri="{FF2B5EF4-FFF2-40B4-BE49-F238E27FC236}">
                <a16:creationId xmlns:a16="http://schemas.microsoft.com/office/drawing/2014/main" id="{9FDE5F49-56C4-48DA-9CEA-897CAC55D364}"/>
              </a:ext>
            </a:extLst>
          </p:cNvPr>
          <p:cNvSpPr>
            <a:spLocks xmlns:a="http://schemas.openxmlformats.org/drawingml/2006/main" noGrp="1"/>
          </p:cNvSpPr>
          <p:nvPr/>
        </p:nvSpPr>
        <p:spPr>
          <a:xfrm xmlns:a="http://schemas.openxmlformats.org/drawingml/2006/main">
            <a:off x="628650" y="32861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Change title-to-description spacing and ">
            <a:extLst xmlns:a="http://schemas.openxmlformats.org/drawingml/2006/main">
              <a:ext uri="{FF2B5EF4-FFF2-40B4-BE49-F238E27FC236}">
                <a16:creationId xmlns:a16="http://schemas.microsoft.com/office/drawing/2014/main" id="{BB18667A-9D3F-4640-93EE-3BB3D6CBB6F4}"/>
              </a:ext>
            </a:extLst>
          </p:cNvPr>
          <p:cNvSpPr>
            <a:spLocks xmlns:a="http://schemas.openxmlformats.org/drawingml/2006/main" noGrp="1"/>
          </p:cNvSpPr>
          <p:nvPr/>
        </p:nvSpPr>
        <p:spPr>
          <a:xfrm xmlns:a="http://schemas.openxmlformats.org/drawingml/2006/main">
            <a:off x="1438275" y="32575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Change title-to-description spacing and observe grouping.</a:t>
            </a:r>
          </a:p>
        </p:txBody>
      </p:sp>
      <p:sp>
        <p:nvSpPr>
          <p:cNvPr id="7" name="03">
            <a:extLst xmlns:a="http://schemas.openxmlformats.org/drawingml/2006/main">
              <a:ext uri="{FF2B5EF4-FFF2-40B4-BE49-F238E27FC236}">
                <a16:creationId xmlns:a16="http://schemas.microsoft.com/office/drawing/2014/main" id="{9BB188C9-5C64-495E-AE8E-107B30DDA7C0}"/>
              </a:ext>
            </a:extLst>
          </p:cNvPr>
          <p:cNvSpPr>
            <a:spLocks xmlns:a="http://schemas.openxmlformats.org/drawingml/2006/main" noGrp="1"/>
          </p:cNvSpPr>
          <p:nvPr/>
        </p:nvSpPr>
        <p:spPr>
          <a:xfrm xmlns:a="http://schemas.openxmlformats.org/drawingml/2006/main">
            <a:off x="628650" y="4533900"/>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Vary grain strength over fixed text and ">
            <a:extLst xmlns:a="http://schemas.openxmlformats.org/drawingml/2006/main">
              <a:ext uri="{FF2B5EF4-FFF2-40B4-BE49-F238E27FC236}">
                <a16:creationId xmlns:a16="http://schemas.microsoft.com/office/drawing/2014/main" id="{D0E4F846-7DD5-430D-AAAE-8E97A616CF7F}"/>
              </a:ext>
            </a:extLst>
          </p:cNvPr>
          <p:cNvSpPr>
            <a:spLocks xmlns:a="http://schemas.openxmlformats.org/drawingml/2006/main" noGrp="1"/>
          </p:cNvSpPr>
          <p:nvPr/>
        </p:nvSpPr>
        <p:spPr>
          <a:xfrm xmlns:a="http://schemas.openxmlformats.org/drawingml/2006/main">
            <a:off x="1438275" y="4505325"/>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Vary grain strength over fixed text and a fixed gradient.</a:t>
            </a:r>
          </a:p>
        </p:txBody>
      </p:sp>
      <p:sp>
        <p:nvSpPr>
          <p:cNvPr id="9" name="Source: drive.google.com">
            <a:extLst xmlns:a="http://schemas.openxmlformats.org/drawingml/2006/main">
              <a:ext uri="{FF2B5EF4-FFF2-40B4-BE49-F238E27FC236}">
                <a16:creationId xmlns:a16="http://schemas.microsoft.com/office/drawing/2014/main" id="{D2598A74-E266-46D1-9BBD-63EA7E92FF3E}"/>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877459c2923d4b6a"/>
              </a:rPr>
              <a:t>Source: drive.google.com</a:t>
            </a:r>
          </a:p>
        </p:txBody>
      </p:sp>
    </p:spTree>
    <p:extLst>
      <p:ext uri="{BB962C8B-B14F-4D97-AF65-F5344CB8AC3E}">
        <p14:creationId xmlns:p14="http://schemas.microsoft.com/office/powerpoint/2010/main" val="1544583442"/>
      </p:ext>
    </p:extLst>
  </p:cSld>
</p:sld>
</file>

<file path=ppt/slides/slide4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44">
            <a:extLst xmlns:a="http://schemas.openxmlformats.org/drawingml/2006/main">
              <a:ext uri="{FF2B5EF4-FFF2-40B4-BE49-F238E27FC236}">
                <a16:creationId xmlns:a16="http://schemas.microsoft.com/office/drawing/2014/main" id="{F872B1BB-8CCA-4712-B8B8-5EAF063DA807}"/>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44</a:t>
            </a:r>
          </a:p>
        </p:txBody>
      </p:sp>
      <p:sp>
        <p:nvSpPr>
          <p:cNvPr id="2" name="New reference template">
            <a:extLst xmlns:a="http://schemas.openxmlformats.org/drawingml/2006/main">
              <a:ext uri="{FF2B5EF4-FFF2-40B4-BE49-F238E27FC236}">
                <a16:creationId xmlns:a16="http://schemas.microsoft.com/office/drawing/2014/main" id="{DD868C19-3394-4A61-B978-DEB89FE656CA}"/>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New reference template</a:t>
            </a:r>
          </a:p>
        </p:txBody>
      </p:sp>
      <p:sp>
        <p:nvSpPr>
          <p:cNvPr id="3" name="01">
            <a:extLst xmlns:a="http://schemas.openxmlformats.org/drawingml/2006/main">
              <a:ext uri="{FF2B5EF4-FFF2-40B4-BE49-F238E27FC236}">
                <a16:creationId xmlns:a16="http://schemas.microsoft.com/office/drawing/2014/main" id="{5B368473-1409-4860-BF43-5B09CC5B2022}"/>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Reference title, creator, date and sourc">
            <a:extLst xmlns:a="http://schemas.openxmlformats.org/drawingml/2006/main">
              <a:ext uri="{FF2B5EF4-FFF2-40B4-BE49-F238E27FC236}">
                <a16:creationId xmlns:a16="http://schemas.microsoft.com/office/drawing/2014/main" id="{8EED2BA5-8B57-4551-B00F-37323E1B0050}"/>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Reference title, creator, date and source URL</a:t>
            </a:r>
          </a:p>
        </p:txBody>
      </p:sp>
      <p:sp>
        <p:nvSpPr>
          <p:cNvPr id="5" name="02">
            <a:extLst xmlns:a="http://schemas.openxmlformats.org/drawingml/2006/main">
              <a:ext uri="{FF2B5EF4-FFF2-40B4-BE49-F238E27FC236}">
                <a16:creationId xmlns:a16="http://schemas.microsoft.com/office/drawing/2014/main" id="{6ABC5A87-C53D-4579-95C4-78822DB06D67}"/>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Screenshot and the specific detail to in">
            <a:extLst xmlns:a="http://schemas.openxmlformats.org/drawingml/2006/main">
              <a:ext uri="{FF2B5EF4-FFF2-40B4-BE49-F238E27FC236}">
                <a16:creationId xmlns:a16="http://schemas.microsoft.com/office/drawing/2014/main" id="{C0919F5B-D8E8-4B48-ADE5-B4F7E2090B74}"/>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Screenshot and the specific detail to inspect</a:t>
            </a:r>
          </a:p>
        </p:txBody>
      </p:sp>
      <p:sp>
        <p:nvSpPr>
          <p:cNvPr id="7" name="03">
            <a:extLst xmlns:a="http://schemas.openxmlformats.org/drawingml/2006/main">
              <a:ext uri="{FF2B5EF4-FFF2-40B4-BE49-F238E27FC236}">
                <a16:creationId xmlns:a16="http://schemas.microsoft.com/office/drawing/2014/main" id="{E9B081F9-BBDE-40B5-99B0-C88FC0366E60}"/>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Observed mechanism and possible use">
            <a:extLst xmlns:a="http://schemas.openxmlformats.org/drawingml/2006/main">
              <a:ext uri="{FF2B5EF4-FFF2-40B4-BE49-F238E27FC236}">
                <a16:creationId xmlns:a16="http://schemas.microsoft.com/office/drawing/2014/main" id="{70DB4393-58F5-4147-AE50-4E1EA29B4711}"/>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Observed mechanism and possible use</a:t>
            </a:r>
          </a:p>
        </p:txBody>
      </p:sp>
      <p:sp>
        <p:nvSpPr>
          <p:cNvPr id="9" name="04">
            <a:extLst xmlns:a="http://schemas.openxmlformats.org/drawingml/2006/main">
              <a:ext uri="{FF2B5EF4-FFF2-40B4-BE49-F238E27FC236}">
                <a16:creationId xmlns:a16="http://schemas.microsoft.com/office/drawing/2014/main" id="{275CDB9D-2FDB-465C-AAC0-5BD16395613A}"/>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Unknowns, evidence status and next quest">
            <a:extLst xmlns:a="http://schemas.openxmlformats.org/drawingml/2006/main">
              <a:ext uri="{FF2B5EF4-FFF2-40B4-BE49-F238E27FC236}">
                <a16:creationId xmlns:a16="http://schemas.microsoft.com/office/drawing/2014/main" id="{B07F8F8C-CC11-4AE1-AA61-C9FDBC5282F2}"/>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Unknowns, evidence status and next question</a:t>
            </a:r>
          </a:p>
        </p:txBody>
      </p:sp>
    </p:spTree>
    <p:extLst>
      <p:ext uri="{BB962C8B-B14F-4D97-AF65-F5344CB8AC3E}">
        <p14:creationId xmlns:p14="http://schemas.microsoft.com/office/powerpoint/2010/main" val="1758953453"/>
      </p:ext>
    </p:extLst>
  </p:cSld>
</p:sld>
</file>

<file path=ppt/slides/slide4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45">
            <a:extLst xmlns:a="http://schemas.openxmlformats.org/drawingml/2006/main">
              <a:ext uri="{FF2B5EF4-FFF2-40B4-BE49-F238E27FC236}">
                <a16:creationId xmlns:a16="http://schemas.microsoft.com/office/drawing/2014/main" id="{76526B65-2CFE-4F84-9B8A-740986A70343}"/>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45</a:t>
            </a:r>
          </a:p>
        </p:txBody>
      </p:sp>
      <p:sp>
        <p:nvSpPr>
          <p:cNvPr id="2" name="Design decision template">
            <a:extLst xmlns:a="http://schemas.openxmlformats.org/drawingml/2006/main">
              <a:ext uri="{FF2B5EF4-FFF2-40B4-BE49-F238E27FC236}">
                <a16:creationId xmlns:a16="http://schemas.microsoft.com/office/drawing/2014/main" id="{6ADB2A0F-9EA5-4FF6-8353-8597FFC7B87A}"/>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Design decision template</a:t>
            </a:r>
          </a:p>
        </p:txBody>
      </p:sp>
      <p:sp>
        <p:nvSpPr>
          <p:cNvPr id="3" name="01">
            <a:extLst xmlns:a="http://schemas.openxmlformats.org/drawingml/2006/main">
              <a:ext uri="{FF2B5EF4-FFF2-40B4-BE49-F238E27FC236}">
                <a16:creationId xmlns:a16="http://schemas.microsoft.com/office/drawing/2014/main" id="{02AE8C7B-0264-4D43-9DFA-3B8B1EFA5FAA}"/>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Requirement and intended audience">
            <a:extLst xmlns:a="http://schemas.openxmlformats.org/drawingml/2006/main">
              <a:ext uri="{FF2B5EF4-FFF2-40B4-BE49-F238E27FC236}">
                <a16:creationId xmlns:a16="http://schemas.microsoft.com/office/drawing/2014/main" id="{DFAA121A-1988-43BA-9DD6-796ACFAC0A6F}"/>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Requirement and intended audience</a:t>
            </a:r>
          </a:p>
        </p:txBody>
      </p:sp>
      <p:sp>
        <p:nvSpPr>
          <p:cNvPr id="5" name="02">
            <a:extLst xmlns:a="http://schemas.openxmlformats.org/drawingml/2006/main">
              <a:ext uri="{FF2B5EF4-FFF2-40B4-BE49-F238E27FC236}">
                <a16:creationId xmlns:a16="http://schemas.microsoft.com/office/drawing/2014/main" id="{BB474B96-F624-454A-9DC9-1223BE44629F}"/>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lternatives compared under the same con">
            <a:extLst xmlns:a="http://schemas.openxmlformats.org/drawingml/2006/main">
              <a:ext uri="{FF2B5EF4-FFF2-40B4-BE49-F238E27FC236}">
                <a16:creationId xmlns:a16="http://schemas.microsoft.com/office/drawing/2014/main" id="{673D737A-AA1B-442A-AF4E-4184C79E53FA}"/>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Alternatives compared under the same conditions</a:t>
            </a:r>
          </a:p>
        </p:txBody>
      </p:sp>
      <p:sp>
        <p:nvSpPr>
          <p:cNvPr id="7" name="03">
            <a:extLst xmlns:a="http://schemas.openxmlformats.org/drawingml/2006/main">
              <a:ext uri="{FF2B5EF4-FFF2-40B4-BE49-F238E27FC236}">
                <a16:creationId xmlns:a16="http://schemas.microsoft.com/office/drawing/2014/main" id="{DD286084-701D-4751-A674-CF1D83ADDD2D}"/>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Choice, rationale and remaining uncertai">
            <a:extLst xmlns:a="http://schemas.openxmlformats.org/drawingml/2006/main">
              <a:ext uri="{FF2B5EF4-FFF2-40B4-BE49-F238E27FC236}">
                <a16:creationId xmlns:a16="http://schemas.microsoft.com/office/drawing/2014/main" id="{91DBCBF4-4498-4F8C-A8C8-1DFD8110B410}"/>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Choice, rationale and remaining uncertainty</a:t>
            </a:r>
          </a:p>
        </p:txBody>
      </p:sp>
      <p:sp>
        <p:nvSpPr>
          <p:cNvPr id="9" name="04">
            <a:extLst xmlns:a="http://schemas.openxmlformats.org/drawingml/2006/main">
              <a:ext uri="{FF2B5EF4-FFF2-40B4-BE49-F238E27FC236}">
                <a16:creationId xmlns:a16="http://schemas.microsoft.com/office/drawing/2014/main" id="{92F46A60-184D-489E-B979-F75BCD968650}"/>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Test evidence, owner, date and rollback ">
            <a:extLst xmlns:a="http://schemas.openxmlformats.org/drawingml/2006/main">
              <a:ext uri="{FF2B5EF4-FFF2-40B4-BE49-F238E27FC236}">
                <a16:creationId xmlns:a16="http://schemas.microsoft.com/office/drawing/2014/main" id="{E0A4DE07-E5EE-42C9-91A4-02C443758DE8}"/>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Test evidence, owner, date and rollback route</a:t>
            </a:r>
          </a:p>
        </p:txBody>
      </p:sp>
    </p:spTree>
    <p:extLst>
      <p:ext uri="{BB962C8B-B14F-4D97-AF65-F5344CB8AC3E}">
        <p14:creationId xmlns:p14="http://schemas.microsoft.com/office/powerpoint/2010/main" val="321940303"/>
      </p:ext>
    </p:extLst>
  </p:cSld>
</p:sld>
</file>

<file path=ppt/slides/slide4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46">
            <a:extLst xmlns:a="http://schemas.openxmlformats.org/drawingml/2006/main">
              <a:ext uri="{FF2B5EF4-FFF2-40B4-BE49-F238E27FC236}">
                <a16:creationId xmlns:a16="http://schemas.microsoft.com/office/drawing/2014/main" id="{5F70D337-4878-4E7A-9EC1-2103A88B56AC}"/>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46</a:t>
            </a:r>
          </a:p>
        </p:txBody>
      </p:sp>
      <p:sp>
        <p:nvSpPr>
          <p:cNvPr id="2" name="Questions to carry into Levarum">
            <a:extLst xmlns:a="http://schemas.openxmlformats.org/drawingml/2006/main">
              <a:ext uri="{FF2B5EF4-FFF2-40B4-BE49-F238E27FC236}">
                <a16:creationId xmlns:a16="http://schemas.microsoft.com/office/drawing/2014/main" id="{E20364D9-E499-463E-90ED-2B3DBAC5DDEB}"/>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Questions to carry into Levarum</a:t>
            </a:r>
          </a:p>
        </p:txBody>
      </p:sp>
      <p:sp>
        <p:nvSpPr>
          <p:cNvPr id="3" name="01">
            <a:extLst xmlns:a="http://schemas.openxmlformats.org/drawingml/2006/main">
              <a:ext uri="{FF2B5EF4-FFF2-40B4-BE49-F238E27FC236}">
                <a16:creationId xmlns:a16="http://schemas.microsoft.com/office/drawing/2014/main" id="{FAEFD4D2-92F6-4D4B-A420-D8FA16DF0C95}"/>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Which feeling supports what the service ">
            <a:extLst xmlns:a="http://schemas.openxmlformats.org/drawingml/2006/main">
              <a:ext uri="{FF2B5EF4-FFF2-40B4-BE49-F238E27FC236}">
                <a16:creationId xmlns:a16="http://schemas.microsoft.com/office/drawing/2014/main" id="{CBF6677F-4751-4BF9-84B3-D3F1B50ED6FF}"/>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Which feeling supports what the service actually does?</a:t>
            </a:r>
          </a:p>
        </p:txBody>
      </p:sp>
      <p:sp>
        <p:nvSpPr>
          <p:cNvPr id="5" name="02">
            <a:extLst xmlns:a="http://schemas.openxmlformats.org/drawingml/2006/main">
              <a:ext uri="{FF2B5EF4-FFF2-40B4-BE49-F238E27FC236}">
                <a16:creationId xmlns:a16="http://schemas.microsoft.com/office/drawing/2014/main" id="{206DE9A3-8E5E-4ABD-B81C-07F99FDA4AA2}"/>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Which visual detail could become recogni">
            <a:extLst xmlns:a="http://schemas.openxmlformats.org/drawingml/2006/main">
              <a:ext uri="{FF2B5EF4-FFF2-40B4-BE49-F238E27FC236}">
                <a16:creationId xmlns:a16="http://schemas.microsoft.com/office/drawing/2014/main" id="{A0891F58-5937-4ACE-9DD5-A5D6C8C638D3}"/>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Which visual detail could become recognizably ours?</a:t>
            </a:r>
          </a:p>
        </p:txBody>
      </p:sp>
      <p:sp>
        <p:nvSpPr>
          <p:cNvPr id="7" name="03">
            <a:extLst xmlns:a="http://schemas.openxmlformats.org/drawingml/2006/main">
              <a:ext uri="{FF2B5EF4-FFF2-40B4-BE49-F238E27FC236}">
                <a16:creationId xmlns:a16="http://schemas.microsoft.com/office/drawing/2014/main" id="{97292468-6A1A-481A-9946-934EEC3853AB}"/>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Where should expression appear, and wher">
            <a:extLst xmlns:a="http://schemas.openxmlformats.org/drawingml/2006/main">
              <a:ext uri="{FF2B5EF4-FFF2-40B4-BE49-F238E27FC236}">
                <a16:creationId xmlns:a16="http://schemas.microsoft.com/office/drawing/2014/main" id="{9EA1510E-EB8A-494C-8F9E-F08DF2A5B272}"/>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Where should expression appear, and where should reading lead?</a:t>
            </a:r>
          </a:p>
        </p:txBody>
      </p:sp>
      <p:sp>
        <p:nvSpPr>
          <p:cNvPr id="9" name="04">
            <a:extLst xmlns:a="http://schemas.openxmlformats.org/drawingml/2006/main">
              <a:ext uri="{FF2B5EF4-FFF2-40B4-BE49-F238E27FC236}">
                <a16:creationId xmlns:a16="http://schemas.microsoft.com/office/drawing/2014/main" id="{C261B4D2-E743-4501-9726-8FEDECD8F528}"/>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What remains convincing without motion o">
            <a:extLst xmlns:a="http://schemas.openxmlformats.org/drawingml/2006/main">
              <a:ext uri="{FF2B5EF4-FFF2-40B4-BE49-F238E27FC236}">
                <a16:creationId xmlns:a16="http://schemas.microsoft.com/office/drawing/2014/main" id="{FE9F003B-C37F-4749-AF9B-B4A597D6E8A1}"/>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What remains convincing without motion or decoration?</a:t>
            </a:r>
          </a:p>
        </p:txBody>
      </p:sp>
    </p:spTree>
    <p:extLst>
      <p:ext uri="{BB962C8B-B14F-4D97-AF65-F5344CB8AC3E}">
        <p14:creationId xmlns:p14="http://schemas.microsoft.com/office/powerpoint/2010/main" val="1327375721"/>
      </p:ext>
    </p:extLst>
  </p:cSld>
</p:sld>
</file>

<file path=ppt/slides/slide4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47">
            <a:extLst xmlns:a="http://schemas.openxmlformats.org/drawingml/2006/main">
              <a:ext uri="{FF2B5EF4-FFF2-40B4-BE49-F238E27FC236}">
                <a16:creationId xmlns:a16="http://schemas.microsoft.com/office/drawing/2014/main" id="{180D1D34-F8D6-4EBD-B14F-D1AD4E798A6B}"/>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47</a:t>
            </a:r>
          </a:p>
        </p:txBody>
      </p:sp>
      <p:sp>
        <p:nvSpPr>
          <p:cNvPr id="2" name="Keeping this library alive">
            <a:extLst xmlns:a="http://schemas.openxmlformats.org/drawingml/2006/main">
              <a:ext uri="{FF2B5EF4-FFF2-40B4-BE49-F238E27FC236}">
                <a16:creationId xmlns:a16="http://schemas.microsoft.com/office/drawing/2014/main" id="{71B3234B-B5C7-498D-B346-340A1A8F76F4}"/>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Keeping this library alive</a:t>
            </a:r>
          </a:p>
        </p:txBody>
      </p:sp>
      <p:sp>
        <p:nvSpPr>
          <p:cNvPr id="3" name="01">
            <a:extLst xmlns:a="http://schemas.openxmlformats.org/drawingml/2006/main">
              <a:ext uri="{FF2B5EF4-FFF2-40B4-BE49-F238E27FC236}">
                <a16:creationId xmlns:a16="http://schemas.microsoft.com/office/drawing/2014/main" id="{C4CEB579-B43A-49D3-BF79-2D4D2AD3FDF2}"/>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Keep this Google Slides deck as the work">
            <a:extLst xmlns:a="http://schemas.openxmlformats.org/drawingml/2006/main">
              <a:ext uri="{FF2B5EF4-FFF2-40B4-BE49-F238E27FC236}">
                <a16:creationId xmlns:a16="http://schemas.microsoft.com/office/drawing/2014/main" id="{704DCB5F-6B9A-4750-9BAA-7A33620F0CA0}"/>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Keep this Google Slides deck as the working master.</a:t>
            </a:r>
          </a:p>
        </p:txBody>
      </p:sp>
      <p:sp>
        <p:nvSpPr>
          <p:cNvPr id="5" name="02">
            <a:extLst xmlns:a="http://schemas.openxmlformats.org/drawingml/2006/main">
              <a:ext uri="{FF2B5EF4-FFF2-40B4-BE49-F238E27FC236}">
                <a16:creationId xmlns:a16="http://schemas.microsoft.com/office/drawing/2014/main" id="{0FE74FDE-D6BF-409D-9331-8852CA56F505}"/>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Add source dates and evidence status whe">
            <a:extLst xmlns:a="http://schemas.openxmlformats.org/drawingml/2006/main">
              <a:ext uri="{FF2B5EF4-FFF2-40B4-BE49-F238E27FC236}">
                <a16:creationId xmlns:a16="http://schemas.microsoft.com/office/drawing/2014/main" id="{A0D31B56-ED3D-46E8-8AD5-CBD7311A7002}"/>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Add source dates and evidence status when a lesson changes.</a:t>
            </a:r>
          </a:p>
        </p:txBody>
      </p:sp>
      <p:sp>
        <p:nvSpPr>
          <p:cNvPr id="7" name="03">
            <a:extLst xmlns:a="http://schemas.openxmlformats.org/drawingml/2006/main">
              <a:ext uri="{FF2B5EF4-FFF2-40B4-BE49-F238E27FC236}">
                <a16:creationId xmlns:a16="http://schemas.microsoft.com/office/drawing/2014/main" id="{05804EBC-A1A0-4C25-A321-72C08FADB6F2}"/>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Use named versions for substantial revis">
            <a:extLst xmlns:a="http://schemas.openxmlformats.org/drawingml/2006/main">
              <a:ext uri="{FF2B5EF4-FFF2-40B4-BE49-F238E27FC236}">
                <a16:creationId xmlns:a16="http://schemas.microsoft.com/office/drawing/2014/main" id="{229DE378-3925-48E5-8C45-FF38C32E9AA3}"/>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Use named versions for substantial revisions.</a:t>
            </a:r>
          </a:p>
        </p:txBody>
      </p:sp>
      <p:sp>
        <p:nvSpPr>
          <p:cNvPr id="9" name="04">
            <a:extLst xmlns:a="http://schemas.openxmlformats.org/drawingml/2006/main">
              <a:ext uri="{FF2B5EF4-FFF2-40B4-BE49-F238E27FC236}">
                <a16:creationId xmlns:a16="http://schemas.microsoft.com/office/drawing/2014/main" id="{540DE4A5-8981-4016-826F-A8E5052082AD}"/>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Maintain a short change log and a list o">
            <a:extLst xmlns:a="http://schemas.openxmlformats.org/drawingml/2006/main">
              <a:ext uri="{FF2B5EF4-FFF2-40B4-BE49-F238E27FC236}">
                <a16:creationId xmlns:a16="http://schemas.microsoft.com/office/drawing/2014/main" id="{DE797FE3-686F-407F-A0A2-B5FC57DDC5C2}"/>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Maintain a short change log and a list of open questions.</a:t>
            </a:r>
          </a:p>
        </p:txBody>
      </p:sp>
    </p:spTree>
    <p:extLst>
      <p:ext uri="{BB962C8B-B14F-4D97-AF65-F5344CB8AC3E}">
        <p14:creationId xmlns:p14="http://schemas.microsoft.com/office/powerpoint/2010/main" val="1016149953"/>
      </p:ext>
    </p:extLst>
  </p:cSld>
</p:sld>
</file>

<file path=ppt/slides/slide4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48">
            <a:extLst xmlns:a="http://schemas.openxmlformats.org/drawingml/2006/main">
              <a:ext uri="{FF2B5EF4-FFF2-40B4-BE49-F238E27FC236}">
                <a16:creationId xmlns:a16="http://schemas.microsoft.com/office/drawing/2014/main" id="{1D8072C7-0210-4E92-B474-E94B26DE26EB}"/>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48</a:t>
            </a:r>
          </a:p>
        </p:txBody>
      </p:sp>
      <p:sp>
        <p:nvSpPr>
          <p:cNvPr id="2" name="Research contributors and training">
            <a:extLst xmlns:a="http://schemas.openxmlformats.org/drawingml/2006/main">
              <a:ext uri="{FF2B5EF4-FFF2-40B4-BE49-F238E27FC236}">
                <a16:creationId xmlns:a16="http://schemas.microsoft.com/office/drawing/2014/main" id="{EE358B49-E7A6-491C-83C3-DB5C7AEC70E7}"/>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Research contributors and training</a:t>
            </a:r>
          </a:p>
        </p:txBody>
      </p:sp>
      <p:sp>
        <p:nvSpPr>
          <p:cNvPr id="3" name="01">
            <a:extLst xmlns:a="http://schemas.openxmlformats.org/drawingml/2006/main">
              <a:ext uri="{FF2B5EF4-FFF2-40B4-BE49-F238E27FC236}">
                <a16:creationId xmlns:a16="http://schemas.microsoft.com/office/drawing/2014/main" id="{7ACAFC14-0836-421D-A8FA-2C60E0A8E1E7}"/>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Three agents studied history, materials ">
            <a:extLst xmlns:a="http://schemas.openxmlformats.org/drawingml/2006/main">
              <a:ext uri="{FF2B5EF4-FFF2-40B4-BE49-F238E27FC236}">
                <a16:creationId xmlns:a16="http://schemas.microsoft.com/office/drawing/2014/main" id="{53DD218A-1F6A-4A5D-AD77-E618A39A1731}"/>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Three agents studied history, materials and perception.</a:t>
            </a:r>
          </a:p>
        </p:txBody>
      </p:sp>
      <p:sp>
        <p:nvSpPr>
          <p:cNvPr id="5" name="02">
            <a:extLst xmlns:a="http://schemas.openxmlformats.org/drawingml/2006/main">
              <a:ext uri="{FF2B5EF4-FFF2-40B4-BE49-F238E27FC236}">
                <a16:creationId xmlns:a16="http://schemas.microsoft.com/office/drawing/2014/main" id="{DE27EFB9-A728-489A-B20D-946449512D0A}"/>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Their sources and inspection limits are ">
            <a:extLst xmlns:a="http://schemas.openxmlformats.org/drawingml/2006/main">
              <a:ext uri="{FF2B5EF4-FFF2-40B4-BE49-F238E27FC236}">
                <a16:creationId xmlns:a16="http://schemas.microsoft.com/office/drawing/2014/main" id="{DEBF11CB-BA80-4D0B-8F1B-5006FE98297B}"/>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Their sources and inspection limits are the verifiable record.</a:t>
            </a:r>
          </a:p>
        </p:txBody>
      </p:sp>
      <p:sp>
        <p:nvSpPr>
          <p:cNvPr id="7" name="03">
            <a:extLst xmlns:a="http://schemas.openxmlformats.org/drawingml/2006/main">
              <a:ext uri="{FF2B5EF4-FFF2-40B4-BE49-F238E27FC236}">
                <a16:creationId xmlns:a16="http://schemas.microsoft.com/office/drawing/2014/main" id="{962CDBE4-E85F-414A-8342-734879D33112}"/>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Role assignments do not imply separate s">
            <a:extLst xmlns:a="http://schemas.openxmlformats.org/drawingml/2006/main">
              <a:ext uri="{FF2B5EF4-FFF2-40B4-BE49-F238E27FC236}">
                <a16:creationId xmlns:a16="http://schemas.microsoft.com/office/drawing/2014/main" id="{0D10D47D-8004-4E03-9413-3E3DBE2C25F6}"/>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Role assignments do not imply separate specialist training.</a:t>
            </a:r>
          </a:p>
        </p:txBody>
      </p:sp>
      <p:sp>
        <p:nvSpPr>
          <p:cNvPr id="9" name="04">
            <a:extLst xmlns:a="http://schemas.openxmlformats.org/drawingml/2006/main">
              <a:ext uri="{FF2B5EF4-FFF2-40B4-BE49-F238E27FC236}">
                <a16:creationId xmlns:a16="http://schemas.microsoft.com/office/drawing/2014/main" id="{B733606D-A8BC-427B-B5F6-09E33352398F}"/>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Saving a library provides reusable conte">
            <a:extLst xmlns:a="http://schemas.openxmlformats.org/drawingml/2006/main">
              <a:ext uri="{FF2B5EF4-FFF2-40B4-BE49-F238E27FC236}">
                <a16:creationId xmlns:a16="http://schemas.microsoft.com/office/drawing/2014/main" id="{D4F13880-5055-4168-9088-0CBCCE800823}"/>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Saving a library provides reusable context.</a:t>
            </a:r>
          </a:p>
        </p:txBody>
      </p:sp>
      <p:sp>
        <p:nvSpPr>
          <p:cNvPr id="11" name="Source: openai.com">
            <a:extLst xmlns:a="http://schemas.openxmlformats.org/drawingml/2006/main">
              <a:ext uri="{FF2B5EF4-FFF2-40B4-BE49-F238E27FC236}">
                <a16:creationId xmlns:a16="http://schemas.microsoft.com/office/drawing/2014/main" id="{1738B6DC-0A92-4A7F-9E35-29EC23639095}"/>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5a86dba2130842e5"/>
              </a:rPr>
              <a:t>Source: openai.com</a:t>
            </a:r>
          </a:p>
        </p:txBody>
      </p:sp>
    </p:spTree>
    <p:extLst>
      <p:ext uri="{BB962C8B-B14F-4D97-AF65-F5344CB8AC3E}">
        <p14:creationId xmlns:p14="http://schemas.microsoft.com/office/powerpoint/2010/main" val="1471254087"/>
      </p:ext>
    </p:extLst>
  </p:cSld>
</p:sld>
</file>

<file path=ppt/slides/slide4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49">
            <a:extLst xmlns:a="http://schemas.openxmlformats.org/drawingml/2006/main">
              <a:ext uri="{FF2B5EF4-FFF2-40B4-BE49-F238E27FC236}">
                <a16:creationId xmlns:a16="http://schemas.microsoft.com/office/drawing/2014/main" id="{BAA9968D-79A5-4F35-A8EC-D91171B84A9C}"/>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49</a:t>
            </a:r>
          </a:p>
        </p:txBody>
      </p:sp>
      <p:sp>
        <p:nvSpPr>
          <p:cNvPr id="2" name="Edition history and open questions">
            <a:extLst xmlns:a="http://schemas.openxmlformats.org/drawingml/2006/main">
              <a:ext uri="{FF2B5EF4-FFF2-40B4-BE49-F238E27FC236}">
                <a16:creationId xmlns:a16="http://schemas.microsoft.com/office/drawing/2014/main" id="{D88B0269-927E-4CD1-8305-94D389EFFDF7}"/>
              </a:ext>
            </a:extLst>
          </p:cNvPr>
          <p:cNvSpPr>
            <a:spLocks xmlns:a="http://schemas.openxmlformats.org/drawingml/2006/main" noGrp="1"/>
          </p:cNvSpPr>
          <p:nvPr/>
        </p:nvSpPr>
        <p:spPr>
          <a:xfrm xmlns:a="http://schemas.openxmlformats.org/drawingml/2006/main">
            <a:off x="609600" y="4572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525" b="1">
                <a:solidFill>
                  <a:srgbClr val="182B32"/>
                </a:solidFill>
                <a:latin typeface="Arial"/>
                <a:ea typeface="Arial"/>
                <a:cs typeface="Arial"/>
              </a:defRPr>
            </a:pPr>
            <a:r>
              <a:rPr sz="3525" b="1">
                <a:solidFill>
                  <a:srgbClr val="182B32"/>
                </a:solidFill>
                <a:latin typeface="Arial"/>
                <a:ea typeface="Arial"/>
                <a:cs typeface="Arial"/>
              </a:rPr>
              <a:t>Edition history and open questions</a:t>
            </a:r>
          </a:p>
        </p:txBody>
      </p:sp>
      <p:sp>
        <p:nvSpPr>
          <p:cNvPr id="3" name="01">
            <a:extLst xmlns:a="http://schemas.openxmlformats.org/drawingml/2006/main">
              <a:ext uri="{FF2B5EF4-FFF2-40B4-BE49-F238E27FC236}">
                <a16:creationId xmlns:a16="http://schemas.microsoft.com/office/drawing/2014/main" id="{08A702EE-6245-42CF-8B74-0BE88F122617}"/>
              </a:ext>
            </a:extLst>
          </p:cNvPr>
          <p:cNvSpPr>
            <a:spLocks xmlns:a="http://schemas.openxmlformats.org/drawingml/2006/main" noGrp="1"/>
          </p:cNvSpPr>
          <p:nvPr/>
        </p:nvSpPr>
        <p:spPr>
          <a:xfrm xmlns:a="http://schemas.openxmlformats.org/drawingml/2006/main">
            <a:off x="628650" y="20288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01</a:t>
            </a:r>
          </a:p>
        </p:txBody>
      </p:sp>
      <p:sp>
        <p:nvSpPr>
          <p:cNvPr id="4" name="1.0 / 8 September 2026: first consolidat">
            <a:extLst xmlns:a="http://schemas.openxmlformats.org/drawingml/2006/main">
              <a:ext uri="{FF2B5EF4-FFF2-40B4-BE49-F238E27FC236}">
                <a16:creationId xmlns:a16="http://schemas.microsoft.com/office/drawing/2014/main" id="{B0749689-5947-4B1E-9AB3-6020564706C8}"/>
              </a:ext>
            </a:extLst>
          </p:cNvPr>
          <p:cNvSpPr>
            <a:spLocks xmlns:a="http://schemas.openxmlformats.org/drawingml/2006/main" noGrp="1"/>
          </p:cNvSpPr>
          <p:nvPr/>
        </p:nvSpPr>
        <p:spPr>
          <a:xfrm xmlns:a="http://schemas.openxmlformats.org/drawingml/2006/main">
            <a:off x="1438275" y="20002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82B32"/>
                </a:solidFill>
                <a:latin typeface="Arial"/>
                <a:ea typeface="Arial"/>
                <a:cs typeface="Arial"/>
              </a:defRPr>
            </a:pPr>
            <a:r>
              <a:rPr sz="2325" b="1">
                <a:solidFill>
                  <a:srgbClr val="182B32"/>
                </a:solidFill>
                <a:latin typeface="Arial"/>
                <a:ea typeface="Arial"/>
                <a:cs typeface="Arial"/>
              </a:rPr>
              <a:t>1.0 / 8 September 2026: first consolidated teaching deck.</a:t>
            </a:r>
          </a:p>
        </p:txBody>
      </p:sp>
      <p:sp>
        <p:nvSpPr>
          <p:cNvPr id="5" name="02">
            <a:extLst xmlns:a="http://schemas.openxmlformats.org/drawingml/2006/main">
              <a:ext uri="{FF2B5EF4-FFF2-40B4-BE49-F238E27FC236}">
                <a16:creationId xmlns:a16="http://schemas.microsoft.com/office/drawing/2014/main" id="{0208B4CB-D029-424D-83B3-07EC7DD9F0CB}"/>
              </a:ext>
            </a:extLst>
          </p:cNvPr>
          <p:cNvSpPr>
            <a:spLocks xmlns:a="http://schemas.openxmlformats.org/drawingml/2006/main" noGrp="1"/>
          </p:cNvSpPr>
          <p:nvPr/>
        </p:nvSpPr>
        <p:spPr>
          <a:xfrm xmlns:a="http://schemas.openxmlformats.org/drawingml/2006/main">
            <a:off x="628650" y="29622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02</a:t>
            </a:r>
          </a:p>
        </p:txBody>
      </p:sp>
      <p:sp>
        <p:nvSpPr>
          <p:cNvPr id="6" name="Source artwork attribution remains incom">
            <a:extLst xmlns:a="http://schemas.openxmlformats.org/drawingml/2006/main">
              <a:ext uri="{FF2B5EF4-FFF2-40B4-BE49-F238E27FC236}">
                <a16:creationId xmlns:a16="http://schemas.microsoft.com/office/drawing/2014/main" id="{CE558A6F-9A43-4E17-B0A6-392DDD709145}"/>
              </a:ext>
            </a:extLst>
          </p:cNvPr>
          <p:cNvSpPr>
            <a:spLocks xmlns:a="http://schemas.openxmlformats.org/drawingml/2006/main" noGrp="1"/>
          </p:cNvSpPr>
          <p:nvPr/>
        </p:nvSpPr>
        <p:spPr>
          <a:xfrm xmlns:a="http://schemas.openxmlformats.org/drawingml/2006/main">
            <a:off x="1438275" y="29337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Source artwork attribution remains incomplete for several reel images.</a:t>
            </a:r>
          </a:p>
        </p:txBody>
      </p:sp>
      <p:sp>
        <p:nvSpPr>
          <p:cNvPr id="7" name="03">
            <a:extLst xmlns:a="http://schemas.openxmlformats.org/drawingml/2006/main">
              <a:ext uri="{FF2B5EF4-FFF2-40B4-BE49-F238E27FC236}">
                <a16:creationId xmlns:a16="http://schemas.microsoft.com/office/drawing/2014/main" id="{435E94CF-1827-484A-B1B6-20F1BB6E1035}"/>
              </a:ext>
            </a:extLst>
          </p:cNvPr>
          <p:cNvSpPr>
            <a:spLocks xmlns:a="http://schemas.openxmlformats.org/drawingml/2006/main" noGrp="1"/>
          </p:cNvSpPr>
          <p:nvPr/>
        </p:nvSpPr>
        <p:spPr>
          <a:xfrm xmlns:a="http://schemas.openxmlformats.org/drawingml/2006/main">
            <a:off x="628650" y="389572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03</a:t>
            </a:r>
          </a:p>
        </p:txBody>
      </p:sp>
      <p:sp>
        <p:nvSpPr>
          <p:cNvPr id="8" name="Lucy’s Bluey critique was sampled, not f">
            <a:extLst xmlns:a="http://schemas.openxmlformats.org/drawingml/2006/main">
              <a:ext uri="{FF2B5EF4-FFF2-40B4-BE49-F238E27FC236}">
                <a16:creationId xmlns:a16="http://schemas.microsoft.com/office/drawing/2014/main" id="{07558AAA-4998-44C3-88C0-DF2083D1EC2D}"/>
              </a:ext>
            </a:extLst>
          </p:cNvPr>
          <p:cNvSpPr>
            <a:spLocks xmlns:a="http://schemas.openxmlformats.org/drawingml/2006/main" noGrp="1"/>
          </p:cNvSpPr>
          <p:nvPr/>
        </p:nvSpPr>
        <p:spPr>
          <a:xfrm xmlns:a="http://schemas.openxmlformats.org/drawingml/2006/main">
            <a:off x="1438275" y="386715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Lucy’s Bluey critique was sampled, not fully transcribed.</a:t>
            </a:r>
          </a:p>
        </p:txBody>
      </p:sp>
      <p:sp>
        <p:nvSpPr>
          <p:cNvPr id="9" name="04">
            <a:extLst xmlns:a="http://schemas.openxmlformats.org/drawingml/2006/main">
              <a:ext uri="{FF2B5EF4-FFF2-40B4-BE49-F238E27FC236}">
                <a16:creationId xmlns:a16="http://schemas.microsoft.com/office/drawing/2014/main" id="{AB952924-58CD-408C-B191-3BAFCA440640}"/>
              </a:ext>
            </a:extLst>
          </p:cNvPr>
          <p:cNvSpPr>
            <a:spLocks xmlns:a="http://schemas.openxmlformats.org/drawingml/2006/main" noGrp="1"/>
          </p:cNvSpPr>
          <p:nvPr/>
        </p:nvSpPr>
        <p:spPr>
          <a:xfrm xmlns:a="http://schemas.openxmlformats.org/drawingml/2006/main">
            <a:off x="628650" y="4829175"/>
            <a:ext cx="552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B24837"/>
                </a:solidFill>
                <a:latin typeface="Arial"/>
                <a:ea typeface="Arial"/>
                <a:cs typeface="Arial"/>
              </a:defRPr>
            </a:pPr>
            <a:r>
              <a:rPr sz="1650" b="1">
                <a:solidFill>
                  <a:srgbClr val="B24837"/>
                </a:solidFill>
                <a:latin typeface="Arial"/>
                <a:ea typeface="Arial"/>
                <a:cs typeface="Arial"/>
              </a:rPr>
              <a:t>04</a:t>
            </a:r>
          </a:p>
        </p:txBody>
      </p:sp>
      <p:sp>
        <p:nvSpPr>
          <p:cNvPr id="10" name="Audience response and Levarum implementa">
            <a:extLst xmlns:a="http://schemas.openxmlformats.org/drawingml/2006/main">
              <a:ext uri="{FF2B5EF4-FFF2-40B4-BE49-F238E27FC236}">
                <a16:creationId xmlns:a16="http://schemas.microsoft.com/office/drawing/2014/main" id="{A14D4522-7776-4EA6-B4A3-610EB2A35D69}"/>
              </a:ext>
            </a:extLst>
          </p:cNvPr>
          <p:cNvSpPr>
            <a:spLocks xmlns:a="http://schemas.openxmlformats.org/drawingml/2006/main" noGrp="1"/>
          </p:cNvSpPr>
          <p:nvPr/>
        </p:nvSpPr>
        <p:spPr>
          <a:xfrm xmlns:a="http://schemas.openxmlformats.org/drawingml/2006/main">
            <a:off x="1438275" y="4800600"/>
            <a:ext cx="9906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2B32"/>
                </a:solidFill>
                <a:latin typeface="Arial"/>
                <a:ea typeface="Arial"/>
                <a:cs typeface="Arial"/>
              </a:defRPr>
            </a:pPr>
            <a:r>
              <a:rPr sz="2325" b="0">
                <a:solidFill>
                  <a:srgbClr val="182B32"/>
                </a:solidFill>
                <a:latin typeface="Arial"/>
                <a:ea typeface="Arial"/>
                <a:cs typeface="Arial"/>
              </a:rPr>
              <a:t>Audience response and Levarum implementation remain untested.</a:t>
            </a:r>
          </a:p>
        </p:txBody>
      </p:sp>
      <p:sp>
        <p:nvSpPr>
          <p:cNvPr id="11" name="Source: drive.google.com">
            <a:extLst xmlns:a="http://schemas.openxmlformats.org/drawingml/2006/main">
              <a:ext uri="{FF2B5EF4-FFF2-40B4-BE49-F238E27FC236}">
                <a16:creationId xmlns:a16="http://schemas.microsoft.com/office/drawing/2014/main" id="{357464A3-E58C-4CAE-8124-A66F8AB7868A}"/>
              </a:ext>
            </a:extLst>
          </p:cNvPr>
          <p:cNvSpPr>
            <a:spLocks xmlns:a="http://schemas.openxmlformats.org/drawingml/2006/main" noGrp="1"/>
          </p:cNvSpPr>
          <p:nvPr/>
        </p:nvSpPr>
        <p:spPr>
          <a:xfrm xmlns:a="http://schemas.openxmlformats.org/drawingml/2006/main">
            <a:off x="609600" y="6134100"/>
            <a:ext cx="1009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2676B"/>
                </a:solidFill>
                <a:latin typeface="Arial"/>
                <a:ea typeface="Arial"/>
                <a:cs typeface="Arial"/>
              </a:defRPr>
            </a:pPr>
            <a:r>
              <a:rPr sz="1125" b="0">
                <a:solidFill>
                  <a:srgbClr val="52676B"/>
                </a:solidFill>
                <a:latin typeface="Arial"/>
                <a:ea typeface="Arial"/>
                <a:cs typeface="Arial"/>
                <a:hlinkClick xmlns:r="http://schemas.openxmlformats.org/officeDocument/2006/relationships" r:id="R769e49b255674b9c"/>
              </a:rPr>
              <a:t>Source: drive.google.com</a:t>
            </a:r>
          </a:p>
        </p:txBody>
      </p:sp>
    </p:spTree>
    <p:extLst>
      <p:ext uri="{BB962C8B-B14F-4D97-AF65-F5344CB8AC3E}">
        <p14:creationId xmlns:p14="http://schemas.microsoft.com/office/powerpoint/2010/main" val="2032757795"/>
      </p:ext>
    </p:extLst>
  </p:cSld>
</p:sld>
</file>

<file path=ppt/slides/slide5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0">
            <a:extLst xmlns:a="http://schemas.openxmlformats.org/drawingml/2006/main">
              <a:ext uri="{FF2B5EF4-FFF2-40B4-BE49-F238E27FC236}">
                <a16:creationId xmlns:a16="http://schemas.microsoft.com/office/drawing/2014/main" id="{8D060F61-D5B6-4C04-A368-06DE76B02C8D}"/>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50</a:t>
            </a:r>
          </a:p>
        </p:txBody>
      </p:sp>
      <p:sp>
        <p:nvSpPr>
          <p:cNvPr id="2" name="Source directory 1">
            <a:extLst xmlns:a="http://schemas.openxmlformats.org/drawingml/2006/main">
              <a:ext uri="{FF2B5EF4-FFF2-40B4-BE49-F238E27FC236}">
                <a16:creationId xmlns:a16="http://schemas.microsoft.com/office/drawing/2014/main" id="{A4DFF51E-0712-4B1F-AAAB-CE9A0F437EDB}"/>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1</a:t>
            </a:r>
          </a:p>
        </p:txBody>
      </p:sp>
      <p:sp>
        <p:nvSpPr>
          <p:cNvPr id="3" name="https://www.tiktok.com/@denny.kurien/vid">
            <a:extLst xmlns:a="http://schemas.openxmlformats.org/drawingml/2006/main">
              <a:ext uri="{FF2B5EF4-FFF2-40B4-BE49-F238E27FC236}">
                <a16:creationId xmlns:a16="http://schemas.microsoft.com/office/drawing/2014/main" id="{164A6580-29D6-4EDB-A1EE-A4A570E290E0}"/>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79fdaf706a1c4745"/>
              </a:rPr>
              <a:t>https://www.tiktok.com/@denny.kurien/video/7680157545746418964</a:t>
            </a:r>
          </a:p>
        </p:txBody>
      </p:sp>
      <p:sp>
        <p:nvSpPr>
          <p:cNvPr id="4" name="https://www.pagemasters.co/risograph">
            <a:extLst xmlns:a="http://schemas.openxmlformats.org/drawingml/2006/main">
              <a:ext uri="{FF2B5EF4-FFF2-40B4-BE49-F238E27FC236}">
                <a16:creationId xmlns:a16="http://schemas.microsoft.com/office/drawing/2014/main" id="{C09276C7-3FB2-4352-875C-160C75022944}"/>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b05227193dcc454e"/>
              </a:rPr>
              <a:t>https://www.pagemasters.co/risograph</a:t>
            </a:r>
          </a:p>
        </p:txBody>
      </p:sp>
      <p:sp>
        <p:nvSpPr>
          <p:cNvPr id="5" name="https://risottostudio.com/pages/advanced">
            <a:extLst xmlns:a="http://schemas.openxmlformats.org/drawingml/2006/main">
              <a:ext uri="{FF2B5EF4-FFF2-40B4-BE49-F238E27FC236}">
                <a16:creationId xmlns:a16="http://schemas.microsoft.com/office/drawing/2014/main" id="{96C91F33-02D5-4FFB-A7B3-C52C069D15E8}"/>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c2e3bbf11dcd4d34"/>
              </a:rPr>
              <a:t>https://risottostudio.com/pages/advanced-print-setup</a:t>
            </a:r>
          </a:p>
        </p:txBody>
      </p:sp>
      <p:sp>
        <p:nvSpPr>
          <p:cNvPr id="6" name="https://www.riso.co.jp/english/product/d">
            <a:extLst xmlns:a="http://schemas.openxmlformats.org/drawingml/2006/main">
              <a:ext uri="{FF2B5EF4-FFF2-40B4-BE49-F238E27FC236}">
                <a16:creationId xmlns:a16="http://schemas.microsoft.com/office/drawing/2014/main" id="{7B61E2F4-FB1D-471C-9CE6-954450102E4C}"/>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4ba21eee432c4e1a"/>
              </a:rPr>
              <a:t>https://www.riso.co.jp/english/product/digital_dup/history/index.html</a:t>
            </a:r>
          </a:p>
        </p:txBody>
      </p:sp>
      <p:sp>
        <p:nvSpPr>
          <p:cNvPr id="7" name="https://www.behance.net/gallery/12768697">
            <a:extLst xmlns:a="http://schemas.openxmlformats.org/drawingml/2006/main">
              <a:ext uri="{FF2B5EF4-FFF2-40B4-BE49-F238E27FC236}">
                <a16:creationId xmlns:a16="http://schemas.microsoft.com/office/drawing/2014/main" id="{7216F199-35CC-4E7D-95D0-2D0BEBB91BF1}"/>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201daef3fedd454f"/>
              </a:rPr>
              <a:t>https://www.behance.net/gallery/127686975/Simplicity-21</a:t>
            </a:r>
          </a:p>
        </p:txBody>
      </p:sp>
      <p:sp>
        <p:nvSpPr>
          <p:cNvPr id="8" name="https://microsoft.design/articles/an-emo">
            <a:extLst xmlns:a="http://schemas.openxmlformats.org/drawingml/2006/main">
              <a:ext uri="{FF2B5EF4-FFF2-40B4-BE49-F238E27FC236}">
                <a16:creationId xmlns:a16="http://schemas.microsoft.com/office/drawing/2014/main" id="{5C14FCDC-3008-4403-ADDD-86BED16BF894}"/>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53fe78f847f141aa"/>
              </a:rPr>
              <a:t>https://microsoft.design/articles/an-emoji-for-your-thoughts-2/</a:t>
            </a:r>
          </a:p>
        </p:txBody>
      </p:sp>
      <p:sp>
        <p:nvSpPr>
          <p:cNvPr id="9" name="https://agencecartier.com/en/projects/fa">
            <a:extLst xmlns:a="http://schemas.openxmlformats.org/drawingml/2006/main">
              <a:ext uri="{FF2B5EF4-FFF2-40B4-BE49-F238E27FC236}">
                <a16:creationId xmlns:a16="http://schemas.microsoft.com/office/drawing/2014/main" id="{798E0FF9-B06F-4C9E-ADCC-E7345D577F6A}"/>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11aca3b80eea43ee"/>
              </a:rPr>
              <a:t>https://agencecartier.com/en/projects/farinart-a-new-identity-crops-up/</a:t>
            </a:r>
          </a:p>
        </p:txBody>
      </p:sp>
    </p:spTree>
    <p:extLst>
      <p:ext uri="{BB962C8B-B14F-4D97-AF65-F5344CB8AC3E}">
        <p14:creationId xmlns:p14="http://schemas.microsoft.com/office/powerpoint/2010/main" val="943854125"/>
      </p:ext>
    </p:extLst>
  </p:cSld>
</p:sld>
</file>

<file path=ppt/slides/slide5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1">
            <a:extLst xmlns:a="http://schemas.openxmlformats.org/drawingml/2006/main">
              <a:ext uri="{FF2B5EF4-FFF2-40B4-BE49-F238E27FC236}">
                <a16:creationId xmlns:a16="http://schemas.microsoft.com/office/drawing/2014/main" id="{3928913C-8DF4-46A3-B5D2-99537BF825DB}"/>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51</a:t>
            </a:r>
          </a:p>
        </p:txBody>
      </p:sp>
      <p:sp>
        <p:nvSpPr>
          <p:cNvPr id="2" name="Source directory 2">
            <a:extLst xmlns:a="http://schemas.openxmlformats.org/drawingml/2006/main">
              <a:ext uri="{FF2B5EF4-FFF2-40B4-BE49-F238E27FC236}">
                <a16:creationId xmlns:a16="http://schemas.microsoft.com/office/drawing/2014/main" id="{202D15AA-9BC9-49BD-89B1-DD19D3B83AD2}"/>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2</a:t>
            </a:r>
          </a:p>
        </p:txBody>
      </p:sp>
      <p:sp>
        <p:nvSpPr>
          <p:cNvPr id="3" name="https://www.pentagram.com/work/intrinsic">
            <a:extLst xmlns:a="http://schemas.openxmlformats.org/drawingml/2006/main">
              <a:ext uri="{FF2B5EF4-FFF2-40B4-BE49-F238E27FC236}">
                <a16:creationId xmlns:a16="http://schemas.microsoft.com/office/drawing/2014/main" id="{ED2E1507-6731-4E13-B494-7BD0C7D61E87}"/>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42210e018c1c4e36"/>
              </a:rPr>
              <a:t>https://www.pentagram.com/work/intrinsic</a:t>
            </a:r>
          </a:p>
        </p:txBody>
      </p:sp>
      <p:sp>
        <p:nvSpPr>
          <p:cNvPr id="4" name="https://cari.institute/aesthetics/austur">
            <a:extLst xmlns:a="http://schemas.openxmlformats.org/drawingml/2006/main">
              <a:ext uri="{FF2B5EF4-FFF2-40B4-BE49-F238E27FC236}">
                <a16:creationId xmlns:a16="http://schemas.microsoft.com/office/drawing/2014/main" id="{2FFC9082-DCD4-43C2-A778-60D6F31BAD6C}"/>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3ccb4b5405ff47e9"/>
              </a:rPr>
              <a:t>https://cari.institute/aesthetics/austurbane</a:t>
            </a:r>
          </a:p>
        </p:txBody>
      </p:sp>
      <p:sp>
        <p:nvSpPr>
          <p:cNvPr id="5" name="https://cari.institute/aesthetics/nu-bru">
            <a:extLst xmlns:a="http://schemas.openxmlformats.org/drawingml/2006/main">
              <a:ext uri="{FF2B5EF4-FFF2-40B4-BE49-F238E27FC236}">
                <a16:creationId xmlns:a16="http://schemas.microsoft.com/office/drawing/2014/main" id="{886782D5-2173-4157-A713-E5CE2B0A7531}"/>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1df33f5380a347f2"/>
              </a:rPr>
              <a:t>https://cari.institute/aesthetics/nu-brutalism</a:t>
            </a:r>
          </a:p>
        </p:txBody>
      </p:sp>
      <p:sp>
        <p:nvSpPr>
          <p:cNvPr id="6" name="https://www.riba.org/explore/riba-collec">
            <a:extLst xmlns:a="http://schemas.openxmlformats.org/drawingml/2006/main">
              <a:ext uri="{FF2B5EF4-FFF2-40B4-BE49-F238E27FC236}">
                <a16:creationId xmlns:a16="http://schemas.microsoft.com/office/drawing/2014/main" id="{39CFA241-D0C1-4E9D-B898-06673FDB5760}"/>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5273ad3f32b94783"/>
              </a:rPr>
              <a:t>https://www.riba.org/explore/riba-collections/architectural-styles/brutalism-movement/</a:t>
            </a:r>
          </a:p>
        </p:txBody>
      </p:sp>
      <p:sp>
        <p:nvSpPr>
          <p:cNvPr id="7" name="https://www.pentagram.com/work/american-">
            <a:extLst xmlns:a="http://schemas.openxmlformats.org/drawingml/2006/main">
              <a:ext uri="{FF2B5EF4-FFF2-40B4-BE49-F238E27FC236}">
                <a16:creationId xmlns:a16="http://schemas.microsoft.com/office/drawing/2014/main" id="{DDD27FF5-E283-414F-95AD-59F705CEEB32}"/>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aa64feb223da4aae"/>
              </a:rPr>
              <a:t>https://www.pentagram.com/work/american-weed-co</a:t>
            </a:r>
          </a:p>
        </p:txBody>
      </p:sp>
      <p:sp>
        <p:nvSpPr>
          <p:cNvPr id="8" name="https://unesco.ru/en/news/gjel37/">
            <a:extLst xmlns:a="http://schemas.openxmlformats.org/drawingml/2006/main">
              <a:ext uri="{FF2B5EF4-FFF2-40B4-BE49-F238E27FC236}">
                <a16:creationId xmlns:a16="http://schemas.microsoft.com/office/drawing/2014/main" id="{24C6B844-FE15-4A0F-BCB2-185E0B687579}"/>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7e5886d72fbb48bd"/>
              </a:rPr>
              <a:t>https://unesco.ru/en/news/gjel37/</a:t>
            </a:r>
          </a:p>
        </p:txBody>
      </p:sp>
      <p:sp>
        <p:nvSpPr>
          <p:cNvPr id="9" name="https://farfor-gzhel.com/en/the-award-at">
            <a:extLst xmlns:a="http://schemas.openxmlformats.org/drawingml/2006/main">
              <a:ext uri="{FF2B5EF4-FFF2-40B4-BE49-F238E27FC236}">
                <a16:creationId xmlns:a16="http://schemas.microsoft.com/office/drawing/2014/main" id="{6D817A95-9CA6-4848-B60C-ABD291EA3130}"/>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fc3fe6b359884376"/>
              </a:rPr>
              <a:t>https://farfor-gzhel.com/en/the-award-at-home-in-the-nomination-design-and-craft/</a:t>
            </a:r>
          </a:p>
        </p:txBody>
      </p:sp>
    </p:spTree>
    <p:extLst>
      <p:ext uri="{BB962C8B-B14F-4D97-AF65-F5344CB8AC3E}">
        <p14:creationId xmlns:p14="http://schemas.microsoft.com/office/powerpoint/2010/main" val="1680766793"/>
      </p:ext>
    </p:extLst>
  </p:cSld>
</p:sld>
</file>

<file path=ppt/slides/slide5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2">
            <a:extLst xmlns:a="http://schemas.openxmlformats.org/drawingml/2006/main">
              <a:ext uri="{FF2B5EF4-FFF2-40B4-BE49-F238E27FC236}">
                <a16:creationId xmlns:a16="http://schemas.microsoft.com/office/drawing/2014/main" id="{AA8D5176-21AD-4BBE-8882-B9B4CFD36096}"/>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52</a:t>
            </a:r>
          </a:p>
        </p:txBody>
      </p:sp>
      <p:sp>
        <p:nvSpPr>
          <p:cNvPr id="2" name="Source directory 3">
            <a:extLst xmlns:a="http://schemas.openxmlformats.org/drawingml/2006/main">
              <a:ext uri="{FF2B5EF4-FFF2-40B4-BE49-F238E27FC236}">
                <a16:creationId xmlns:a16="http://schemas.microsoft.com/office/drawing/2014/main" id="{BCB73688-E48A-461F-B0EB-B2739F9FE11F}"/>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3</a:t>
            </a:r>
          </a:p>
        </p:txBody>
      </p:sp>
      <p:sp>
        <p:nvSpPr>
          <p:cNvPr id="3" name="https://www.demorgan.org.uk/de-morgan-x-">
            <a:extLst xmlns:a="http://schemas.openxmlformats.org/drawingml/2006/main">
              <a:ext uri="{FF2B5EF4-FFF2-40B4-BE49-F238E27FC236}">
                <a16:creationId xmlns:a16="http://schemas.microsoft.com/office/drawing/2014/main" id="{D82343A2-63A2-4911-88C4-84DA296B17C6}"/>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fcf2cbd03f42426b"/>
              </a:rPr>
              <a:t>https://www.demorgan.org.uk/de-morgan-x-loewe-autumn-winter-2019/</a:t>
            </a:r>
          </a:p>
        </p:txBody>
      </p:sp>
      <p:sp>
        <p:nvSpPr>
          <p:cNvPr id="4" name="https://www.3m.com/3M/en_US/p/d/v0000965">
            <a:extLst xmlns:a="http://schemas.openxmlformats.org/drawingml/2006/main">
              <a:ext uri="{FF2B5EF4-FFF2-40B4-BE49-F238E27FC236}">
                <a16:creationId xmlns:a16="http://schemas.microsoft.com/office/drawing/2014/main" id="{E1E7F807-9F92-494F-936E-8C372F914D77}"/>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2c3bbe3ff2bf4ec9"/>
              </a:rPr>
              <a:t>https://www.3m.com/3M/en_US/p/d/v000096543/</a:t>
            </a:r>
          </a:p>
        </p:txBody>
      </p:sp>
      <p:sp>
        <p:nvSpPr>
          <p:cNvPr id="5" name="https://www.colorado.edu/anthropology/si">
            <a:extLst xmlns:a="http://schemas.openxmlformats.org/drawingml/2006/main">
              <a:ext uri="{FF2B5EF4-FFF2-40B4-BE49-F238E27FC236}">
                <a16:creationId xmlns:a16="http://schemas.microsoft.com/office/drawing/2014/main" id="{ECD9D931-BDDA-4A1B-AE88-70D669F1E9B1}"/>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eb45eb8ae65441f8"/>
              </a:rPr>
              <a:t>https://www.colorado.edu/anthropology/sites/default/files/attached-files/5leshkowichjonesft.pdf</a:t>
            </a:r>
          </a:p>
        </p:txBody>
      </p:sp>
      <p:sp>
        <p:nvSpPr>
          <p:cNvPr id="6" name="https://www.vam.ac.uk/articles/chinoiser">
            <a:extLst xmlns:a="http://schemas.openxmlformats.org/drawingml/2006/main">
              <a:ext uri="{FF2B5EF4-FFF2-40B4-BE49-F238E27FC236}">
                <a16:creationId xmlns:a16="http://schemas.microsoft.com/office/drawing/2014/main" id="{0D490E6A-F401-436C-956F-42EAD010CCC7}"/>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4679ff482893479b"/>
              </a:rPr>
              <a:t>https://www.vam.ac.uk/articles/chinoiserie-an-introduction</a:t>
            </a:r>
          </a:p>
        </p:txBody>
      </p:sp>
      <p:sp>
        <p:nvSpPr>
          <p:cNvPr id="7" name="https://play.studio/work/adobe-max">
            <a:extLst xmlns:a="http://schemas.openxmlformats.org/drawingml/2006/main">
              <a:ext uri="{FF2B5EF4-FFF2-40B4-BE49-F238E27FC236}">
                <a16:creationId xmlns:a16="http://schemas.microsoft.com/office/drawing/2014/main" id="{D33E6F04-12DD-4675-A80E-F128394C25E7}"/>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eda46b1b57fc454a"/>
              </a:rPr>
              <a:t>https://play.studio/work/adobe-max</a:t>
            </a:r>
          </a:p>
        </p:txBody>
      </p:sp>
      <p:sp>
        <p:nvSpPr>
          <p:cNvPr id="8" name="https://about.nike.com/en/magazine/nike-">
            <a:extLst xmlns:a="http://schemas.openxmlformats.org/drawingml/2006/main">
              <a:ext uri="{FF2B5EF4-FFF2-40B4-BE49-F238E27FC236}">
                <a16:creationId xmlns:a16="http://schemas.microsoft.com/office/drawing/2014/main" id="{62AE2001-2826-4471-B85A-BC5C58BF3AF8}"/>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b9bd1ca916684c16"/>
              </a:rPr>
              <a:t>https://about.nike.com/en/magazine/nike-swoosh-logo-history</a:t>
            </a:r>
          </a:p>
        </p:txBody>
      </p:sp>
      <p:sp>
        <p:nvSpPr>
          <p:cNvPr id="9" name="https://thesneeze.com/the-man-behind-the">
            <a:extLst xmlns:a="http://schemas.openxmlformats.org/drawingml/2006/main">
              <a:ext uri="{FF2B5EF4-FFF2-40B4-BE49-F238E27FC236}">
                <a16:creationId xmlns:a16="http://schemas.microsoft.com/office/drawing/2014/main" id="{0C14CD36-80A5-4927-AE4E-36E7869E5BDB}"/>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ef9f82be50624c5f"/>
              </a:rPr>
              <a:t>https://thesneeze.com/the-man-behind-the-fedex-logo/</a:t>
            </a:r>
          </a:p>
        </p:txBody>
      </p:sp>
    </p:spTree>
    <p:extLst>
      <p:ext uri="{BB962C8B-B14F-4D97-AF65-F5344CB8AC3E}">
        <p14:creationId xmlns:p14="http://schemas.microsoft.com/office/powerpoint/2010/main" val="2068101453"/>
      </p:ext>
    </p:extLst>
  </p:cSld>
</p:sld>
</file>

<file path=ppt/slides/slide5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3">
            <a:extLst xmlns:a="http://schemas.openxmlformats.org/drawingml/2006/main">
              <a:ext uri="{FF2B5EF4-FFF2-40B4-BE49-F238E27FC236}">
                <a16:creationId xmlns:a16="http://schemas.microsoft.com/office/drawing/2014/main" id="{8F3EC162-7A13-47B9-95BD-C3D1F740DD31}"/>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53</a:t>
            </a:r>
          </a:p>
        </p:txBody>
      </p:sp>
      <p:sp>
        <p:nvSpPr>
          <p:cNvPr id="2" name="Source directory 4">
            <a:extLst xmlns:a="http://schemas.openxmlformats.org/drawingml/2006/main">
              <a:ext uri="{FF2B5EF4-FFF2-40B4-BE49-F238E27FC236}">
                <a16:creationId xmlns:a16="http://schemas.microsoft.com/office/drawing/2014/main" id="{78385683-D6E2-4FCA-AFCB-CC75D12BF017}"/>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4</a:t>
            </a:r>
          </a:p>
        </p:txBody>
      </p:sp>
      <p:sp>
        <p:nvSpPr>
          <p:cNvPr id="3" name="https://www.ibm.com/design/language/ibm-">
            <a:extLst xmlns:a="http://schemas.openxmlformats.org/drawingml/2006/main">
              <a:ext uri="{FF2B5EF4-FFF2-40B4-BE49-F238E27FC236}">
                <a16:creationId xmlns:a16="http://schemas.microsoft.com/office/drawing/2014/main" id="{2223CC59-94A5-48F4-B9EC-B5FDC221B7B9}"/>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fb3dcb65272a4465"/>
              </a:rPr>
              <a:t>https://www.ibm.com/design/language/ibm-logos/8-bar/</a:t>
            </a:r>
          </a:p>
        </p:txBody>
      </p:sp>
      <p:sp>
        <p:nvSpPr>
          <p:cNvPr id="4" name="https://www.edenbrands.us/services">
            <a:extLst xmlns:a="http://schemas.openxmlformats.org/drawingml/2006/main">
              <a:ext uri="{FF2B5EF4-FFF2-40B4-BE49-F238E27FC236}">
                <a16:creationId xmlns:a16="http://schemas.microsoft.com/office/drawing/2014/main" id="{5865229D-72D8-4D34-B540-E69A4E1C30DB}"/>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fd385eb9f117455e"/>
              </a:rPr>
              <a:t>https://www.edenbrands.us/services</a:t>
            </a:r>
          </a:p>
        </p:txBody>
      </p:sp>
      <p:sp>
        <p:nvSpPr>
          <p:cNvPr id="5" name="https://www.tiktok.com/@lucyedendesign/v">
            <a:extLst xmlns:a="http://schemas.openxmlformats.org/drawingml/2006/main">
              <a:ext uri="{FF2B5EF4-FFF2-40B4-BE49-F238E27FC236}">
                <a16:creationId xmlns:a16="http://schemas.microsoft.com/office/drawing/2014/main" id="{E96087CD-6085-4F11-A14E-798C75FAEC97}"/>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44df12a85d2d4760"/>
              </a:rPr>
              <a:t>https://www.tiktok.com/@lucyedendesign/video/7665353012268829965</a:t>
            </a:r>
          </a:p>
        </p:txBody>
      </p:sp>
      <p:sp>
        <p:nvSpPr>
          <p:cNvPr id="6" name="https://www.tiktok.com/@lucyedendesign/v">
            <a:extLst xmlns:a="http://schemas.openxmlformats.org/drawingml/2006/main">
              <a:ext uri="{FF2B5EF4-FFF2-40B4-BE49-F238E27FC236}">
                <a16:creationId xmlns:a16="http://schemas.microsoft.com/office/drawing/2014/main" id="{68E50A30-59BF-4AF3-B0D9-5F9B258810CF}"/>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100928441e54486d"/>
              </a:rPr>
              <a:t>https://www.tiktok.com/@lucyedendesign/video/7669805166178209037</a:t>
            </a:r>
          </a:p>
        </p:txBody>
      </p:sp>
      <p:sp>
        <p:nvSpPr>
          <p:cNvPr id="7" name="https://www.edenbrands.us/case-studies/m">
            <a:extLst xmlns:a="http://schemas.openxmlformats.org/drawingml/2006/main">
              <a:ext uri="{FF2B5EF4-FFF2-40B4-BE49-F238E27FC236}">
                <a16:creationId xmlns:a16="http://schemas.microsoft.com/office/drawing/2014/main" id="{5C9CA07A-D50C-47BA-9EA8-BF9D9EBF3E20}"/>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ddc117aa60c04c91"/>
              </a:rPr>
              <a:t>https://www.edenbrands.us/case-studies/michelle-elman</a:t>
            </a:r>
          </a:p>
        </p:txBody>
      </p:sp>
      <p:sp>
        <p:nvSpPr>
          <p:cNvPr id="8" name="https://www.edenbrands.us/case-studies/s">
            <a:extLst xmlns:a="http://schemas.openxmlformats.org/drawingml/2006/main">
              <a:ext uri="{FF2B5EF4-FFF2-40B4-BE49-F238E27FC236}">
                <a16:creationId xmlns:a16="http://schemas.microsoft.com/office/drawing/2014/main" id="{A3CF530A-8DAE-481A-AB33-9566F92A0690}"/>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c145cc5c9c2a4d61"/>
              </a:rPr>
              <a:t>https://www.edenbrands.us/case-studies/splatter</a:t>
            </a:r>
          </a:p>
        </p:txBody>
      </p:sp>
      <p:sp>
        <p:nvSpPr>
          <p:cNvPr id="9" name="https://www.edenbrands.us/case-studies/m">
            <a:extLst xmlns:a="http://schemas.openxmlformats.org/drawingml/2006/main">
              <a:ext uri="{FF2B5EF4-FFF2-40B4-BE49-F238E27FC236}">
                <a16:creationId xmlns:a16="http://schemas.microsoft.com/office/drawing/2014/main" id="{5131E3F7-9E18-4757-9526-A56D2C0E83B7}"/>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d6547df6bbe84f1a"/>
              </a:rPr>
              <a:t>https://www.edenbrands.us/case-studies/marlowe-and-sage</a:t>
            </a:r>
          </a:p>
        </p:txBody>
      </p:sp>
    </p:spTree>
    <p:extLst>
      <p:ext uri="{BB962C8B-B14F-4D97-AF65-F5344CB8AC3E}">
        <p14:creationId xmlns:p14="http://schemas.microsoft.com/office/powerpoint/2010/main" val="1310377634"/>
      </p:ext>
    </p:extLst>
  </p:cSld>
</p:sld>
</file>

<file path=ppt/slides/slide5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4">
            <a:extLst xmlns:a="http://schemas.openxmlformats.org/drawingml/2006/main">
              <a:ext uri="{FF2B5EF4-FFF2-40B4-BE49-F238E27FC236}">
                <a16:creationId xmlns:a16="http://schemas.microsoft.com/office/drawing/2014/main" id="{7696DD5B-CB5E-4797-B31D-3ACB4300CDB4}"/>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54</a:t>
            </a:r>
          </a:p>
        </p:txBody>
      </p:sp>
      <p:sp>
        <p:nvSpPr>
          <p:cNvPr id="2" name="Source directory 5">
            <a:extLst xmlns:a="http://schemas.openxmlformats.org/drawingml/2006/main">
              <a:ext uri="{FF2B5EF4-FFF2-40B4-BE49-F238E27FC236}">
                <a16:creationId xmlns:a16="http://schemas.microsoft.com/office/drawing/2014/main" id="{07A88A06-BC41-4F78-BBEA-FEA2A9147952}"/>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5</a:t>
            </a:r>
          </a:p>
        </p:txBody>
      </p:sp>
      <p:sp>
        <p:nvSpPr>
          <p:cNvPr id="3" name="https://www.linkedin.com/posts/tbwa_our-">
            <a:extLst xmlns:a="http://schemas.openxmlformats.org/drawingml/2006/main">
              <a:ext uri="{FF2B5EF4-FFF2-40B4-BE49-F238E27FC236}">
                <a16:creationId xmlns:a16="http://schemas.microsoft.com/office/drawing/2014/main" id="{54AC1031-6274-45C8-8CE9-191A3B8C7967}"/>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b0990883e6a041a2"/>
              </a:rPr>
              <a:t>https://www.linkedin.com/posts/tbwa_our-global-design-studio-dxd-have-taken-us-activity-7492923688888184832-YRdB</a:t>
            </a:r>
          </a:p>
        </p:txBody>
      </p:sp>
      <p:sp>
        <p:nvSpPr>
          <p:cNvPr id="4" name="https://tbwa.com/news/">
            <a:extLst xmlns:a="http://schemas.openxmlformats.org/drawingml/2006/main">
              <a:ext uri="{FF2B5EF4-FFF2-40B4-BE49-F238E27FC236}">
                <a16:creationId xmlns:a16="http://schemas.microsoft.com/office/drawing/2014/main" id="{9B775EC1-9D8E-405B-9D71-8A80F2ECE640}"/>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4b891b8c03c34e6e"/>
              </a:rPr>
              <a:t>https://tbwa.com/news/</a:t>
            </a:r>
          </a:p>
        </p:txBody>
      </p:sp>
      <p:sp>
        <p:nvSpPr>
          <p:cNvPr id="5" name="https://geist.co/work/anthropic">
            <a:extLst xmlns:a="http://schemas.openxmlformats.org/drawingml/2006/main">
              <a:ext uri="{FF2B5EF4-FFF2-40B4-BE49-F238E27FC236}">
                <a16:creationId xmlns:a16="http://schemas.microsoft.com/office/drawing/2014/main" id="{CC144193-F11A-46CE-82FC-E66D4CB3F4B4}"/>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bfcfed82eefd4dec"/>
              </a:rPr>
              <a:t>https://geist.co/work/anthropic</a:t>
            </a:r>
          </a:p>
        </p:txBody>
      </p:sp>
      <p:sp>
        <p:nvSpPr>
          <p:cNvPr id="6" name="https://www.zachheffner.com/privacy-poli">
            <a:extLst xmlns:a="http://schemas.openxmlformats.org/drawingml/2006/main">
              <a:ext uri="{FF2B5EF4-FFF2-40B4-BE49-F238E27FC236}">
                <a16:creationId xmlns:a16="http://schemas.microsoft.com/office/drawing/2014/main" id="{E6D6AAC1-5428-4148-A711-37BC427E1844}"/>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2074067fd5ee47a7"/>
              </a:rPr>
              <a:t>https://www.zachheffner.com/privacy-policy</a:t>
            </a:r>
          </a:p>
        </p:txBody>
      </p:sp>
      <p:sp>
        <p:nvSpPr>
          <p:cNvPr id="7" name="https://investors.oatly.com/static-files">
            <a:extLst xmlns:a="http://schemas.openxmlformats.org/drawingml/2006/main">
              <a:ext uri="{FF2B5EF4-FFF2-40B4-BE49-F238E27FC236}">
                <a16:creationId xmlns:a16="http://schemas.microsoft.com/office/drawing/2014/main" id="{530B8FCF-D880-491C-9815-06CC8F1CCA08}"/>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0264433fb44248d7"/>
              </a:rPr>
              <a:t>https://investors.oatly.com/static-files/530eaa69-0fb0-40e9-9aac-1147bb6eea14</a:t>
            </a:r>
          </a:p>
        </p:txBody>
      </p:sp>
      <p:sp>
        <p:nvSpPr>
          <p:cNvPr id="8" name="https://palmerlab.berkeley.edu/pdf/Palme">
            <a:extLst xmlns:a="http://schemas.openxmlformats.org/drawingml/2006/main">
              <a:ext uri="{FF2B5EF4-FFF2-40B4-BE49-F238E27FC236}">
                <a16:creationId xmlns:a16="http://schemas.microsoft.com/office/drawing/2014/main" id="{5DCA5FB7-5271-4FAD-8CBA-D4DA7C2AF8EA}"/>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b8d5e53cfa814672"/>
              </a:rPr>
              <a:t>https://palmerlab.berkeley.edu/pdf/Palmer.pdf</a:t>
            </a:r>
          </a:p>
        </p:txBody>
      </p:sp>
      <p:sp>
        <p:nvSpPr>
          <p:cNvPr id="9" name="https://www.cooperhewitt.org/exhibitions">
            <a:extLst xmlns:a="http://schemas.openxmlformats.org/drawingml/2006/main">
              <a:ext uri="{FF2B5EF4-FFF2-40B4-BE49-F238E27FC236}">
                <a16:creationId xmlns:a16="http://schemas.microsoft.com/office/drawing/2014/main" id="{9E2D1BCD-C16E-4D53-962F-E03D8C7E23D9}"/>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9060643c4cc9463d"/>
              </a:rPr>
              <a:t>https://www.cooperhewitt.org/exhibitions/how-posters-work/</a:t>
            </a:r>
          </a:p>
        </p:txBody>
      </p:sp>
    </p:spTree>
    <p:extLst>
      <p:ext uri="{BB962C8B-B14F-4D97-AF65-F5344CB8AC3E}">
        <p14:creationId xmlns:p14="http://schemas.microsoft.com/office/powerpoint/2010/main" val="1915354254"/>
      </p:ext>
    </p:extLst>
  </p:cSld>
</p:sld>
</file>

<file path=ppt/slides/slide5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55">
            <a:extLst xmlns:a="http://schemas.openxmlformats.org/drawingml/2006/main">
              <a:ext uri="{FF2B5EF4-FFF2-40B4-BE49-F238E27FC236}">
                <a16:creationId xmlns:a16="http://schemas.microsoft.com/office/drawing/2014/main" id="{ED828E69-7580-4ED8-BFC3-73F08C4BA643}"/>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55</a:t>
            </a:r>
          </a:p>
        </p:txBody>
      </p:sp>
      <p:sp>
        <p:nvSpPr>
          <p:cNvPr id="2" name="Source directory 6">
            <a:extLst xmlns:a="http://schemas.openxmlformats.org/drawingml/2006/main">
              <a:ext uri="{FF2B5EF4-FFF2-40B4-BE49-F238E27FC236}">
                <a16:creationId xmlns:a16="http://schemas.microsoft.com/office/drawing/2014/main" id="{14C13308-8393-402C-8F10-A41F6C14FADA}"/>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6</a:t>
            </a:r>
          </a:p>
        </p:txBody>
      </p:sp>
      <p:sp>
        <p:nvSpPr>
          <p:cNvPr id="3" name="https://www.w3.org/WAI/WCAG22/Understand">
            <a:extLst xmlns:a="http://schemas.openxmlformats.org/drawingml/2006/main">
              <a:ext uri="{FF2B5EF4-FFF2-40B4-BE49-F238E27FC236}">
                <a16:creationId xmlns:a16="http://schemas.microsoft.com/office/drawing/2014/main" id="{8888FAFF-B51A-4109-84C9-B3B9FEF5A399}"/>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53dd5250117e445b"/>
              </a:rPr>
              <a:t>https://www.w3.org/WAI/WCAG22/Understanding/contrast-minimum.html</a:t>
            </a:r>
          </a:p>
        </p:txBody>
      </p:sp>
      <p:sp>
        <p:nvSpPr>
          <p:cNvPr id="4" name="https://www.w3.org/WAI/WCAG22/Understand">
            <a:extLst xmlns:a="http://schemas.openxmlformats.org/drawingml/2006/main">
              <a:ext uri="{FF2B5EF4-FFF2-40B4-BE49-F238E27FC236}">
                <a16:creationId xmlns:a16="http://schemas.microsoft.com/office/drawing/2014/main" id="{4ACDDFBB-796B-4C95-BD6A-6E25E644954E}"/>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b30c2010648d445c"/>
              </a:rPr>
              <a:t>https://www.w3.org/WAI/WCAG22/Understanding/animation-from-interactions.html</a:t>
            </a:r>
          </a:p>
        </p:txBody>
      </p:sp>
      <p:sp>
        <p:nvSpPr>
          <p:cNvPr id="5" name="https://www.w3.org/WAI/WCAG22/Understand">
            <a:extLst xmlns:a="http://schemas.openxmlformats.org/drawingml/2006/main">
              <a:ext uri="{FF2B5EF4-FFF2-40B4-BE49-F238E27FC236}">
                <a16:creationId xmlns:a16="http://schemas.microsoft.com/office/drawing/2014/main" id="{94B5FC83-B2C0-44B7-B500-C8A97DAF2845}"/>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1ef76576fee4467c"/>
              </a:rPr>
              <a:t>https://www.w3.org/WAI/WCAG22/Understanding/pause-stop-hide.html</a:t>
            </a:r>
          </a:p>
        </p:txBody>
      </p:sp>
      <p:sp>
        <p:nvSpPr>
          <p:cNvPr id="6" name="https://www.w3.org/WAI/WCAG22/Understand">
            <a:extLst xmlns:a="http://schemas.openxmlformats.org/drawingml/2006/main">
              <a:ext uri="{FF2B5EF4-FFF2-40B4-BE49-F238E27FC236}">
                <a16:creationId xmlns:a16="http://schemas.microsoft.com/office/drawing/2014/main" id="{A961A44E-7E10-4331-A7D8-0CEE1FE6908A}"/>
              </a:ext>
            </a:extLst>
          </p:cNvPr>
          <p:cNvSpPr>
            <a:spLocks xmlns:a="http://schemas.openxmlformats.org/drawingml/2006/main" noGrp="1"/>
          </p:cNvSpPr>
          <p:nvPr/>
        </p:nvSpPr>
        <p:spPr>
          <a:xfrm xmlns:a="http://schemas.openxmlformats.org/drawingml/2006/main">
            <a:off x="609600" y="3333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7e2c7c3d0a934093"/>
              </a:rPr>
              <a:t>https://www.w3.org/WAI/WCAG22/Understanding/reflow.html</a:t>
            </a:r>
          </a:p>
        </p:txBody>
      </p:sp>
      <p:sp>
        <p:nvSpPr>
          <p:cNvPr id="7" name="https://www.nature.com/articles/s41562-0">
            <a:extLst xmlns:a="http://schemas.openxmlformats.org/drawingml/2006/main">
              <a:ext uri="{FF2B5EF4-FFF2-40B4-BE49-F238E27FC236}">
                <a16:creationId xmlns:a16="http://schemas.microsoft.com/office/drawing/2014/main" id="{9E3CFFD7-366D-4371-BB5D-D42976318C2F}"/>
              </a:ext>
            </a:extLst>
          </p:cNvPr>
          <p:cNvSpPr>
            <a:spLocks xmlns:a="http://schemas.openxmlformats.org/drawingml/2006/main" noGrp="1"/>
          </p:cNvSpPr>
          <p:nvPr/>
        </p:nvSpPr>
        <p:spPr>
          <a:xfrm xmlns:a="http://schemas.openxmlformats.org/drawingml/2006/main">
            <a:off x="609600" y="3952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cf925839436142ed"/>
              </a:rPr>
              <a:t>https://www.nature.com/articles/s41562-021-01097-6</a:t>
            </a:r>
          </a:p>
        </p:txBody>
      </p:sp>
      <p:sp>
        <p:nvSpPr>
          <p:cNvPr id="8" name="https://web.dev/articles/animations-and-">
            <a:extLst xmlns:a="http://schemas.openxmlformats.org/drawingml/2006/main">
              <a:ext uri="{FF2B5EF4-FFF2-40B4-BE49-F238E27FC236}">
                <a16:creationId xmlns:a16="http://schemas.microsoft.com/office/drawing/2014/main" id="{D1B916A0-0859-426B-8B0E-25441480DB72}"/>
              </a:ext>
            </a:extLst>
          </p:cNvPr>
          <p:cNvSpPr>
            <a:spLocks xmlns:a="http://schemas.openxmlformats.org/drawingml/2006/main" noGrp="1"/>
          </p:cNvSpPr>
          <p:nvPr/>
        </p:nvSpPr>
        <p:spPr>
          <a:xfrm xmlns:a="http://schemas.openxmlformats.org/drawingml/2006/main">
            <a:off x="609600" y="4572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80f7eeb007674098"/>
              </a:rPr>
              <a:t>https://web.dev/articles/animations-and-performance</a:t>
            </a:r>
          </a:p>
        </p:txBody>
      </p:sp>
      <p:sp>
        <p:nvSpPr>
          <p:cNvPr id="9" name="https://www.cooperhewitt.org/2014/12/05/">
            <a:extLst xmlns:a="http://schemas.openxmlformats.org/drawingml/2006/main">
              <a:ext uri="{FF2B5EF4-FFF2-40B4-BE49-F238E27FC236}">
                <a16:creationId xmlns:a16="http://schemas.microsoft.com/office/drawing/2014/main" id="{3B64C88C-07A9-485D-AE62-66BDF4AAFF8C}"/>
              </a:ext>
            </a:extLst>
          </p:cNvPr>
          <p:cNvSpPr>
            <a:spLocks xmlns:a="http://schemas.openxmlformats.org/drawingml/2006/main" noGrp="1"/>
          </p:cNvSpPr>
          <p:nvPr/>
        </p:nvSpPr>
        <p:spPr>
          <a:xfrm xmlns:a="http://schemas.openxmlformats.org/drawingml/2006/main">
            <a:off x="609600" y="5191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84cd4aac44f84e76"/>
              </a:rPr>
              <a:t>https://www.cooperhewitt.org/2014/12/05/making-a-poster-is-a-process/</a:t>
            </a:r>
          </a:p>
        </p:txBody>
      </p:sp>
    </p:spTree>
    <p:extLst>
      <p:ext uri="{BB962C8B-B14F-4D97-AF65-F5344CB8AC3E}">
        <p14:creationId xmlns:p14="http://schemas.microsoft.com/office/powerpoint/2010/main" val="722267950"/>
      </p:ext>
    </p:extLst>
  </p:cSld>
</p:sld>
</file>

<file path=ppt/slides/slide5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6" name="56">
            <a:extLst xmlns:a="http://schemas.openxmlformats.org/drawingml/2006/main">
              <a:ext uri="{FF2B5EF4-FFF2-40B4-BE49-F238E27FC236}">
                <a16:creationId xmlns:a16="http://schemas.microsoft.com/office/drawing/2014/main" id="{402B8A00-23F1-4972-AC11-8A9938721B0D}"/>
              </a:ext>
            </a:extLst>
          </p:cNvPr>
          <p:cNvSpPr>
            <a:spLocks xmlns:a="http://schemas.openxmlformats.org/drawingml/2006/main" noGrp="1"/>
          </p:cNvSpPr>
          <p:nvPr/>
        </p:nvSpPr>
        <p:spPr>
          <a:xfrm xmlns:a="http://schemas.openxmlformats.org/drawingml/2006/main">
            <a:off x="11144250" y="63150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2676B"/>
                </a:solidFill>
                <a:latin typeface="Arial"/>
                <a:ea typeface="Arial"/>
                <a:cs typeface="Arial"/>
              </a:defRPr>
            </a:pPr>
            <a:r>
              <a:rPr sz="1275" b="0">
                <a:solidFill>
                  <a:srgbClr val="52676B"/>
                </a:solidFill>
                <a:latin typeface="Arial"/>
                <a:ea typeface="Arial"/>
                <a:cs typeface="Arial"/>
              </a:rPr>
              <a:t>56</a:t>
            </a:r>
          </a:p>
        </p:txBody>
      </p:sp>
      <p:sp>
        <p:nvSpPr>
          <p:cNvPr id="2" name="Source directory 7">
            <a:extLst xmlns:a="http://schemas.openxmlformats.org/drawingml/2006/main">
              <a:ext uri="{FF2B5EF4-FFF2-40B4-BE49-F238E27FC236}">
                <a16:creationId xmlns:a16="http://schemas.microsoft.com/office/drawing/2014/main" id="{69D5E439-2E40-4582-877E-44F45268AD41}"/>
              </a:ext>
            </a:extLst>
          </p:cNvPr>
          <p:cNvSpPr>
            <a:spLocks xmlns:a="http://schemas.openxmlformats.org/drawingml/2006/main" noGrp="1"/>
          </p:cNvSpPr>
          <p:nvPr/>
        </p:nvSpPr>
        <p:spPr>
          <a:xfrm xmlns:a="http://schemas.openxmlformats.org/drawingml/2006/main">
            <a:off x="609600" y="457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B32"/>
                </a:solidFill>
                <a:latin typeface="Arial"/>
                <a:ea typeface="Arial"/>
                <a:cs typeface="Arial"/>
              </a:defRPr>
            </a:pPr>
            <a:r>
              <a:rPr sz="3300" b="1">
                <a:solidFill>
                  <a:srgbClr val="182B32"/>
                </a:solidFill>
                <a:latin typeface="Arial"/>
                <a:ea typeface="Arial"/>
                <a:cs typeface="Arial"/>
              </a:rPr>
              <a:t>Source directory 7</a:t>
            </a:r>
          </a:p>
        </p:txBody>
      </p:sp>
      <p:sp>
        <p:nvSpPr>
          <p:cNvPr id="3" name="https://drive.google.com/file/d/1-Xuq7o3">
            <a:extLst xmlns:a="http://schemas.openxmlformats.org/drawingml/2006/main">
              <a:ext uri="{FF2B5EF4-FFF2-40B4-BE49-F238E27FC236}">
                <a16:creationId xmlns:a16="http://schemas.microsoft.com/office/drawing/2014/main" id="{DC264AD3-7EC8-44AD-8A22-3A8BBA07F7F2}"/>
              </a:ext>
            </a:extLst>
          </p:cNvPr>
          <p:cNvSpPr>
            <a:spLocks xmlns:a="http://schemas.openxmlformats.org/drawingml/2006/main" noGrp="1"/>
          </p:cNvSpPr>
          <p:nvPr/>
        </p:nvSpPr>
        <p:spPr>
          <a:xfrm xmlns:a="http://schemas.openxmlformats.org/drawingml/2006/main">
            <a:off x="609600" y="1476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6865ce67dd574011"/>
              </a:rPr>
              <a:t>https://drive.google.com/file/d/1-Xuq7o32ZkGV8pxPG61T45pqlr-okEV3/view</a:t>
            </a:r>
          </a:p>
        </p:txBody>
      </p:sp>
      <p:sp>
        <p:nvSpPr>
          <p:cNvPr id="4" name="https://openai.com/policies/how-chatgpt-">
            <a:extLst xmlns:a="http://schemas.openxmlformats.org/drawingml/2006/main">
              <a:ext uri="{FF2B5EF4-FFF2-40B4-BE49-F238E27FC236}">
                <a16:creationId xmlns:a16="http://schemas.microsoft.com/office/drawing/2014/main" id="{104D2887-5855-4662-8529-376848AA9B41}"/>
              </a:ext>
            </a:extLst>
          </p:cNvPr>
          <p:cNvSpPr>
            <a:spLocks xmlns:a="http://schemas.openxmlformats.org/drawingml/2006/main" noGrp="1"/>
          </p:cNvSpPr>
          <p:nvPr/>
        </p:nvSpPr>
        <p:spPr>
          <a:xfrm xmlns:a="http://schemas.openxmlformats.org/drawingml/2006/main">
            <a:off x="609600" y="2095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349372d6444a43ca"/>
              </a:rPr>
              <a:t>https://openai.com/policies/how-chatgpt-and-our-foundation-models-are-developed/</a:t>
            </a:r>
          </a:p>
        </p:txBody>
      </p:sp>
      <p:sp>
        <p:nvSpPr>
          <p:cNvPr id="5" name="https://drive.google.com/drive/folders/1">
            <a:extLst xmlns:a="http://schemas.openxmlformats.org/drawingml/2006/main">
              <a:ext uri="{FF2B5EF4-FFF2-40B4-BE49-F238E27FC236}">
                <a16:creationId xmlns:a16="http://schemas.microsoft.com/office/drawing/2014/main" id="{A6D0D5C5-21D6-4E17-BEDD-D63530BF3DFF}"/>
              </a:ext>
            </a:extLst>
          </p:cNvPr>
          <p:cNvSpPr>
            <a:spLocks xmlns:a="http://schemas.openxmlformats.org/drawingml/2006/main" noGrp="1"/>
          </p:cNvSpPr>
          <p:nvPr/>
        </p:nvSpPr>
        <p:spPr>
          <a:xfrm xmlns:a="http://schemas.openxmlformats.org/drawingml/2006/main">
            <a:off x="609600" y="27146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76B"/>
                </a:solidFill>
                <a:latin typeface="Arial"/>
                <a:ea typeface="Arial"/>
                <a:cs typeface="Arial"/>
              </a:defRPr>
            </a:pPr>
            <a:r>
              <a:rPr sz="1500" b="0">
                <a:solidFill>
                  <a:srgbClr val="52676B"/>
                </a:solidFill>
                <a:latin typeface="Arial"/>
                <a:ea typeface="Arial"/>
                <a:cs typeface="Arial"/>
                <a:hlinkClick xmlns:r="http://schemas.openxmlformats.org/officeDocument/2006/relationships" r:id="Rb60f9a8055944970"/>
              </a:rPr>
              <a:t>https://drive.google.com/drive/folders/1CtjBy4KKutNKf97jToAocSG5_M6aGJVq</a:t>
            </a:r>
          </a:p>
        </p:txBody>
      </p:sp>
    </p:spTree>
    <p:extLst>
      <p:ext uri="{BB962C8B-B14F-4D97-AF65-F5344CB8AC3E}">
        <p14:creationId xmlns:p14="http://schemas.microsoft.com/office/powerpoint/2010/main" val="11223445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2026-09-08T09:14:12.4210000Z</dcterms:created>
  <dcterms:modified xsi:type="dcterms:W3CDTF">2026-09-08T09:14:12.4210000Z</dcterms:modified>
</coreProperties>
</file>